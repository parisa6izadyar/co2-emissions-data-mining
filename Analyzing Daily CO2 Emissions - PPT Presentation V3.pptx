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39"/>
  </p:notesMasterIdLst>
  <p:sldIdLst>
    <p:sldId id="256" r:id="rId2"/>
    <p:sldId id="312" r:id="rId3"/>
    <p:sldId id="284" r:id="rId4"/>
    <p:sldId id="259" r:id="rId5"/>
    <p:sldId id="260" r:id="rId6"/>
    <p:sldId id="261" r:id="rId7"/>
    <p:sldId id="262" r:id="rId8"/>
    <p:sldId id="263" r:id="rId9"/>
    <p:sldId id="313" r:id="rId10"/>
    <p:sldId id="314" r:id="rId11"/>
    <p:sldId id="316" r:id="rId12"/>
    <p:sldId id="317" r:id="rId13"/>
    <p:sldId id="318" r:id="rId14"/>
    <p:sldId id="315" r:id="rId15"/>
    <p:sldId id="320" r:id="rId16"/>
    <p:sldId id="319" r:id="rId17"/>
    <p:sldId id="321" r:id="rId18"/>
    <p:sldId id="322" r:id="rId19"/>
    <p:sldId id="323" r:id="rId20"/>
    <p:sldId id="324" r:id="rId21"/>
    <p:sldId id="325" r:id="rId22"/>
    <p:sldId id="326" r:id="rId23"/>
    <p:sldId id="327" r:id="rId24"/>
    <p:sldId id="328" r:id="rId25"/>
    <p:sldId id="329" r:id="rId26"/>
    <p:sldId id="330" r:id="rId27"/>
    <p:sldId id="331" r:id="rId28"/>
    <p:sldId id="332" r:id="rId29"/>
    <p:sldId id="333" r:id="rId30"/>
    <p:sldId id="334" r:id="rId31"/>
    <p:sldId id="335" r:id="rId32"/>
    <p:sldId id="336" r:id="rId33"/>
    <p:sldId id="341" r:id="rId34"/>
    <p:sldId id="342" r:id="rId35"/>
    <p:sldId id="343" r:id="rId36"/>
    <p:sldId id="337" r:id="rId37"/>
    <p:sldId id="271" r:id="rId38"/>
  </p:sldIdLst>
  <p:sldSz cx="9144000" cy="5143500" type="screen16x9"/>
  <p:notesSz cx="6858000" cy="9144000"/>
  <p:embeddedFontLst>
    <p:embeddedFont>
      <p:font typeface="Nunito Light" pitchFamily="2" charset="0"/>
      <p:regular r:id="rId40"/>
      <p:italic r:id="rId41"/>
    </p:embeddedFont>
    <p:embeddedFont>
      <p:font typeface="Poppins" panose="00000500000000000000" pitchFamily="2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F0E"/>
    <a:srgbClr val="1F77B4"/>
    <a:srgbClr val="07B9CC"/>
    <a:srgbClr val="FFFFFF"/>
    <a:srgbClr val="BCBD22"/>
    <a:srgbClr val="E377C2"/>
    <a:srgbClr val="0A244F"/>
    <a:srgbClr val="8C564B"/>
    <a:srgbClr val="D62728"/>
    <a:srgbClr val="2CA0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5775D92-8003-4309-B653-AD549CC203F3}">
  <a:tblStyle styleId="{05775D92-8003-4309-B653-AD549CC203F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377" autoAdjust="0"/>
  </p:normalViewPr>
  <p:slideViewPr>
    <p:cSldViewPr snapToGrid="0">
      <p:cViewPr varScale="1">
        <p:scale>
          <a:sx n="144" d="100"/>
          <a:sy n="144" d="100"/>
        </p:scale>
        <p:origin x="2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9T09:04:22.63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13,'1'-1,"-1"1,0 0,1-1,-1 1,0 0,1-1,-1 1,0 0,1-1,-1 1,1 0,-1 0,0 0,1-1,-1 1,1 0,-1 0,1 0,-1 0,0 0,1 0,-1 0,1 0,-1 0,1 0,0 0,1 0,93-4,-50 3,137 0,96 0,97 0,72 1,4591 1,-4982-1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25a9264b46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25a9264b46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1">
          <a:extLst>
            <a:ext uri="{FF2B5EF4-FFF2-40B4-BE49-F238E27FC236}">
              <a16:creationId xmlns:a16="http://schemas.microsoft.com/office/drawing/2014/main" id="{7C8AA5F0-0F95-10E6-2449-E5E3EF1A2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gd5260bdd85_0_313:notes">
            <a:extLst>
              <a:ext uri="{FF2B5EF4-FFF2-40B4-BE49-F238E27FC236}">
                <a16:creationId xmlns:a16="http://schemas.microsoft.com/office/drawing/2014/main" id="{643AB40A-F3C0-B66D-4E9C-965FE06C8D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3" name="Google Shape;1343;gd5260bdd85_0_313:notes">
            <a:extLst>
              <a:ext uri="{FF2B5EF4-FFF2-40B4-BE49-F238E27FC236}">
                <a16:creationId xmlns:a16="http://schemas.microsoft.com/office/drawing/2014/main" id="{B3C3459F-0647-7150-DE7D-E6A63B4108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83104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g25b0049ee87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6" name="Google Shape;1226;g25b0049ee87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43062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>
          <a:extLst>
            <a:ext uri="{FF2B5EF4-FFF2-40B4-BE49-F238E27FC236}">
              <a16:creationId xmlns:a16="http://schemas.microsoft.com/office/drawing/2014/main" id="{011E4D09-1FF4-954D-BC8C-F4E03FE11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54dda1946d_6_308:notes">
            <a:extLst>
              <a:ext uri="{FF2B5EF4-FFF2-40B4-BE49-F238E27FC236}">
                <a16:creationId xmlns:a16="http://schemas.microsoft.com/office/drawing/2014/main" id="{F3263187-6460-16C2-E4B8-2F658D58AE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54dda1946d_6_308:notes">
            <a:extLst>
              <a:ext uri="{FF2B5EF4-FFF2-40B4-BE49-F238E27FC236}">
                <a16:creationId xmlns:a16="http://schemas.microsoft.com/office/drawing/2014/main" id="{CAC8C809-36B3-5D2D-FE0B-301D19384E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53537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>
          <a:extLst>
            <a:ext uri="{FF2B5EF4-FFF2-40B4-BE49-F238E27FC236}">
              <a16:creationId xmlns:a16="http://schemas.microsoft.com/office/drawing/2014/main" id="{BFDF7AD9-84C3-7F25-6664-3ADCAF1A6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54dda1946d_6_322:notes">
            <a:extLst>
              <a:ext uri="{FF2B5EF4-FFF2-40B4-BE49-F238E27FC236}">
                <a16:creationId xmlns:a16="http://schemas.microsoft.com/office/drawing/2014/main" id="{E77F45D5-899A-61C9-30D0-BF79E7DED1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54dda1946d_6_322:notes">
            <a:extLst>
              <a:ext uri="{FF2B5EF4-FFF2-40B4-BE49-F238E27FC236}">
                <a16:creationId xmlns:a16="http://schemas.microsoft.com/office/drawing/2014/main" id="{F18111F5-78C5-88EA-776B-D4D4885BF7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58056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8">
          <a:extLst>
            <a:ext uri="{FF2B5EF4-FFF2-40B4-BE49-F238E27FC236}">
              <a16:creationId xmlns:a16="http://schemas.microsoft.com/office/drawing/2014/main" id="{E719349A-8028-B0E8-F415-88A67161A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54dda1946d_6_358:notes">
            <a:extLst>
              <a:ext uri="{FF2B5EF4-FFF2-40B4-BE49-F238E27FC236}">
                <a16:creationId xmlns:a16="http://schemas.microsoft.com/office/drawing/2014/main" id="{255355F7-5895-3898-351F-4F389B4217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54dda1946d_6_358:notes">
            <a:extLst>
              <a:ext uri="{FF2B5EF4-FFF2-40B4-BE49-F238E27FC236}">
                <a16:creationId xmlns:a16="http://schemas.microsoft.com/office/drawing/2014/main" id="{EFB2F9BE-C5C2-6273-73D6-4D9778735E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44910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8">
          <a:extLst>
            <a:ext uri="{FF2B5EF4-FFF2-40B4-BE49-F238E27FC236}">
              <a16:creationId xmlns:a16="http://schemas.microsoft.com/office/drawing/2014/main" id="{3574289D-B09B-5DE2-0915-B1F0AE5B0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54dda1946d_6_358:notes">
            <a:extLst>
              <a:ext uri="{FF2B5EF4-FFF2-40B4-BE49-F238E27FC236}">
                <a16:creationId xmlns:a16="http://schemas.microsoft.com/office/drawing/2014/main" id="{3D73F2B8-35F5-4C42-BB11-7FBB933A3B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54dda1946d_6_358:notes">
            <a:extLst>
              <a:ext uri="{FF2B5EF4-FFF2-40B4-BE49-F238E27FC236}">
                <a16:creationId xmlns:a16="http://schemas.microsoft.com/office/drawing/2014/main" id="{939817E5-7720-2D23-66AA-DA6F38691A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51033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>
          <a:extLst>
            <a:ext uri="{FF2B5EF4-FFF2-40B4-BE49-F238E27FC236}">
              <a16:creationId xmlns:a16="http://schemas.microsoft.com/office/drawing/2014/main" id="{96CF16FA-6D21-9771-4007-264458E34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54dda1946d_6_322:notes">
            <a:extLst>
              <a:ext uri="{FF2B5EF4-FFF2-40B4-BE49-F238E27FC236}">
                <a16:creationId xmlns:a16="http://schemas.microsoft.com/office/drawing/2014/main" id="{449DFDDE-5418-A870-7862-98D16360EF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54dda1946d_6_322:notes">
            <a:extLst>
              <a:ext uri="{FF2B5EF4-FFF2-40B4-BE49-F238E27FC236}">
                <a16:creationId xmlns:a16="http://schemas.microsoft.com/office/drawing/2014/main" id="{5AF71B95-6C5D-333E-127A-78BC1AA158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70139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8">
          <a:extLst>
            <a:ext uri="{FF2B5EF4-FFF2-40B4-BE49-F238E27FC236}">
              <a16:creationId xmlns:a16="http://schemas.microsoft.com/office/drawing/2014/main" id="{5AA4E324-AB2C-DD0A-2383-CFADC47A1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14072739ea5_12_0:notes">
            <a:extLst>
              <a:ext uri="{FF2B5EF4-FFF2-40B4-BE49-F238E27FC236}">
                <a16:creationId xmlns:a16="http://schemas.microsoft.com/office/drawing/2014/main" id="{2AA8D096-D78A-BF1D-A7AD-5801B59944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14072739ea5_12_0:notes">
            <a:extLst>
              <a:ext uri="{FF2B5EF4-FFF2-40B4-BE49-F238E27FC236}">
                <a16:creationId xmlns:a16="http://schemas.microsoft.com/office/drawing/2014/main" id="{4AEC55C3-6BFE-CBA0-67F9-65679034F3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727503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8">
          <a:extLst>
            <a:ext uri="{FF2B5EF4-FFF2-40B4-BE49-F238E27FC236}">
              <a16:creationId xmlns:a16="http://schemas.microsoft.com/office/drawing/2014/main" id="{0BBC5005-D349-1F61-E48C-E9206BB3F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54dda1946d_6_358:notes">
            <a:extLst>
              <a:ext uri="{FF2B5EF4-FFF2-40B4-BE49-F238E27FC236}">
                <a16:creationId xmlns:a16="http://schemas.microsoft.com/office/drawing/2014/main" id="{3C127FC5-80CE-7D9D-05FE-3EA95F0A48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54dda1946d_6_358:notes">
            <a:extLst>
              <a:ext uri="{FF2B5EF4-FFF2-40B4-BE49-F238E27FC236}">
                <a16:creationId xmlns:a16="http://schemas.microsoft.com/office/drawing/2014/main" id="{CF49018D-2223-7F0A-4546-F910B4E93D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56203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>
          <a:extLst>
            <a:ext uri="{FF2B5EF4-FFF2-40B4-BE49-F238E27FC236}">
              <a16:creationId xmlns:a16="http://schemas.microsoft.com/office/drawing/2014/main" id="{B9834C59-25B2-214E-2930-7FA57AD6E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54dda1946d_6_322:notes">
            <a:extLst>
              <a:ext uri="{FF2B5EF4-FFF2-40B4-BE49-F238E27FC236}">
                <a16:creationId xmlns:a16="http://schemas.microsoft.com/office/drawing/2014/main" id="{428DF1F6-DC15-DFE4-3BC9-3CCDC7D99B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54dda1946d_6_322:notes">
            <a:extLst>
              <a:ext uri="{FF2B5EF4-FFF2-40B4-BE49-F238E27FC236}">
                <a16:creationId xmlns:a16="http://schemas.microsoft.com/office/drawing/2014/main" id="{E975716C-1424-0F0B-5606-C1E6115FE6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101513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8">
          <a:extLst>
            <a:ext uri="{FF2B5EF4-FFF2-40B4-BE49-F238E27FC236}">
              <a16:creationId xmlns:a16="http://schemas.microsoft.com/office/drawing/2014/main" id="{8A8B643C-0B02-FB2D-EF9B-91B243CA8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54dda1946d_6_358:notes">
            <a:extLst>
              <a:ext uri="{FF2B5EF4-FFF2-40B4-BE49-F238E27FC236}">
                <a16:creationId xmlns:a16="http://schemas.microsoft.com/office/drawing/2014/main" id="{611169BA-8A0E-D1A8-C976-F349AC4293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54dda1946d_6_358:notes">
            <a:extLst>
              <a:ext uri="{FF2B5EF4-FFF2-40B4-BE49-F238E27FC236}">
                <a16:creationId xmlns:a16="http://schemas.microsoft.com/office/drawing/2014/main" id="{A6F15B43-350B-08B4-0AE8-F1DF8EDD3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99789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>
          <a:extLst>
            <a:ext uri="{FF2B5EF4-FFF2-40B4-BE49-F238E27FC236}">
              <a16:creationId xmlns:a16="http://schemas.microsoft.com/office/drawing/2014/main" id="{FC5B47A0-0002-B4C0-5B48-91FFCA9C9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54dda1946d_6_308:notes">
            <a:extLst>
              <a:ext uri="{FF2B5EF4-FFF2-40B4-BE49-F238E27FC236}">
                <a16:creationId xmlns:a16="http://schemas.microsoft.com/office/drawing/2014/main" id="{3B36E3FE-074E-469C-BA56-DDB647E26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54dda1946d_6_308:notes">
            <a:extLst>
              <a:ext uri="{FF2B5EF4-FFF2-40B4-BE49-F238E27FC236}">
                <a16:creationId xmlns:a16="http://schemas.microsoft.com/office/drawing/2014/main" id="{9D03E7F8-390D-831D-52C1-5C085C05E3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48465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>
          <a:extLst>
            <a:ext uri="{FF2B5EF4-FFF2-40B4-BE49-F238E27FC236}">
              <a16:creationId xmlns:a16="http://schemas.microsoft.com/office/drawing/2014/main" id="{88929573-C1F5-C9BF-FB92-70D4FA570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54dda1946d_6_322:notes">
            <a:extLst>
              <a:ext uri="{FF2B5EF4-FFF2-40B4-BE49-F238E27FC236}">
                <a16:creationId xmlns:a16="http://schemas.microsoft.com/office/drawing/2014/main" id="{D50EF321-7B73-6136-4554-595A334518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54dda1946d_6_322:notes">
            <a:extLst>
              <a:ext uri="{FF2B5EF4-FFF2-40B4-BE49-F238E27FC236}">
                <a16:creationId xmlns:a16="http://schemas.microsoft.com/office/drawing/2014/main" id="{21793A84-04AB-0E13-E326-4AAC183E79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09293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8">
          <a:extLst>
            <a:ext uri="{FF2B5EF4-FFF2-40B4-BE49-F238E27FC236}">
              <a16:creationId xmlns:a16="http://schemas.microsoft.com/office/drawing/2014/main" id="{CE958AE7-1793-6177-C11D-86DD337F3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54dda1946d_6_358:notes">
            <a:extLst>
              <a:ext uri="{FF2B5EF4-FFF2-40B4-BE49-F238E27FC236}">
                <a16:creationId xmlns:a16="http://schemas.microsoft.com/office/drawing/2014/main" id="{93EE875A-6B25-4741-6239-EDC7CDFDA7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54dda1946d_6_358:notes">
            <a:extLst>
              <a:ext uri="{FF2B5EF4-FFF2-40B4-BE49-F238E27FC236}">
                <a16:creationId xmlns:a16="http://schemas.microsoft.com/office/drawing/2014/main" id="{33D6B880-4F80-B5DC-35E0-730549131E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83003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8">
          <a:extLst>
            <a:ext uri="{FF2B5EF4-FFF2-40B4-BE49-F238E27FC236}">
              <a16:creationId xmlns:a16="http://schemas.microsoft.com/office/drawing/2014/main" id="{AD0070F9-FD8E-7606-8089-2909E0B1A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14072739ea5_12_0:notes">
            <a:extLst>
              <a:ext uri="{FF2B5EF4-FFF2-40B4-BE49-F238E27FC236}">
                <a16:creationId xmlns:a16="http://schemas.microsoft.com/office/drawing/2014/main" id="{287382AF-A524-4B8B-585D-76A8BE984E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14072739ea5_12_0:notes">
            <a:extLst>
              <a:ext uri="{FF2B5EF4-FFF2-40B4-BE49-F238E27FC236}">
                <a16:creationId xmlns:a16="http://schemas.microsoft.com/office/drawing/2014/main" id="{EDFCF5CD-02F9-5F65-9A35-C502084351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99660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8">
          <a:extLst>
            <a:ext uri="{FF2B5EF4-FFF2-40B4-BE49-F238E27FC236}">
              <a16:creationId xmlns:a16="http://schemas.microsoft.com/office/drawing/2014/main" id="{BA8B087F-2353-00BD-E0A5-8728E5E39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54dda1946d_6_358:notes">
            <a:extLst>
              <a:ext uri="{FF2B5EF4-FFF2-40B4-BE49-F238E27FC236}">
                <a16:creationId xmlns:a16="http://schemas.microsoft.com/office/drawing/2014/main" id="{565056DF-C82D-597A-AD7C-41BD9AC17F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54dda1946d_6_358:notes">
            <a:extLst>
              <a:ext uri="{FF2B5EF4-FFF2-40B4-BE49-F238E27FC236}">
                <a16:creationId xmlns:a16="http://schemas.microsoft.com/office/drawing/2014/main" id="{F124991A-D86D-A5F1-4A3D-8F00ABC28F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89663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>
          <a:extLst>
            <a:ext uri="{FF2B5EF4-FFF2-40B4-BE49-F238E27FC236}">
              <a16:creationId xmlns:a16="http://schemas.microsoft.com/office/drawing/2014/main" id="{4C6AE81A-527B-BD6A-396A-6F5F28DD3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54dda1946d_6_308:notes">
            <a:extLst>
              <a:ext uri="{FF2B5EF4-FFF2-40B4-BE49-F238E27FC236}">
                <a16:creationId xmlns:a16="http://schemas.microsoft.com/office/drawing/2014/main" id="{C9773FE7-4599-7E03-9722-5E2064665A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54dda1946d_6_308:notes">
            <a:extLst>
              <a:ext uri="{FF2B5EF4-FFF2-40B4-BE49-F238E27FC236}">
                <a16:creationId xmlns:a16="http://schemas.microsoft.com/office/drawing/2014/main" id="{6D1D9C8C-9A2D-99E0-24D3-2A967683D3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936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>
          <a:extLst>
            <a:ext uri="{FF2B5EF4-FFF2-40B4-BE49-F238E27FC236}">
              <a16:creationId xmlns:a16="http://schemas.microsoft.com/office/drawing/2014/main" id="{C76193C5-8EBF-3C21-7020-3D6C05D15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54dda1946d_6_322:notes">
            <a:extLst>
              <a:ext uri="{FF2B5EF4-FFF2-40B4-BE49-F238E27FC236}">
                <a16:creationId xmlns:a16="http://schemas.microsoft.com/office/drawing/2014/main" id="{07424497-1237-8345-1105-07961109C1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54dda1946d_6_322:notes">
            <a:extLst>
              <a:ext uri="{FF2B5EF4-FFF2-40B4-BE49-F238E27FC236}">
                <a16:creationId xmlns:a16="http://schemas.microsoft.com/office/drawing/2014/main" id="{F27DF082-FBBE-5B5E-7E00-A469448A05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94312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8">
          <a:extLst>
            <a:ext uri="{FF2B5EF4-FFF2-40B4-BE49-F238E27FC236}">
              <a16:creationId xmlns:a16="http://schemas.microsoft.com/office/drawing/2014/main" id="{9842B5FD-6B60-B9F8-A4BA-3BBF213EB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54dda1946d_6_358:notes">
            <a:extLst>
              <a:ext uri="{FF2B5EF4-FFF2-40B4-BE49-F238E27FC236}">
                <a16:creationId xmlns:a16="http://schemas.microsoft.com/office/drawing/2014/main" id="{24EE8A91-DA59-D6E7-76C5-D629F451B1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54dda1946d_6_358:notes">
            <a:extLst>
              <a:ext uri="{FF2B5EF4-FFF2-40B4-BE49-F238E27FC236}">
                <a16:creationId xmlns:a16="http://schemas.microsoft.com/office/drawing/2014/main" id="{67ACB1C5-E6B1-EDB0-8F37-8FFAEA3FEF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309734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8">
          <a:extLst>
            <a:ext uri="{FF2B5EF4-FFF2-40B4-BE49-F238E27FC236}">
              <a16:creationId xmlns:a16="http://schemas.microsoft.com/office/drawing/2014/main" id="{5F30807B-2E7A-44AA-2C8A-93A4D62E8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54dda1946d_6_358:notes">
            <a:extLst>
              <a:ext uri="{FF2B5EF4-FFF2-40B4-BE49-F238E27FC236}">
                <a16:creationId xmlns:a16="http://schemas.microsoft.com/office/drawing/2014/main" id="{20C91621-28A1-0592-A063-D8B6893A48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54dda1946d_6_358:notes">
            <a:extLst>
              <a:ext uri="{FF2B5EF4-FFF2-40B4-BE49-F238E27FC236}">
                <a16:creationId xmlns:a16="http://schemas.microsoft.com/office/drawing/2014/main" id="{D73B22A6-E294-FC82-1816-120F46E20E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037736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>
          <a:extLst>
            <a:ext uri="{FF2B5EF4-FFF2-40B4-BE49-F238E27FC236}">
              <a16:creationId xmlns:a16="http://schemas.microsoft.com/office/drawing/2014/main" id="{67C77486-7CBB-90C9-DA13-7CA6E218C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54dda1946d_6_322:notes">
            <a:extLst>
              <a:ext uri="{FF2B5EF4-FFF2-40B4-BE49-F238E27FC236}">
                <a16:creationId xmlns:a16="http://schemas.microsoft.com/office/drawing/2014/main" id="{959D34EE-AC69-0A13-9031-A9C16B81C5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54dda1946d_6_322:notes">
            <a:extLst>
              <a:ext uri="{FF2B5EF4-FFF2-40B4-BE49-F238E27FC236}">
                <a16:creationId xmlns:a16="http://schemas.microsoft.com/office/drawing/2014/main" id="{DF62368C-18EE-2ACD-C3F0-A84C803E55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46110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8">
          <a:extLst>
            <a:ext uri="{FF2B5EF4-FFF2-40B4-BE49-F238E27FC236}">
              <a16:creationId xmlns:a16="http://schemas.microsoft.com/office/drawing/2014/main" id="{2FB42422-FF00-9182-0BF4-1E91B5C6B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54dda1946d_6_358:notes">
            <a:extLst>
              <a:ext uri="{FF2B5EF4-FFF2-40B4-BE49-F238E27FC236}">
                <a16:creationId xmlns:a16="http://schemas.microsoft.com/office/drawing/2014/main" id="{41E410A7-1BCD-122F-FECE-79B5AC0CEB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54dda1946d_6_358:notes">
            <a:extLst>
              <a:ext uri="{FF2B5EF4-FFF2-40B4-BE49-F238E27FC236}">
                <a16:creationId xmlns:a16="http://schemas.microsoft.com/office/drawing/2014/main" id="{DC2EF166-3A01-EDFE-DEBA-749DE06823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5000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8">
          <a:extLst>
            <a:ext uri="{FF2B5EF4-FFF2-40B4-BE49-F238E27FC236}">
              <a16:creationId xmlns:a16="http://schemas.microsoft.com/office/drawing/2014/main" id="{DC095F00-056E-0E07-C7FF-4157FCEA1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54dda1946d_6_358:notes">
            <a:extLst>
              <a:ext uri="{FF2B5EF4-FFF2-40B4-BE49-F238E27FC236}">
                <a16:creationId xmlns:a16="http://schemas.microsoft.com/office/drawing/2014/main" id="{01554D87-FC8D-EC07-8EF1-05067119B4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54dda1946d_6_358:notes">
            <a:extLst>
              <a:ext uri="{FF2B5EF4-FFF2-40B4-BE49-F238E27FC236}">
                <a16:creationId xmlns:a16="http://schemas.microsoft.com/office/drawing/2014/main" id="{7FA1464A-EF4F-5D9B-9786-F8165B1432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159500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>
          <a:extLst>
            <a:ext uri="{FF2B5EF4-FFF2-40B4-BE49-F238E27FC236}">
              <a16:creationId xmlns:a16="http://schemas.microsoft.com/office/drawing/2014/main" id="{DD38BFB9-B322-79CB-40B4-B486B89F6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54dda1946d_6_308:notes">
            <a:extLst>
              <a:ext uri="{FF2B5EF4-FFF2-40B4-BE49-F238E27FC236}">
                <a16:creationId xmlns:a16="http://schemas.microsoft.com/office/drawing/2014/main" id="{0611E501-39AA-3909-0383-2BAA42F530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54dda1946d_6_308:notes">
            <a:extLst>
              <a:ext uri="{FF2B5EF4-FFF2-40B4-BE49-F238E27FC236}">
                <a16:creationId xmlns:a16="http://schemas.microsoft.com/office/drawing/2014/main" id="{30D6C637-2884-8BFA-C702-EEDF4D6C12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627710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>
          <a:extLst>
            <a:ext uri="{FF2B5EF4-FFF2-40B4-BE49-F238E27FC236}">
              <a16:creationId xmlns:a16="http://schemas.microsoft.com/office/drawing/2014/main" id="{FCB40843-C5BF-19DC-CAC3-B861545A8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54dda1946d_6_322:notes">
            <a:extLst>
              <a:ext uri="{FF2B5EF4-FFF2-40B4-BE49-F238E27FC236}">
                <a16:creationId xmlns:a16="http://schemas.microsoft.com/office/drawing/2014/main" id="{318421DB-46BA-FBE7-A029-3885D82D30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54dda1946d_6_322:notes">
            <a:extLst>
              <a:ext uri="{FF2B5EF4-FFF2-40B4-BE49-F238E27FC236}">
                <a16:creationId xmlns:a16="http://schemas.microsoft.com/office/drawing/2014/main" id="{657AE5E2-82DD-5F8C-CF47-307F3AAECA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683716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8">
          <a:extLst>
            <a:ext uri="{FF2B5EF4-FFF2-40B4-BE49-F238E27FC236}">
              <a16:creationId xmlns:a16="http://schemas.microsoft.com/office/drawing/2014/main" id="{E1487EE1-60AB-84D0-3DDE-7987E77DA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14072739ea5_12_0:notes">
            <a:extLst>
              <a:ext uri="{FF2B5EF4-FFF2-40B4-BE49-F238E27FC236}">
                <a16:creationId xmlns:a16="http://schemas.microsoft.com/office/drawing/2014/main" id="{8E7B3C92-C545-61F6-55F4-9C35FE8F90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14072739ea5_12_0:notes">
            <a:extLst>
              <a:ext uri="{FF2B5EF4-FFF2-40B4-BE49-F238E27FC236}">
                <a16:creationId xmlns:a16="http://schemas.microsoft.com/office/drawing/2014/main" id="{4027EA75-3B30-15BC-3CC4-D38C07D94F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867585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5">
          <a:extLst>
            <a:ext uri="{FF2B5EF4-FFF2-40B4-BE49-F238E27FC236}">
              <a16:creationId xmlns:a16="http://schemas.microsoft.com/office/drawing/2014/main" id="{FB119CF0-36F1-25CC-667D-BC8AA22E0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54dda1946d_4_2726:notes">
            <a:extLst>
              <a:ext uri="{FF2B5EF4-FFF2-40B4-BE49-F238E27FC236}">
                <a16:creationId xmlns:a16="http://schemas.microsoft.com/office/drawing/2014/main" id="{CAAE63DD-68FD-E457-B5F0-FD1A7F8413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Google Shape;957;g54dda1946d_4_2726:notes">
            <a:extLst>
              <a:ext uri="{FF2B5EF4-FFF2-40B4-BE49-F238E27FC236}">
                <a16:creationId xmlns:a16="http://schemas.microsoft.com/office/drawing/2014/main" id="{0ABF8713-0862-2922-D767-E45EFACFE8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306899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5">
          <a:extLst>
            <a:ext uri="{FF2B5EF4-FFF2-40B4-BE49-F238E27FC236}">
              <a16:creationId xmlns:a16="http://schemas.microsoft.com/office/drawing/2014/main" id="{4E1BACDB-9CBE-0F95-F2D9-C3DFF98A0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54dda1946d_4_2726:notes">
            <a:extLst>
              <a:ext uri="{FF2B5EF4-FFF2-40B4-BE49-F238E27FC236}">
                <a16:creationId xmlns:a16="http://schemas.microsoft.com/office/drawing/2014/main" id="{C1E86853-5652-EFF3-A336-810090F9D3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Google Shape;957;g54dda1946d_4_2726:notes">
            <a:extLst>
              <a:ext uri="{FF2B5EF4-FFF2-40B4-BE49-F238E27FC236}">
                <a16:creationId xmlns:a16="http://schemas.microsoft.com/office/drawing/2014/main" id="{10AC955B-5E7F-B97A-B958-69F178C5F8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961260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5">
          <a:extLst>
            <a:ext uri="{FF2B5EF4-FFF2-40B4-BE49-F238E27FC236}">
              <a16:creationId xmlns:a16="http://schemas.microsoft.com/office/drawing/2014/main" id="{FA18867F-E380-692C-C0FC-E00C0EE06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54dda1946d_4_2726:notes">
            <a:extLst>
              <a:ext uri="{FF2B5EF4-FFF2-40B4-BE49-F238E27FC236}">
                <a16:creationId xmlns:a16="http://schemas.microsoft.com/office/drawing/2014/main" id="{0C2DF4D6-E819-38AF-D88D-587AE5BA2E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Google Shape;957;g54dda1946d_4_2726:notes">
            <a:extLst>
              <a:ext uri="{FF2B5EF4-FFF2-40B4-BE49-F238E27FC236}">
                <a16:creationId xmlns:a16="http://schemas.microsoft.com/office/drawing/2014/main" id="{9690B0B8-D9D0-C730-BB12-38ECC40338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725029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>
          <a:extLst>
            <a:ext uri="{FF2B5EF4-FFF2-40B4-BE49-F238E27FC236}">
              <a16:creationId xmlns:a16="http://schemas.microsoft.com/office/drawing/2014/main" id="{21956EEF-6BD5-D5FB-8A14-5C51734B9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54dda1946d_6_322:notes">
            <a:extLst>
              <a:ext uri="{FF2B5EF4-FFF2-40B4-BE49-F238E27FC236}">
                <a16:creationId xmlns:a16="http://schemas.microsoft.com/office/drawing/2014/main" id="{F3A77E35-8C52-E1F2-A687-3C39D9D62E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54dda1946d_6_322:notes">
            <a:extLst>
              <a:ext uri="{FF2B5EF4-FFF2-40B4-BE49-F238E27FC236}">
                <a16:creationId xmlns:a16="http://schemas.microsoft.com/office/drawing/2014/main" id="{29B6D5CD-5136-5872-3B1E-8721B86748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601216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Google Shape;957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846900" y="1098283"/>
            <a:ext cx="7584000" cy="224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846900" y="3728338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747801" y="-707126"/>
            <a:ext cx="10297750" cy="6227885"/>
            <a:chOff x="-747801" y="-707126"/>
            <a:chExt cx="10297750" cy="6227885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-747801" y="-707126"/>
              <a:ext cx="2577275" cy="1833510"/>
              <a:chOff x="781874" y="1294774"/>
              <a:chExt cx="2577275" cy="1833510"/>
            </a:xfrm>
          </p:grpSpPr>
          <p:sp>
            <p:nvSpPr>
              <p:cNvPr id="14" name="Google Shape;14;p2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" name="Google Shape;24;p2"/>
            <p:cNvGrpSpPr/>
            <p:nvPr/>
          </p:nvGrpSpPr>
          <p:grpSpPr>
            <a:xfrm>
              <a:off x="6972674" y="3687249"/>
              <a:ext cx="2577275" cy="1833510"/>
              <a:chOff x="781874" y="1294774"/>
              <a:chExt cx="2577275" cy="1833510"/>
            </a:xfrm>
          </p:grpSpPr>
          <p:sp>
            <p:nvSpPr>
              <p:cNvPr id="25" name="Google Shape;25;p2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3"/>
          <p:cNvSpPr txBox="1">
            <a:spLocks noGrp="1"/>
          </p:cNvSpPr>
          <p:nvPr>
            <p:ph type="title"/>
          </p:nvPr>
        </p:nvSpPr>
        <p:spPr>
          <a:xfrm>
            <a:off x="713225" y="2344050"/>
            <a:ext cx="5067600" cy="92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8" name="Google Shape;38;p3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1353475"/>
            <a:ext cx="16521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9" name="Google Shape;39;p3"/>
          <p:cNvSpPr txBox="1">
            <a:spLocks noGrp="1"/>
          </p:cNvSpPr>
          <p:nvPr>
            <p:ph type="subTitle" idx="1"/>
          </p:nvPr>
        </p:nvSpPr>
        <p:spPr>
          <a:xfrm>
            <a:off x="713225" y="3415025"/>
            <a:ext cx="50676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0" name="Google Shape;40;p3"/>
          <p:cNvGrpSpPr/>
          <p:nvPr/>
        </p:nvGrpSpPr>
        <p:grpSpPr>
          <a:xfrm>
            <a:off x="6172199" y="136174"/>
            <a:ext cx="2791650" cy="4892530"/>
            <a:chOff x="6172199" y="136174"/>
            <a:chExt cx="2791650" cy="4892530"/>
          </a:xfrm>
        </p:grpSpPr>
        <p:grpSp>
          <p:nvGrpSpPr>
            <p:cNvPr id="41" name="Google Shape;41;p3"/>
            <p:cNvGrpSpPr/>
            <p:nvPr/>
          </p:nvGrpSpPr>
          <p:grpSpPr>
            <a:xfrm>
              <a:off x="6292024" y="136174"/>
              <a:ext cx="2577275" cy="1833510"/>
              <a:chOff x="781874" y="1294774"/>
              <a:chExt cx="2577275" cy="1833510"/>
            </a:xfrm>
          </p:grpSpPr>
          <p:sp>
            <p:nvSpPr>
              <p:cNvPr id="42" name="Google Shape;42;p3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3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3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3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3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3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3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3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" name="Google Shape;52;p3"/>
            <p:cNvGrpSpPr/>
            <p:nvPr/>
          </p:nvGrpSpPr>
          <p:grpSpPr>
            <a:xfrm>
              <a:off x="8027339" y="2095605"/>
              <a:ext cx="936510" cy="688006"/>
              <a:chOff x="3235964" y="2587955"/>
              <a:chExt cx="936510" cy="688006"/>
            </a:xfrm>
          </p:grpSpPr>
          <p:sp>
            <p:nvSpPr>
              <p:cNvPr id="53" name="Google Shape;53;p3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" name="Google Shape;55;p3"/>
            <p:cNvGrpSpPr/>
            <p:nvPr/>
          </p:nvGrpSpPr>
          <p:grpSpPr>
            <a:xfrm>
              <a:off x="8027628" y="3199534"/>
              <a:ext cx="935946" cy="1829159"/>
              <a:chOff x="4738303" y="2514672"/>
              <a:chExt cx="935946" cy="1829159"/>
            </a:xfrm>
          </p:grpSpPr>
          <p:sp>
            <p:nvSpPr>
              <p:cNvPr id="56" name="Google Shape;56;p3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3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" name="Google Shape;62;p3"/>
            <p:cNvGrpSpPr/>
            <p:nvPr/>
          </p:nvGrpSpPr>
          <p:grpSpPr>
            <a:xfrm>
              <a:off x="6172199" y="4113949"/>
              <a:ext cx="1345775" cy="914755"/>
              <a:chOff x="2264799" y="3654374"/>
              <a:chExt cx="1345775" cy="914755"/>
            </a:xfrm>
          </p:grpSpPr>
          <p:sp>
            <p:nvSpPr>
              <p:cNvPr id="63" name="Google Shape;63;p3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3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3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>
            <a:spLocks noGrp="1"/>
          </p:cNvSpPr>
          <p:nvPr>
            <p:ph type="subTitle" idx="1"/>
          </p:nvPr>
        </p:nvSpPr>
        <p:spPr>
          <a:xfrm>
            <a:off x="5055284" y="369522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7" name="Google Shape;87;p5"/>
          <p:cNvSpPr txBox="1">
            <a:spLocks noGrp="1"/>
          </p:cNvSpPr>
          <p:nvPr>
            <p:ph type="subTitle" idx="2"/>
          </p:nvPr>
        </p:nvSpPr>
        <p:spPr>
          <a:xfrm>
            <a:off x="1583300" y="369522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8" name="Google Shape;88;p5"/>
          <p:cNvSpPr txBox="1">
            <a:spLocks noGrp="1"/>
          </p:cNvSpPr>
          <p:nvPr>
            <p:ph type="subTitle" idx="3"/>
          </p:nvPr>
        </p:nvSpPr>
        <p:spPr>
          <a:xfrm>
            <a:off x="5055275" y="3122525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89" name="Google Shape;89;p5"/>
          <p:cNvSpPr txBox="1">
            <a:spLocks noGrp="1"/>
          </p:cNvSpPr>
          <p:nvPr>
            <p:ph type="subTitle" idx="4"/>
          </p:nvPr>
        </p:nvSpPr>
        <p:spPr>
          <a:xfrm>
            <a:off x="1583075" y="3122525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90" name="Google Shape;90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91" name="Google Shape;91;p5"/>
          <p:cNvGrpSpPr/>
          <p:nvPr/>
        </p:nvGrpSpPr>
        <p:grpSpPr>
          <a:xfrm>
            <a:off x="117324" y="1944274"/>
            <a:ext cx="9242625" cy="3033405"/>
            <a:chOff x="117324" y="1944274"/>
            <a:chExt cx="9242625" cy="3033405"/>
          </a:xfrm>
        </p:grpSpPr>
        <p:grpSp>
          <p:nvGrpSpPr>
            <p:cNvPr id="92" name="Google Shape;92;p5"/>
            <p:cNvGrpSpPr/>
            <p:nvPr/>
          </p:nvGrpSpPr>
          <p:grpSpPr>
            <a:xfrm>
              <a:off x="8424003" y="1944274"/>
              <a:ext cx="935946" cy="1833882"/>
              <a:chOff x="4738303" y="2509949"/>
              <a:chExt cx="935946" cy="1833882"/>
            </a:xfrm>
          </p:grpSpPr>
          <p:sp>
            <p:nvSpPr>
              <p:cNvPr id="93" name="Google Shape;93;p5"/>
              <p:cNvSpPr/>
              <p:nvPr/>
            </p:nvSpPr>
            <p:spPr>
              <a:xfrm rot="10800000">
                <a:off x="5149249" y="273563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5"/>
              <p:cNvSpPr/>
              <p:nvPr/>
            </p:nvSpPr>
            <p:spPr>
              <a:xfrm rot="10800000">
                <a:off x="4739611" y="296660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5"/>
              <p:cNvSpPr/>
              <p:nvPr/>
            </p:nvSpPr>
            <p:spPr>
              <a:xfrm rot="10800000">
                <a:off x="4738303" y="250994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5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5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5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" name="Google Shape;99;p5"/>
            <p:cNvGrpSpPr/>
            <p:nvPr/>
          </p:nvGrpSpPr>
          <p:grpSpPr>
            <a:xfrm>
              <a:off x="117324" y="4062924"/>
              <a:ext cx="1345775" cy="914755"/>
              <a:chOff x="2264799" y="3654374"/>
              <a:chExt cx="1345775" cy="914755"/>
            </a:xfrm>
          </p:grpSpPr>
          <p:sp>
            <p:nvSpPr>
              <p:cNvPr id="100" name="Google Shape;100;p5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5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5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5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06" name="Google Shape;106;p6"/>
          <p:cNvGrpSpPr/>
          <p:nvPr/>
        </p:nvGrpSpPr>
        <p:grpSpPr>
          <a:xfrm>
            <a:off x="7481624" y="4031499"/>
            <a:ext cx="1345775" cy="914755"/>
            <a:chOff x="2264799" y="3654374"/>
            <a:chExt cx="1345775" cy="914755"/>
          </a:xfrm>
        </p:grpSpPr>
        <p:sp>
          <p:nvSpPr>
            <p:cNvPr id="107" name="Google Shape;107;p6"/>
            <p:cNvSpPr/>
            <p:nvPr/>
          </p:nvSpPr>
          <p:spPr>
            <a:xfrm rot="10800000">
              <a:off x="3085574" y="3880062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6"/>
            <p:cNvSpPr/>
            <p:nvPr/>
          </p:nvSpPr>
          <p:spPr>
            <a:xfrm rot="10800000">
              <a:off x="2675936" y="4111029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6"/>
            <p:cNvSpPr/>
            <p:nvPr/>
          </p:nvSpPr>
          <p:spPr>
            <a:xfrm rot="10800000">
              <a:off x="2674628" y="3654374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6"/>
            <p:cNvSpPr/>
            <p:nvPr/>
          </p:nvSpPr>
          <p:spPr>
            <a:xfrm rot="10800000">
              <a:off x="2264799" y="3884105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294800" cy="15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7"/>
          <p:cNvSpPr txBox="1">
            <a:spLocks noGrp="1"/>
          </p:cNvSpPr>
          <p:nvPr>
            <p:ph type="subTitle" idx="1"/>
          </p:nvPr>
        </p:nvSpPr>
        <p:spPr>
          <a:xfrm>
            <a:off x="720000" y="2000900"/>
            <a:ext cx="42948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9"/>
          <p:cNvSpPr txBox="1">
            <a:spLocks noGrp="1"/>
          </p:cNvSpPr>
          <p:nvPr>
            <p:ph type="title"/>
          </p:nvPr>
        </p:nvSpPr>
        <p:spPr>
          <a:xfrm>
            <a:off x="2135550" y="1541188"/>
            <a:ext cx="487290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9"/>
          <p:cNvSpPr txBox="1">
            <a:spLocks noGrp="1"/>
          </p:cNvSpPr>
          <p:nvPr>
            <p:ph type="subTitle" idx="1"/>
          </p:nvPr>
        </p:nvSpPr>
        <p:spPr>
          <a:xfrm>
            <a:off x="2135550" y="2931213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45" name="Google Shape;145;p9"/>
          <p:cNvGrpSpPr/>
          <p:nvPr/>
        </p:nvGrpSpPr>
        <p:grpSpPr>
          <a:xfrm>
            <a:off x="-244726" y="136174"/>
            <a:ext cx="9143475" cy="4810080"/>
            <a:chOff x="-244726" y="136174"/>
            <a:chExt cx="9143475" cy="4810080"/>
          </a:xfrm>
        </p:grpSpPr>
        <p:grpSp>
          <p:nvGrpSpPr>
            <p:cNvPr id="146" name="Google Shape;146;p9"/>
            <p:cNvGrpSpPr/>
            <p:nvPr/>
          </p:nvGrpSpPr>
          <p:grpSpPr>
            <a:xfrm>
              <a:off x="7962803" y="2451822"/>
              <a:ext cx="935946" cy="1829159"/>
              <a:chOff x="4738303" y="2514672"/>
              <a:chExt cx="935946" cy="1829159"/>
            </a:xfrm>
          </p:grpSpPr>
          <p:sp>
            <p:nvSpPr>
              <p:cNvPr id="147" name="Google Shape;147;p9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9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9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9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9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9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" name="Google Shape;153;p9"/>
            <p:cNvGrpSpPr/>
            <p:nvPr/>
          </p:nvGrpSpPr>
          <p:grpSpPr>
            <a:xfrm>
              <a:off x="2135549" y="4031499"/>
              <a:ext cx="1345775" cy="914755"/>
              <a:chOff x="2264799" y="3654374"/>
              <a:chExt cx="1345775" cy="914755"/>
            </a:xfrm>
          </p:grpSpPr>
          <p:sp>
            <p:nvSpPr>
              <p:cNvPr id="154" name="Google Shape;154;p9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9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9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9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8" name="Google Shape;158;p9"/>
            <p:cNvGrpSpPr/>
            <p:nvPr/>
          </p:nvGrpSpPr>
          <p:grpSpPr>
            <a:xfrm>
              <a:off x="-244726" y="136174"/>
              <a:ext cx="2577275" cy="1833510"/>
              <a:chOff x="781874" y="1294774"/>
              <a:chExt cx="2577275" cy="1833510"/>
            </a:xfrm>
          </p:grpSpPr>
          <p:sp>
            <p:nvSpPr>
              <p:cNvPr id="159" name="Google Shape;159;p9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9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9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9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9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9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9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9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9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9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215175"/>
            <a:ext cx="6576000" cy="133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75" name="Google Shape;175;p11"/>
          <p:cNvSpPr txBox="1">
            <a:spLocks noGrp="1"/>
          </p:cNvSpPr>
          <p:nvPr>
            <p:ph type="subTitle" idx="1"/>
          </p:nvPr>
        </p:nvSpPr>
        <p:spPr>
          <a:xfrm>
            <a:off x="1284000" y="2850299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76" name="Google Shape;176;p11"/>
          <p:cNvGrpSpPr/>
          <p:nvPr/>
        </p:nvGrpSpPr>
        <p:grpSpPr>
          <a:xfrm>
            <a:off x="-575414" y="236724"/>
            <a:ext cx="9256137" cy="4578762"/>
            <a:chOff x="-575414" y="236724"/>
            <a:chExt cx="9256137" cy="4578762"/>
          </a:xfrm>
        </p:grpSpPr>
        <p:grpSp>
          <p:nvGrpSpPr>
            <p:cNvPr id="177" name="Google Shape;177;p11"/>
            <p:cNvGrpSpPr/>
            <p:nvPr/>
          </p:nvGrpSpPr>
          <p:grpSpPr>
            <a:xfrm>
              <a:off x="-575414" y="236724"/>
              <a:ext cx="2577275" cy="1833510"/>
              <a:chOff x="781874" y="1294774"/>
              <a:chExt cx="2577275" cy="1833510"/>
            </a:xfrm>
          </p:grpSpPr>
          <p:sp>
            <p:nvSpPr>
              <p:cNvPr id="178" name="Google Shape;178;p11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11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11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11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8" name="Google Shape;188;p11"/>
            <p:cNvGrpSpPr/>
            <p:nvPr/>
          </p:nvGrpSpPr>
          <p:grpSpPr>
            <a:xfrm>
              <a:off x="952289" y="4127480"/>
              <a:ext cx="936510" cy="688006"/>
              <a:chOff x="3235964" y="2587955"/>
              <a:chExt cx="936510" cy="688006"/>
            </a:xfrm>
          </p:grpSpPr>
          <p:sp>
            <p:nvSpPr>
              <p:cNvPr id="189" name="Google Shape;189;p11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11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1" name="Google Shape;191;p11"/>
            <p:cNvGrpSpPr/>
            <p:nvPr/>
          </p:nvGrpSpPr>
          <p:grpSpPr>
            <a:xfrm>
              <a:off x="7744778" y="2850299"/>
              <a:ext cx="935946" cy="1833882"/>
              <a:chOff x="4738303" y="2509949"/>
              <a:chExt cx="935946" cy="1833882"/>
            </a:xfrm>
          </p:grpSpPr>
          <p:sp>
            <p:nvSpPr>
              <p:cNvPr id="192" name="Google Shape;192;p11"/>
              <p:cNvSpPr/>
              <p:nvPr/>
            </p:nvSpPr>
            <p:spPr>
              <a:xfrm rot="10800000">
                <a:off x="5149249" y="273563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rot="10800000">
                <a:off x="4739611" y="296660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11"/>
              <p:cNvSpPr/>
              <p:nvPr/>
            </p:nvSpPr>
            <p:spPr>
              <a:xfrm rot="10800000">
                <a:off x="4738303" y="250994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11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6109324" y="236724"/>
              <a:ext cx="1345775" cy="914755"/>
              <a:chOff x="2264799" y="3654374"/>
              <a:chExt cx="1345775" cy="914755"/>
            </a:xfrm>
          </p:grpSpPr>
          <p:sp>
            <p:nvSpPr>
              <p:cNvPr id="199" name="Google Shape;199;p11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oogle Shape;303;p18"/>
          <p:cNvGrpSpPr/>
          <p:nvPr/>
        </p:nvGrpSpPr>
        <p:grpSpPr>
          <a:xfrm>
            <a:off x="5605824" y="-266076"/>
            <a:ext cx="3292925" cy="5294770"/>
            <a:chOff x="5605824" y="-266076"/>
            <a:chExt cx="3292925" cy="5294770"/>
          </a:xfrm>
        </p:grpSpPr>
        <p:grpSp>
          <p:nvGrpSpPr>
            <p:cNvPr id="304" name="Google Shape;304;p18"/>
            <p:cNvGrpSpPr/>
            <p:nvPr/>
          </p:nvGrpSpPr>
          <p:grpSpPr>
            <a:xfrm>
              <a:off x="5605824" y="-266076"/>
              <a:ext cx="2577275" cy="1833510"/>
              <a:chOff x="781874" y="1294774"/>
              <a:chExt cx="2577275" cy="1833510"/>
            </a:xfrm>
          </p:grpSpPr>
          <p:sp>
            <p:nvSpPr>
              <p:cNvPr id="305" name="Google Shape;305;p18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18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18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18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18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18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18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18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18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18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5" name="Google Shape;315;p18"/>
            <p:cNvGrpSpPr/>
            <p:nvPr/>
          </p:nvGrpSpPr>
          <p:grpSpPr>
            <a:xfrm>
              <a:off x="7962803" y="3199534"/>
              <a:ext cx="935946" cy="1829159"/>
              <a:chOff x="4738303" y="2514672"/>
              <a:chExt cx="935946" cy="1829159"/>
            </a:xfrm>
          </p:grpSpPr>
          <p:sp>
            <p:nvSpPr>
              <p:cNvPr id="316" name="Google Shape;316;p18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18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18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18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18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18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22" name="Google Shape;322;p18"/>
          <p:cNvSpPr>
            <a:spLocks noGrp="1"/>
          </p:cNvSpPr>
          <p:nvPr>
            <p:ph type="pic" idx="2"/>
          </p:nvPr>
        </p:nvSpPr>
        <p:spPr>
          <a:xfrm>
            <a:off x="5273100" y="533863"/>
            <a:ext cx="2910000" cy="4075800"/>
          </a:xfrm>
          <a:prstGeom prst="rect">
            <a:avLst/>
          </a:prstGeom>
          <a:noFill/>
          <a:ln>
            <a:noFill/>
          </a:ln>
        </p:spPr>
      </p:sp>
      <p:sp>
        <p:nvSpPr>
          <p:cNvPr id="323" name="Google Shape;323;p18"/>
          <p:cNvSpPr txBox="1">
            <a:spLocks noGrp="1"/>
          </p:cNvSpPr>
          <p:nvPr>
            <p:ph type="title"/>
          </p:nvPr>
        </p:nvSpPr>
        <p:spPr>
          <a:xfrm>
            <a:off x="720000" y="836175"/>
            <a:ext cx="3519600" cy="22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24" name="Google Shape;324;p18"/>
          <p:cNvSpPr txBox="1">
            <a:spLocks noGrp="1"/>
          </p:cNvSpPr>
          <p:nvPr>
            <p:ph type="subTitle" idx="1"/>
          </p:nvPr>
        </p:nvSpPr>
        <p:spPr>
          <a:xfrm>
            <a:off x="720000" y="3132225"/>
            <a:ext cx="3519600" cy="11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3"/>
          <p:cNvSpPr txBox="1">
            <a:spLocks noGrp="1"/>
          </p:cNvSpPr>
          <p:nvPr>
            <p:ph type="subTitle" idx="1"/>
          </p:nvPr>
        </p:nvSpPr>
        <p:spPr>
          <a:xfrm>
            <a:off x="4973485" y="2787779"/>
            <a:ext cx="3020100" cy="125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7" name="Google Shape;417;p23"/>
          <p:cNvSpPr txBox="1">
            <a:spLocks noGrp="1"/>
          </p:cNvSpPr>
          <p:nvPr>
            <p:ph type="subTitle" idx="2"/>
          </p:nvPr>
        </p:nvSpPr>
        <p:spPr>
          <a:xfrm>
            <a:off x="1150407" y="2787779"/>
            <a:ext cx="3020100" cy="125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8" name="Google Shape;418;p23"/>
          <p:cNvSpPr txBox="1">
            <a:spLocks noGrp="1"/>
          </p:cNvSpPr>
          <p:nvPr>
            <p:ph type="subTitle" idx="3"/>
          </p:nvPr>
        </p:nvSpPr>
        <p:spPr>
          <a:xfrm>
            <a:off x="1150408" y="2228879"/>
            <a:ext cx="30201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19" name="Google Shape;419;p23"/>
          <p:cNvSpPr txBox="1">
            <a:spLocks noGrp="1"/>
          </p:cNvSpPr>
          <p:nvPr>
            <p:ph type="subTitle" idx="4"/>
          </p:nvPr>
        </p:nvSpPr>
        <p:spPr>
          <a:xfrm>
            <a:off x="4973493" y="2228879"/>
            <a:ext cx="30201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20" name="Google Shape;420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421" name="Google Shape;421;p23"/>
          <p:cNvGrpSpPr/>
          <p:nvPr/>
        </p:nvGrpSpPr>
        <p:grpSpPr>
          <a:xfrm>
            <a:off x="-625776" y="3465724"/>
            <a:ext cx="9463650" cy="2543548"/>
            <a:chOff x="-625776" y="3465724"/>
            <a:chExt cx="9463650" cy="2543548"/>
          </a:xfrm>
        </p:grpSpPr>
        <p:grpSp>
          <p:nvGrpSpPr>
            <p:cNvPr id="422" name="Google Shape;422;p23"/>
            <p:cNvGrpSpPr/>
            <p:nvPr/>
          </p:nvGrpSpPr>
          <p:grpSpPr>
            <a:xfrm>
              <a:off x="1927011" y="4175761"/>
              <a:ext cx="2577275" cy="1833510"/>
              <a:chOff x="781874" y="1294774"/>
              <a:chExt cx="2577275" cy="1833510"/>
            </a:xfrm>
          </p:grpSpPr>
          <p:sp>
            <p:nvSpPr>
              <p:cNvPr id="423" name="Google Shape;423;p23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23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23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23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23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23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23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23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23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23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3" name="Google Shape;433;p23"/>
            <p:cNvGrpSpPr/>
            <p:nvPr/>
          </p:nvGrpSpPr>
          <p:grpSpPr>
            <a:xfrm>
              <a:off x="7901928" y="3813647"/>
              <a:ext cx="935946" cy="1829159"/>
              <a:chOff x="4738303" y="2514672"/>
              <a:chExt cx="935946" cy="1829159"/>
            </a:xfrm>
          </p:grpSpPr>
          <p:sp>
            <p:nvSpPr>
              <p:cNvPr id="434" name="Google Shape;434;p23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23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23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23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23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23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0" name="Google Shape;440;p23"/>
            <p:cNvGrpSpPr/>
            <p:nvPr/>
          </p:nvGrpSpPr>
          <p:grpSpPr>
            <a:xfrm>
              <a:off x="-625776" y="3465724"/>
              <a:ext cx="1345775" cy="914755"/>
              <a:chOff x="2264799" y="3654374"/>
              <a:chExt cx="1345775" cy="914755"/>
            </a:xfrm>
          </p:grpSpPr>
          <p:sp>
            <p:nvSpPr>
              <p:cNvPr id="441" name="Google Shape;441;p23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23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23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23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4"/>
          <p:cNvSpPr txBox="1">
            <a:spLocks noGrp="1"/>
          </p:cNvSpPr>
          <p:nvPr>
            <p:ph type="subTitle" idx="1"/>
          </p:nvPr>
        </p:nvSpPr>
        <p:spPr>
          <a:xfrm>
            <a:off x="4832078" y="1667625"/>
            <a:ext cx="3254100" cy="22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7" name="Google Shape;447;p24"/>
          <p:cNvSpPr txBox="1">
            <a:spLocks noGrp="1"/>
          </p:cNvSpPr>
          <p:nvPr>
            <p:ph type="subTitle" idx="2"/>
          </p:nvPr>
        </p:nvSpPr>
        <p:spPr>
          <a:xfrm>
            <a:off x="1057900" y="1667625"/>
            <a:ext cx="3254100" cy="22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8" name="Google Shape;448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449" name="Google Shape;449;p24"/>
          <p:cNvGrpSpPr/>
          <p:nvPr/>
        </p:nvGrpSpPr>
        <p:grpSpPr>
          <a:xfrm>
            <a:off x="965824" y="3077647"/>
            <a:ext cx="7932925" cy="1846320"/>
            <a:chOff x="965824" y="3077647"/>
            <a:chExt cx="7932925" cy="1846320"/>
          </a:xfrm>
        </p:grpSpPr>
        <p:grpSp>
          <p:nvGrpSpPr>
            <p:cNvPr id="450" name="Google Shape;450;p24"/>
            <p:cNvGrpSpPr/>
            <p:nvPr/>
          </p:nvGrpSpPr>
          <p:grpSpPr>
            <a:xfrm>
              <a:off x="7962803" y="3077647"/>
              <a:ext cx="935946" cy="1829159"/>
              <a:chOff x="4738303" y="2514672"/>
              <a:chExt cx="935946" cy="1829159"/>
            </a:xfrm>
          </p:grpSpPr>
          <p:sp>
            <p:nvSpPr>
              <p:cNvPr id="451" name="Google Shape;451;p24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24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24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24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455;p24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456;p24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7" name="Google Shape;457;p24"/>
            <p:cNvGrpSpPr/>
            <p:nvPr/>
          </p:nvGrpSpPr>
          <p:grpSpPr>
            <a:xfrm>
              <a:off x="965824" y="4009211"/>
              <a:ext cx="1345775" cy="914755"/>
              <a:chOff x="2264799" y="3654374"/>
              <a:chExt cx="1345775" cy="914755"/>
            </a:xfrm>
          </p:grpSpPr>
          <p:sp>
            <p:nvSpPr>
              <p:cNvPr id="458" name="Google Shape;458;p24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24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24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24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3" name="Google Shape;633;p31"/>
          <p:cNvGrpSpPr/>
          <p:nvPr/>
        </p:nvGrpSpPr>
        <p:grpSpPr>
          <a:xfrm>
            <a:off x="-234251" y="-297501"/>
            <a:ext cx="9082600" cy="5165107"/>
            <a:chOff x="-234251" y="-297501"/>
            <a:chExt cx="9082600" cy="5165107"/>
          </a:xfrm>
        </p:grpSpPr>
        <p:grpSp>
          <p:nvGrpSpPr>
            <p:cNvPr id="634" name="Google Shape;634;p31"/>
            <p:cNvGrpSpPr/>
            <p:nvPr/>
          </p:nvGrpSpPr>
          <p:grpSpPr>
            <a:xfrm>
              <a:off x="-234251" y="-297501"/>
              <a:ext cx="2577275" cy="1833510"/>
              <a:chOff x="781874" y="1294774"/>
              <a:chExt cx="2577275" cy="1833510"/>
            </a:xfrm>
          </p:grpSpPr>
          <p:sp>
            <p:nvSpPr>
              <p:cNvPr id="635" name="Google Shape;635;p31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Google Shape;636;p31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31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31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Google Shape;639;p31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Google Shape;640;p31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41;p31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31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Google Shape;643;p31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Google Shape;644;p31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5" name="Google Shape;645;p31"/>
            <p:cNvGrpSpPr/>
            <p:nvPr/>
          </p:nvGrpSpPr>
          <p:grpSpPr>
            <a:xfrm>
              <a:off x="7866164" y="275255"/>
              <a:ext cx="936510" cy="688006"/>
              <a:chOff x="3235964" y="2587955"/>
              <a:chExt cx="936510" cy="688006"/>
            </a:xfrm>
          </p:grpSpPr>
          <p:sp>
            <p:nvSpPr>
              <p:cNvPr id="646" name="Google Shape;646;p31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47;p31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8" name="Google Shape;648;p31"/>
            <p:cNvGrpSpPr/>
            <p:nvPr/>
          </p:nvGrpSpPr>
          <p:grpSpPr>
            <a:xfrm>
              <a:off x="7912403" y="3038447"/>
              <a:ext cx="935946" cy="1829159"/>
              <a:chOff x="4738303" y="2514672"/>
              <a:chExt cx="935946" cy="1829159"/>
            </a:xfrm>
          </p:grpSpPr>
          <p:sp>
            <p:nvSpPr>
              <p:cNvPr id="649" name="Google Shape;649;p31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31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31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31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31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31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5" name="Google Shape;655;p31"/>
            <p:cNvGrpSpPr/>
            <p:nvPr/>
          </p:nvGrpSpPr>
          <p:grpSpPr>
            <a:xfrm>
              <a:off x="381499" y="3884824"/>
              <a:ext cx="1345775" cy="914755"/>
              <a:chOff x="2264799" y="3654374"/>
              <a:chExt cx="1345775" cy="914755"/>
            </a:xfrm>
          </p:grpSpPr>
          <p:sp>
            <p:nvSpPr>
              <p:cNvPr id="656" name="Google Shape;656;p31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31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31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31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1" name="Google Shape;661;p32"/>
          <p:cNvGrpSpPr/>
          <p:nvPr/>
        </p:nvGrpSpPr>
        <p:grpSpPr>
          <a:xfrm>
            <a:off x="159224" y="251905"/>
            <a:ext cx="8751975" cy="4709604"/>
            <a:chOff x="159224" y="251905"/>
            <a:chExt cx="8751975" cy="4709604"/>
          </a:xfrm>
        </p:grpSpPr>
        <p:grpSp>
          <p:nvGrpSpPr>
            <p:cNvPr id="662" name="Google Shape;662;p32"/>
            <p:cNvGrpSpPr/>
            <p:nvPr/>
          </p:nvGrpSpPr>
          <p:grpSpPr>
            <a:xfrm>
              <a:off x="6333924" y="3127999"/>
              <a:ext cx="2577275" cy="1833510"/>
              <a:chOff x="781874" y="1294774"/>
              <a:chExt cx="2577275" cy="1833510"/>
            </a:xfrm>
          </p:grpSpPr>
          <p:sp>
            <p:nvSpPr>
              <p:cNvPr id="663" name="Google Shape;663;p32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32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32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32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32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32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32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32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32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32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3" name="Google Shape;673;p32"/>
            <p:cNvGrpSpPr/>
            <p:nvPr/>
          </p:nvGrpSpPr>
          <p:grpSpPr>
            <a:xfrm>
              <a:off x="1580814" y="251905"/>
              <a:ext cx="936510" cy="688006"/>
              <a:chOff x="3235964" y="2587955"/>
              <a:chExt cx="936510" cy="688006"/>
            </a:xfrm>
          </p:grpSpPr>
          <p:sp>
            <p:nvSpPr>
              <p:cNvPr id="674" name="Google Shape;674;p32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Google Shape;675;p32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6" name="Google Shape;676;p32"/>
            <p:cNvGrpSpPr/>
            <p:nvPr/>
          </p:nvGrpSpPr>
          <p:grpSpPr>
            <a:xfrm>
              <a:off x="307128" y="346247"/>
              <a:ext cx="935946" cy="1829159"/>
              <a:chOff x="4738303" y="2514672"/>
              <a:chExt cx="935946" cy="1829159"/>
            </a:xfrm>
          </p:grpSpPr>
          <p:sp>
            <p:nvSpPr>
              <p:cNvPr id="677" name="Google Shape;677;p32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32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32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Google Shape;680;p32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32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32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83" name="Google Shape;683;p32"/>
            <p:cNvGrpSpPr/>
            <p:nvPr/>
          </p:nvGrpSpPr>
          <p:grpSpPr>
            <a:xfrm>
              <a:off x="159224" y="2418249"/>
              <a:ext cx="1345775" cy="914755"/>
              <a:chOff x="2264799" y="3654374"/>
              <a:chExt cx="1345775" cy="914755"/>
            </a:xfrm>
          </p:grpSpPr>
          <p:sp>
            <p:nvSpPr>
              <p:cNvPr id="684" name="Google Shape;684;p32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685;p32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32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Google Shape;687;p32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5" r:id="rId6"/>
    <p:sldLayoutId id="2147483657" r:id="rId7"/>
    <p:sldLayoutId id="2147483658" r:id="rId8"/>
    <p:sldLayoutId id="2147483664" r:id="rId9"/>
    <p:sldLayoutId id="2147483669" r:id="rId10"/>
    <p:sldLayoutId id="2147483670" r:id="rId11"/>
    <p:sldLayoutId id="2147483677" r:id="rId12"/>
    <p:sldLayoutId id="2147483678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jpe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7.png"/><Relationship Id="rId4" Type="http://schemas.openxmlformats.org/officeDocument/2006/relationships/customXml" Target="../ink/ink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36"/>
          <p:cNvSpPr txBox="1">
            <a:spLocks noGrp="1"/>
          </p:cNvSpPr>
          <p:nvPr>
            <p:ph type="ctrTitle"/>
          </p:nvPr>
        </p:nvSpPr>
        <p:spPr>
          <a:xfrm>
            <a:off x="916642" y="1098283"/>
            <a:ext cx="7584000" cy="224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700" dirty="0"/>
              <a:t>Analyzing Daily</a:t>
            </a:r>
            <a:br>
              <a:rPr lang="en" sz="5700" dirty="0"/>
            </a:br>
            <a:r>
              <a:rPr lang="en" sz="5700" dirty="0">
                <a:solidFill>
                  <a:schemeClr val="tx1"/>
                </a:solidFill>
              </a:rPr>
              <a:t>CO</a:t>
            </a:r>
            <a:r>
              <a:rPr lang="en" sz="5400" baseline="-25000" dirty="0">
                <a:solidFill>
                  <a:schemeClr val="tx1"/>
                </a:solidFill>
              </a:rPr>
              <a:t>2</a:t>
            </a:r>
            <a:r>
              <a:rPr lang="en" sz="5700" dirty="0"/>
              <a:t> Emissions</a:t>
            </a:r>
            <a:br>
              <a:rPr lang="en" sz="5700" dirty="0"/>
            </a:br>
            <a:r>
              <a:rPr lang="en" sz="3500" b="0" dirty="0"/>
              <a:t>Across Countries</a:t>
            </a:r>
            <a:endParaRPr sz="3500" b="0" dirty="0"/>
          </a:p>
        </p:txBody>
      </p:sp>
      <p:sp>
        <p:nvSpPr>
          <p:cNvPr id="699" name="Google Shape;699;p36"/>
          <p:cNvSpPr txBox="1">
            <a:spLocks noGrp="1"/>
          </p:cNvSpPr>
          <p:nvPr>
            <p:ph type="subTitle" idx="1"/>
          </p:nvPr>
        </p:nvSpPr>
        <p:spPr>
          <a:xfrm>
            <a:off x="796528" y="3728338"/>
            <a:ext cx="7204471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Anomaly Detection, Structural Breaks, Clustering &amp; ML Forecasting</a:t>
            </a:r>
          </a:p>
        </p:txBody>
      </p:sp>
      <p:cxnSp>
        <p:nvCxnSpPr>
          <p:cNvPr id="700" name="Google Shape;700;p36"/>
          <p:cNvCxnSpPr>
            <a:cxnSpLocks/>
          </p:cNvCxnSpPr>
          <p:nvPr/>
        </p:nvCxnSpPr>
        <p:spPr>
          <a:xfrm>
            <a:off x="1023664" y="3527687"/>
            <a:ext cx="931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4">
          <a:extLst>
            <a:ext uri="{FF2B5EF4-FFF2-40B4-BE49-F238E27FC236}">
              <a16:creationId xmlns:a16="http://schemas.microsoft.com/office/drawing/2014/main" id="{122661F9-12BE-2C55-8859-7E4531BAA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p69">
            <a:extLst>
              <a:ext uri="{FF2B5EF4-FFF2-40B4-BE49-F238E27FC236}">
                <a16:creationId xmlns:a16="http://schemas.microsoft.com/office/drawing/2014/main" id="{217E3859-67F7-C5A6-405E-73B8C613B742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844100" y="2679936"/>
            <a:ext cx="1793407" cy="41778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it-IT" sz="1600" dirty="0"/>
              <a:t>Parisa </a:t>
            </a:r>
            <a:r>
              <a:rPr lang="it-IT" sz="1600" dirty="0" err="1"/>
              <a:t>Izadyar</a:t>
            </a:r>
            <a:endParaRPr lang="it-IT" sz="1600" dirty="0"/>
          </a:p>
        </p:txBody>
      </p:sp>
      <p:sp>
        <p:nvSpPr>
          <p:cNvPr id="1346" name="Google Shape;1346;p69">
            <a:extLst>
              <a:ext uri="{FF2B5EF4-FFF2-40B4-BE49-F238E27FC236}">
                <a16:creationId xmlns:a16="http://schemas.microsoft.com/office/drawing/2014/main" id="{315AC086-949B-F553-20E1-01D0B510D2B0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25169" y="2679935"/>
            <a:ext cx="1871659" cy="41778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Daniele Cavuto</a:t>
            </a:r>
            <a:endParaRPr sz="1600" dirty="0"/>
          </a:p>
        </p:txBody>
      </p:sp>
      <p:sp>
        <p:nvSpPr>
          <p:cNvPr id="1347" name="Google Shape;1347;p69">
            <a:extLst>
              <a:ext uri="{FF2B5EF4-FFF2-40B4-BE49-F238E27FC236}">
                <a16:creationId xmlns:a16="http://schemas.microsoft.com/office/drawing/2014/main" id="{3D4B4E20-0265-171E-CD07-E39B6C7CA5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4364" y="40511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Our team</a:t>
            </a:r>
            <a:endParaRPr dirty="0"/>
          </a:p>
        </p:txBody>
      </p:sp>
      <p:sp>
        <p:nvSpPr>
          <p:cNvPr id="1348" name="Google Shape;1348;p69">
            <a:extLst>
              <a:ext uri="{FF2B5EF4-FFF2-40B4-BE49-F238E27FC236}">
                <a16:creationId xmlns:a16="http://schemas.microsoft.com/office/drawing/2014/main" id="{EFFABCFC-AE0D-CAB9-682A-76168C52645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826894" y="3097718"/>
            <a:ext cx="1827823" cy="4177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b="1" dirty="0"/>
              <a:t>IT Engineer </a:t>
            </a:r>
            <a:r>
              <a:rPr lang="en-US" dirty="0"/>
              <a:t>from Rasht, Iran</a:t>
            </a:r>
          </a:p>
        </p:txBody>
      </p:sp>
      <p:sp>
        <p:nvSpPr>
          <p:cNvPr id="1349" name="Google Shape;1349;p69">
            <a:extLst>
              <a:ext uri="{FF2B5EF4-FFF2-40B4-BE49-F238E27FC236}">
                <a16:creationId xmlns:a16="http://schemas.microsoft.com/office/drawing/2014/main" id="{90A8227B-657A-464F-7103-CB246ACBB86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05784" y="3043743"/>
            <a:ext cx="2060829" cy="4177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b="1" dirty="0"/>
              <a:t>Economics</a:t>
            </a:r>
            <a:r>
              <a:rPr lang="en-US" dirty="0"/>
              <a:t> student from Naples, Italy</a:t>
            </a:r>
          </a:p>
        </p:txBody>
      </p:sp>
      <p:pic>
        <p:nvPicPr>
          <p:cNvPr id="2" name="Immagine 1" descr="Immagine che contiene cielo, vestiti, Viso umano, persona&#10;&#10;Il contenuto generato dall'IA potrebbe non essere corretto.">
            <a:extLst>
              <a:ext uri="{FF2B5EF4-FFF2-40B4-BE49-F238E27FC236}">
                <a16:creationId xmlns:a16="http://schemas.microsoft.com/office/drawing/2014/main" id="{32F2D208-239B-9E11-ABDB-D508BD5C466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4290" y="1384573"/>
            <a:ext cx="1173029" cy="117302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pic>
      <p:pic>
        <p:nvPicPr>
          <p:cNvPr id="3" name="Immagine 2" descr="Immagine che contiene persona, Viso umano, cibo, bevanda&#10;&#10;Il contenuto generato dall'IA potrebbe non essere corretto.">
            <a:extLst>
              <a:ext uri="{FF2B5EF4-FFF2-40B4-BE49-F238E27FC236}">
                <a16:creationId xmlns:a16="http://schemas.microsoft.com/office/drawing/2014/main" id="{F229A8CB-22BE-D73F-4603-E5B4681D54E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685" y="1384573"/>
            <a:ext cx="1173029" cy="117302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pic>
      <p:sp>
        <p:nvSpPr>
          <p:cNvPr id="6" name="Google Shape;1345;p69">
            <a:extLst>
              <a:ext uri="{FF2B5EF4-FFF2-40B4-BE49-F238E27FC236}">
                <a16:creationId xmlns:a16="http://schemas.microsoft.com/office/drawing/2014/main" id="{667EBC8E-E2A9-A594-FD95-AF565DE9DE41}"/>
              </a:ext>
            </a:extLst>
          </p:cNvPr>
          <p:cNvSpPr txBox="1">
            <a:spLocks/>
          </p:cNvSpPr>
          <p:nvPr/>
        </p:nvSpPr>
        <p:spPr>
          <a:xfrm>
            <a:off x="6911100" y="3348366"/>
            <a:ext cx="1827823" cy="417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it-IT" sz="1600" dirty="0" err="1"/>
              <a:t>Aashi</a:t>
            </a:r>
            <a:r>
              <a:rPr lang="it-IT" sz="1600" dirty="0"/>
              <a:t> </a:t>
            </a:r>
            <a:r>
              <a:rPr lang="it-IT" sz="1600" dirty="0" err="1"/>
              <a:t>Mehrotra</a:t>
            </a:r>
            <a:endParaRPr lang="it-IT" sz="1600" dirty="0"/>
          </a:p>
        </p:txBody>
      </p:sp>
      <p:sp>
        <p:nvSpPr>
          <p:cNvPr id="7" name="Google Shape;1348;p69">
            <a:extLst>
              <a:ext uri="{FF2B5EF4-FFF2-40B4-BE49-F238E27FC236}">
                <a16:creationId xmlns:a16="http://schemas.microsoft.com/office/drawing/2014/main" id="{6995F300-83CA-4DC1-6DFD-D67A14BEC0CF}"/>
              </a:ext>
            </a:extLst>
          </p:cNvPr>
          <p:cNvSpPr txBox="1">
            <a:spLocks/>
          </p:cNvSpPr>
          <p:nvPr/>
        </p:nvSpPr>
        <p:spPr>
          <a:xfrm>
            <a:off x="6893890" y="3732567"/>
            <a:ext cx="1827823" cy="417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en-US" b="1" dirty="0"/>
              <a:t>System Engineer </a:t>
            </a:r>
            <a:r>
              <a:rPr lang="en-US" dirty="0"/>
              <a:t>from </a:t>
            </a:r>
            <a:r>
              <a:rPr lang="en-US" dirty="0" err="1"/>
              <a:t>Modinagar</a:t>
            </a:r>
            <a:r>
              <a:rPr lang="en-US" dirty="0"/>
              <a:t>, India</a:t>
            </a:r>
          </a:p>
        </p:txBody>
      </p:sp>
      <p:sp>
        <p:nvSpPr>
          <p:cNvPr id="9" name="Google Shape;1345;p69">
            <a:extLst>
              <a:ext uri="{FF2B5EF4-FFF2-40B4-BE49-F238E27FC236}">
                <a16:creationId xmlns:a16="http://schemas.microsoft.com/office/drawing/2014/main" id="{BE3DB559-5A1B-97DC-5007-FA52FA648283}"/>
              </a:ext>
            </a:extLst>
          </p:cNvPr>
          <p:cNvSpPr txBox="1">
            <a:spLocks/>
          </p:cNvSpPr>
          <p:nvPr/>
        </p:nvSpPr>
        <p:spPr>
          <a:xfrm>
            <a:off x="2474507" y="3338521"/>
            <a:ext cx="2123231" cy="417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it-IT" sz="1600" dirty="0"/>
              <a:t>Francesco Stellato</a:t>
            </a:r>
          </a:p>
        </p:txBody>
      </p:sp>
      <p:sp>
        <p:nvSpPr>
          <p:cNvPr id="10" name="Google Shape;1348;p69">
            <a:extLst>
              <a:ext uri="{FF2B5EF4-FFF2-40B4-BE49-F238E27FC236}">
                <a16:creationId xmlns:a16="http://schemas.microsoft.com/office/drawing/2014/main" id="{56A4D0D0-1DB5-3490-9031-0CFED6D2F199}"/>
              </a:ext>
            </a:extLst>
          </p:cNvPr>
          <p:cNvSpPr txBox="1">
            <a:spLocks/>
          </p:cNvSpPr>
          <p:nvPr/>
        </p:nvSpPr>
        <p:spPr>
          <a:xfrm>
            <a:off x="2576374" y="3745284"/>
            <a:ext cx="1827823" cy="417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/>
            <a:r>
              <a:rPr lang="en-US" b="1" dirty="0"/>
              <a:t>Physics</a:t>
            </a:r>
            <a:r>
              <a:rPr lang="en-US" dirty="0"/>
              <a:t> student from Naples, Italy</a:t>
            </a:r>
          </a:p>
        </p:txBody>
      </p:sp>
      <p:pic>
        <p:nvPicPr>
          <p:cNvPr id="16" name="Immagine 15" descr="Immagine che contiene vestiti, persona, Viso umano, capispalla&#10;&#10;Il contenuto generato dall'IA potrebbe non essere corretto.">
            <a:extLst>
              <a:ext uri="{FF2B5EF4-FFF2-40B4-BE49-F238E27FC236}">
                <a16:creationId xmlns:a16="http://schemas.microsoft.com/office/drawing/2014/main" id="{A84BA306-4CB5-BD4E-9A89-869F5DEA980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rcRect l="4974" t="7220" r="6242" b="15525"/>
          <a:stretch>
            <a:fillRect/>
          </a:stretch>
        </p:blipFill>
        <p:spPr>
          <a:xfrm>
            <a:off x="7221286" y="2032273"/>
            <a:ext cx="1173029" cy="119376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pic>
      <p:pic>
        <p:nvPicPr>
          <p:cNvPr id="18" name="Immagine 17" descr="Immagine che contiene vestiti, persona, Viso umano, aria aperta">
            <a:extLst>
              <a:ext uri="{FF2B5EF4-FFF2-40B4-BE49-F238E27FC236}">
                <a16:creationId xmlns:a16="http://schemas.microsoft.com/office/drawing/2014/main" id="{5FC33597-8A8C-8FEC-FA74-3C9648021D2D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rcRect t="25866" r="22456"/>
          <a:stretch>
            <a:fillRect/>
          </a:stretch>
        </p:blipFill>
        <p:spPr>
          <a:xfrm>
            <a:off x="2933182" y="1936700"/>
            <a:ext cx="1173029" cy="130021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3477854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6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Analysis Roadmap</a:t>
            </a:r>
            <a:endParaRPr dirty="0"/>
          </a:p>
        </p:txBody>
      </p:sp>
      <p:sp>
        <p:nvSpPr>
          <p:cNvPr id="1229" name="Google Shape;1229;p64"/>
          <p:cNvSpPr txBox="1"/>
          <p:nvPr/>
        </p:nvSpPr>
        <p:spPr>
          <a:xfrm flipH="1">
            <a:off x="1236329" y="1541225"/>
            <a:ext cx="12840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Step 1</a:t>
            </a:r>
            <a:endParaRPr sz="24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30" name="Google Shape;1230;p64"/>
          <p:cNvSpPr txBox="1"/>
          <p:nvPr/>
        </p:nvSpPr>
        <p:spPr>
          <a:xfrm flipH="1">
            <a:off x="1236329" y="1929500"/>
            <a:ext cx="12840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31" name="Google Shape;1231;p64"/>
          <p:cNvSpPr txBox="1"/>
          <p:nvPr/>
        </p:nvSpPr>
        <p:spPr>
          <a:xfrm flipH="1">
            <a:off x="3930000" y="1541225"/>
            <a:ext cx="12840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Step 2</a:t>
            </a:r>
            <a:endParaRPr sz="24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32" name="Google Shape;1232;p64"/>
          <p:cNvSpPr txBox="1"/>
          <p:nvPr/>
        </p:nvSpPr>
        <p:spPr>
          <a:xfrm flipH="1">
            <a:off x="3570513" y="1929500"/>
            <a:ext cx="1985555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Data Preparation &amp; Exploration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33" name="Google Shape;1233;p64"/>
          <p:cNvSpPr txBox="1"/>
          <p:nvPr/>
        </p:nvSpPr>
        <p:spPr>
          <a:xfrm flipH="1">
            <a:off x="6623671" y="1541225"/>
            <a:ext cx="12840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Step 3</a:t>
            </a:r>
            <a:endParaRPr sz="24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34" name="Google Shape;1234;p64"/>
          <p:cNvSpPr txBox="1"/>
          <p:nvPr/>
        </p:nvSpPr>
        <p:spPr>
          <a:xfrm flipH="1">
            <a:off x="6623671" y="1918118"/>
            <a:ext cx="12840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Anomaly Detection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35" name="Google Shape;1235;p64"/>
          <p:cNvSpPr txBox="1"/>
          <p:nvPr/>
        </p:nvSpPr>
        <p:spPr>
          <a:xfrm flipH="1">
            <a:off x="1236329" y="3170925"/>
            <a:ext cx="12840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Step 4</a:t>
            </a:r>
            <a:endParaRPr sz="24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36" name="Google Shape;1236;p64"/>
          <p:cNvSpPr txBox="1"/>
          <p:nvPr/>
        </p:nvSpPr>
        <p:spPr>
          <a:xfrm flipH="1">
            <a:off x="1236329" y="3559200"/>
            <a:ext cx="12840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Clustering Analysis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37" name="Google Shape;1237;p64"/>
          <p:cNvSpPr txBox="1"/>
          <p:nvPr/>
        </p:nvSpPr>
        <p:spPr>
          <a:xfrm flipH="1">
            <a:off x="3930000" y="3170925"/>
            <a:ext cx="12840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Step 5</a:t>
            </a:r>
            <a:endParaRPr sz="24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38" name="Google Shape;1238;p64"/>
          <p:cNvSpPr txBox="1"/>
          <p:nvPr/>
        </p:nvSpPr>
        <p:spPr>
          <a:xfrm flipH="1">
            <a:off x="3311978" y="3559200"/>
            <a:ext cx="2520044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Forecasting &amp; Performance Comparison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39" name="Google Shape;1239;p64"/>
          <p:cNvSpPr txBox="1"/>
          <p:nvPr/>
        </p:nvSpPr>
        <p:spPr>
          <a:xfrm flipH="1">
            <a:off x="6623671" y="3170925"/>
            <a:ext cx="12840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Step 6</a:t>
            </a:r>
            <a:endParaRPr sz="24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40" name="Google Shape;1240;p64"/>
          <p:cNvSpPr txBox="1"/>
          <p:nvPr/>
        </p:nvSpPr>
        <p:spPr>
          <a:xfrm flipH="1">
            <a:off x="6623671" y="3559200"/>
            <a:ext cx="12840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Conclusions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241" name="Google Shape;1241;p64"/>
          <p:cNvCxnSpPr>
            <a:stCxn id="1229" idx="1"/>
            <a:endCxn id="1231" idx="3"/>
          </p:cNvCxnSpPr>
          <p:nvPr/>
        </p:nvCxnSpPr>
        <p:spPr>
          <a:xfrm>
            <a:off x="2520329" y="1771775"/>
            <a:ext cx="1409700" cy="600"/>
          </a:xfrm>
          <a:prstGeom prst="bentConnector3">
            <a:avLst>
              <a:gd name="adj1" fmla="val 49999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2" name="Google Shape;1242;p64"/>
          <p:cNvCxnSpPr>
            <a:stCxn id="1231" idx="1"/>
            <a:endCxn id="1233" idx="3"/>
          </p:cNvCxnSpPr>
          <p:nvPr/>
        </p:nvCxnSpPr>
        <p:spPr>
          <a:xfrm>
            <a:off x="5214000" y="1771775"/>
            <a:ext cx="1409700" cy="600"/>
          </a:xfrm>
          <a:prstGeom prst="bentConnector3">
            <a:avLst>
              <a:gd name="adj1" fmla="val 49999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3" name="Google Shape;1243;p64"/>
          <p:cNvCxnSpPr>
            <a:cxnSpLocks/>
            <a:stCxn id="1234" idx="2"/>
            <a:endCxn id="1235" idx="0"/>
          </p:cNvCxnSpPr>
          <p:nvPr/>
        </p:nvCxnSpPr>
        <p:spPr>
          <a:xfrm rot="5400000">
            <a:off x="4231497" y="136750"/>
            <a:ext cx="681007" cy="5387342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4" name="Google Shape;1244;p64"/>
          <p:cNvCxnSpPr>
            <a:stCxn id="1235" idx="1"/>
            <a:endCxn id="1237" idx="3"/>
          </p:cNvCxnSpPr>
          <p:nvPr/>
        </p:nvCxnSpPr>
        <p:spPr>
          <a:xfrm>
            <a:off x="2520329" y="3401475"/>
            <a:ext cx="1409700" cy="600"/>
          </a:xfrm>
          <a:prstGeom prst="bentConnector3">
            <a:avLst>
              <a:gd name="adj1" fmla="val 49999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5" name="Google Shape;1245;p64"/>
          <p:cNvCxnSpPr>
            <a:stCxn id="1237" idx="1"/>
            <a:endCxn id="1239" idx="3"/>
          </p:cNvCxnSpPr>
          <p:nvPr/>
        </p:nvCxnSpPr>
        <p:spPr>
          <a:xfrm>
            <a:off x="5214000" y="3401475"/>
            <a:ext cx="1409700" cy="600"/>
          </a:xfrm>
          <a:prstGeom prst="bentConnector3">
            <a:avLst>
              <a:gd name="adj1" fmla="val 49999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48563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9"/>
          <p:cNvSpPr txBox="1">
            <a:spLocks noGrp="1"/>
          </p:cNvSpPr>
          <p:nvPr>
            <p:ph type="title"/>
          </p:nvPr>
        </p:nvSpPr>
        <p:spPr>
          <a:xfrm>
            <a:off x="500743" y="1541188"/>
            <a:ext cx="8262257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Let’s get started!</a:t>
            </a:r>
            <a:endParaRPr dirty="0"/>
          </a:p>
        </p:txBody>
      </p:sp>
      <p:sp>
        <p:nvSpPr>
          <p:cNvPr id="738" name="Google Shape;738;p39"/>
          <p:cNvSpPr txBox="1">
            <a:spLocks noGrp="1"/>
          </p:cNvSpPr>
          <p:nvPr>
            <p:ph type="subTitle" idx="1"/>
          </p:nvPr>
        </p:nvSpPr>
        <p:spPr>
          <a:xfrm>
            <a:off x="2135550" y="2931213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We have a lot of great material to cover today so </a:t>
            </a:r>
            <a:r>
              <a:rPr lang="en" dirty="0"/>
              <a:t>feel free to interrupt us and ask any question!</a:t>
            </a:r>
            <a:endParaRPr dirty="0"/>
          </a:p>
        </p:txBody>
      </p:sp>
      <p:cxnSp>
        <p:nvCxnSpPr>
          <p:cNvPr id="739" name="Google Shape;739;p39"/>
          <p:cNvCxnSpPr/>
          <p:nvPr/>
        </p:nvCxnSpPr>
        <p:spPr>
          <a:xfrm>
            <a:off x="4106397" y="2770854"/>
            <a:ext cx="931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40"/>
          <p:cNvSpPr txBox="1">
            <a:spLocks noGrp="1"/>
          </p:cNvSpPr>
          <p:nvPr>
            <p:ph type="title"/>
          </p:nvPr>
        </p:nvSpPr>
        <p:spPr>
          <a:xfrm>
            <a:off x="713225" y="2344050"/>
            <a:ext cx="5067600" cy="92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745" name="Google Shape;745;p40"/>
          <p:cNvSpPr txBox="1">
            <a:spLocks noGrp="1"/>
          </p:cNvSpPr>
          <p:nvPr>
            <p:ph type="title" idx="2"/>
          </p:nvPr>
        </p:nvSpPr>
        <p:spPr>
          <a:xfrm>
            <a:off x="713225" y="1353475"/>
            <a:ext cx="1652100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746" name="Google Shape;746;p40"/>
          <p:cNvSpPr txBox="1">
            <a:spLocks noGrp="1"/>
          </p:cNvSpPr>
          <p:nvPr>
            <p:ph type="subTitle" idx="1"/>
          </p:nvPr>
        </p:nvSpPr>
        <p:spPr>
          <a:xfrm>
            <a:off x="713225" y="3415025"/>
            <a:ext cx="50676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Global CO₂ emissions are a key indicator of economic activity and environmental impact</a:t>
            </a:r>
            <a:endParaRPr dirty="0"/>
          </a:p>
        </p:txBody>
      </p:sp>
      <p:cxnSp>
        <p:nvCxnSpPr>
          <p:cNvPr id="747" name="Google Shape;747;p40"/>
          <p:cNvCxnSpPr/>
          <p:nvPr/>
        </p:nvCxnSpPr>
        <p:spPr>
          <a:xfrm>
            <a:off x="818479" y="3315127"/>
            <a:ext cx="931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Dataset Source</a:t>
            </a:r>
            <a:endParaRPr dirty="0"/>
          </a:p>
        </p:txBody>
      </p:sp>
      <p:sp>
        <p:nvSpPr>
          <p:cNvPr id="754" name="Google Shape;754;p41"/>
          <p:cNvSpPr txBox="1">
            <a:spLocks noGrp="1"/>
          </p:cNvSpPr>
          <p:nvPr>
            <p:ph type="subTitle" idx="2"/>
          </p:nvPr>
        </p:nvSpPr>
        <p:spPr>
          <a:xfrm>
            <a:off x="766163" y="1384595"/>
            <a:ext cx="2978523" cy="33138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dataset used in this project comes </a:t>
            </a:r>
            <a:r>
              <a:rPr lang="en" dirty="0">
                <a:solidFill>
                  <a:schemeClr val="tx1"/>
                </a:solidFill>
              </a:rPr>
              <a:t>from Carbon Monitor </a:t>
            </a:r>
            <a:r>
              <a:rPr lang="en" dirty="0"/>
              <a:t>– an open, continously updated initiative that provides near-real-time daily estimates of CO2 emissions across multiple contries and economic sectors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 downloaded the data from the official portal: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indent="0" algn="just"/>
            <a:r>
              <a:rPr lang="it-IT" i="1" dirty="0">
                <a:solidFill>
                  <a:schemeClr val="tx2"/>
                </a:solidFill>
              </a:rPr>
              <a:t>https://carbonmonitor.org/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5" name="Immagine 4" descr="Immagine che contiene testo, schermata, Carattere, diagramma&#10;&#10;Il contenuto generato dall'IA potrebbe non essere corretto.">
            <a:extLst>
              <a:ext uri="{FF2B5EF4-FFF2-40B4-BE49-F238E27FC236}">
                <a16:creationId xmlns:a16="http://schemas.microsoft.com/office/drawing/2014/main" id="{FE5551D4-6BF5-1E99-747F-869A9D03C09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1888" y="1384595"/>
            <a:ext cx="4597953" cy="241191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5" name="Input penna 34">
                <a:extLst>
                  <a:ext uri="{FF2B5EF4-FFF2-40B4-BE49-F238E27FC236}">
                    <a16:creationId xmlns:a16="http://schemas.microsoft.com/office/drawing/2014/main" id="{43F1838D-0717-17DE-209C-623ED1A2EA04}"/>
                  </a:ext>
                </a:extLst>
              </p14:cNvPr>
              <p14:cNvContentPartPr/>
              <p14:nvPr/>
            </p14:nvContentPartPr>
            <p14:xfrm>
              <a:off x="822771" y="4401977"/>
              <a:ext cx="2351160" cy="4680"/>
            </p14:xfrm>
          </p:contentPart>
        </mc:Choice>
        <mc:Fallback xmlns="">
          <p:pic>
            <p:nvPicPr>
              <p:cNvPr id="35" name="Input penna 34">
                <a:extLst>
                  <a:ext uri="{FF2B5EF4-FFF2-40B4-BE49-F238E27FC236}">
                    <a16:creationId xmlns:a16="http://schemas.microsoft.com/office/drawing/2014/main" id="{43F1838D-0717-17DE-209C-623ED1A2EA0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6771" y="4329977"/>
                <a:ext cx="2422800" cy="148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42"/>
          <p:cNvSpPr txBox="1">
            <a:spLocks noGrp="1"/>
          </p:cNvSpPr>
          <p:nvPr>
            <p:ph type="title"/>
          </p:nvPr>
        </p:nvSpPr>
        <p:spPr>
          <a:xfrm>
            <a:off x="380294" y="366662"/>
            <a:ext cx="4294800" cy="15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Dataset Info</a:t>
            </a:r>
            <a:endParaRPr dirty="0"/>
          </a:p>
        </p:txBody>
      </p:sp>
      <p:sp>
        <p:nvSpPr>
          <p:cNvPr id="760" name="Google Shape;760;p42"/>
          <p:cNvSpPr txBox="1">
            <a:spLocks noGrp="1"/>
          </p:cNvSpPr>
          <p:nvPr>
            <p:ph type="subTitle" idx="1"/>
          </p:nvPr>
        </p:nvSpPr>
        <p:spPr>
          <a:xfrm>
            <a:off x="352298" y="1159617"/>
            <a:ext cx="4018709" cy="35942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The dataset contains 204,540 observations ranging from 1 January 2019 to 31 August 2025 and 4 variables:</a:t>
            </a: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US" b="1" dirty="0"/>
              <a:t>Country</a:t>
            </a:r>
            <a:r>
              <a:rPr lang="en-US" dirty="0"/>
              <a:t>;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b="1" dirty="0"/>
              <a:t>Date</a:t>
            </a:r>
            <a:r>
              <a:rPr lang="en-US" dirty="0"/>
              <a:t>;</a:t>
            </a:r>
            <a:endParaRPr lang="en-US" b="1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b="1" dirty="0"/>
              <a:t>Sector</a:t>
            </a:r>
            <a:r>
              <a:rPr lang="en-US" dirty="0"/>
              <a:t>;</a:t>
            </a:r>
          </a:p>
          <a:p>
            <a:pPr lvl="0">
              <a:buSzPts val="1400"/>
            </a:pPr>
            <a:r>
              <a:rPr lang="en-US" b="1" dirty="0"/>
              <a:t>Value</a:t>
            </a:r>
            <a:r>
              <a:rPr lang="en-US" dirty="0"/>
              <a:t>: daily CO</a:t>
            </a:r>
            <a:r>
              <a:rPr lang="en-US" baseline="-25000" dirty="0"/>
              <a:t>2</a:t>
            </a:r>
            <a:r>
              <a:rPr lang="en-US" dirty="0"/>
              <a:t> emissions in MtCO</a:t>
            </a:r>
            <a:r>
              <a:rPr lang="en-US" baseline="-25000" dirty="0"/>
              <a:t>2</a:t>
            </a:r>
          </a:p>
          <a:p>
            <a:pPr marL="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b="1" dirty="0"/>
              <a:t>There are no missing values</a:t>
            </a:r>
            <a:r>
              <a:rPr lang="en-US" dirty="0"/>
              <a:t>. Therefore, we can aggregate the dataset by country, sector or date to analyze emission trends, sectoral contributions or global dynamics.</a:t>
            </a:r>
          </a:p>
        </p:txBody>
      </p:sp>
      <p:grpSp>
        <p:nvGrpSpPr>
          <p:cNvPr id="761" name="Google Shape;761;p42"/>
          <p:cNvGrpSpPr/>
          <p:nvPr/>
        </p:nvGrpSpPr>
        <p:grpSpPr>
          <a:xfrm>
            <a:off x="5726349" y="445024"/>
            <a:ext cx="2577275" cy="1833510"/>
            <a:chOff x="781874" y="1294774"/>
            <a:chExt cx="2577275" cy="1833510"/>
          </a:xfrm>
        </p:grpSpPr>
        <p:sp>
          <p:nvSpPr>
            <p:cNvPr id="762" name="Google Shape;762;p42"/>
            <p:cNvSpPr/>
            <p:nvPr/>
          </p:nvSpPr>
          <p:spPr>
            <a:xfrm rot="10800000">
              <a:off x="2834149" y="1520462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42"/>
            <p:cNvSpPr/>
            <p:nvPr/>
          </p:nvSpPr>
          <p:spPr>
            <a:xfrm rot="10800000">
              <a:off x="2424511" y="1751429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42"/>
            <p:cNvSpPr/>
            <p:nvPr/>
          </p:nvSpPr>
          <p:spPr>
            <a:xfrm rot="10800000">
              <a:off x="2423203" y="1294774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42"/>
            <p:cNvSpPr/>
            <p:nvPr/>
          </p:nvSpPr>
          <p:spPr>
            <a:xfrm rot="10800000">
              <a:off x="2013374" y="1524505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42"/>
            <p:cNvSpPr/>
            <p:nvPr/>
          </p:nvSpPr>
          <p:spPr>
            <a:xfrm rot="10800000">
              <a:off x="1601864" y="1754411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42"/>
            <p:cNvSpPr/>
            <p:nvPr/>
          </p:nvSpPr>
          <p:spPr>
            <a:xfrm rot="10800000">
              <a:off x="2008925" y="2444203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42"/>
            <p:cNvSpPr/>
            <p:nvPr/>
          </p:nvSpPr>
          <p:spPr>
            <a:xfrm rot="10800000">
              <a:off x="1599288" y="2669819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42"/>
            <p:cNvSpPr/>
            <p:nvPr/>
          </p:nvSpPr>
          <p:spPr>
            <a:xfrm rot="10800000">
              <a:off x="1599288" y="2211855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42"/>
            <p:cNvSpPr/>
            <p:nvPr/>
          </p:nvSpPr>
          <p:spPr>
            <a:xfrm rot="10800000">
              <a:off x="1190767" y="2441586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42"/>
            <p:cNvSpPr/>
            <p:nvPr/>
          </p:nvSpPr>
          <p:spPr>
            <a:xfrm rot="10800000">
              <a:off x="781874" y="2670184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2" name="Google Shape;772;p42"/>
          <p:cNvGrpSpPr/>
          <p:nvPr/>
        </p:nvGrpSpPr>
        <p:grpSpPr>
          <a:xfrm>
            <a:off x="6483389" y="2806055"/>
            <a:ext cx="936510" cy="688006"/>
            <a:chOff x="3235964" y="2587955"/>
            <a:chExt cx="936510" cy="688006"/>
          </a:xfrm>
        </p:grpSpPr>
        <p:sp>
          <p:nvSpPr>
            <p:cNvPr id="773" name="Google Shape;773;p42"/>
            <p:cNvSpPr/>
            <p:nvPr/>
          </p:nvSpPr>
          <p:spPr>
            <a:xfrm rot="10800000">
              <a:off x="3647474" y="2587955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42"/>
            <p:cNvSpPr/>
            <p:nvPr/>
          </p:nvSpPr>
          <p:spPr>
            <a:xfrm rot="10800000">
              <a:off x="3235964" y="2817861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5" name="Google Shape;775;p42"/>
          <p:cNvGrpSpPr/>
          <p:nvPr/>
        </p:nvGrpSpPr>
        <p:grpSpPr>
          <a:xfrm>
            <a:off x="7786678" y="2810729"/>
            <a:ext cx="935946" cy="1829202"/>
            <a:chOff x="4738303" y="2514629"/>
            <a:chExt cx="935946" cy="1829202"/>
          </a:xfrm>
        </p:grpSpPr>
        <p:sp>
          <p:nvSpPr>
            <p:cNvPr id="776" name="Google Shape;776;p42"/>
            <p:cNvSpPr/>
            <p:nvPr/>
          </p:nvSpPr>
          <p:spPr>
            <a:xfrm rot="10800000">
              <a:off x="5149249" y="2740318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42"/>
            <p:cNvSpPr/>
            <p:nvPr/>
          </p:nvSpPr>
          <p:spPr>
            <a:xfrm rot="10800000">
              <a:off x="4739611" y="2971284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42"/>
            <p:cNvSpPr/>
            <p:nvPr/>
          </p:nvSpPr>
          <p:spPr>
            <a:xfrm rot="10800000">
              <a:off x="4738303" y="2514629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42"/>
            <p:cNvSpPr/>
            <p:nvPr/>
          </p:nvSpPr>
          <p:spPr>
            <a:xfrm rot="10800000">
              <a:off x="5149225" y="3660116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42"/>
            <p:cNvSpPr/>
            <p:nvPr/>
          </p:nvSpPr>
          <p:spPr>
            <a:xfrm rot="10800000">
              <a:off x="4739588" y="3885731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42"/>
            <p:cNvSpPr/>
            <p:nvPr/>
          </p:nvSpPr>
          <p:spPr>
            <a:xfrm rot="10800000">
              <a:off x="4739588" y="3427767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2" name="Google Shape;782;p42"/>
          <p:cNvGrpSpPr/>
          <p:nvPr/>
        </p:nvGrpSpPr>
        <p:grpSpPr>
          <a:xfrm>
            <a:off x="5480799" y="3832449"/>
            <a:ext cx="1345775" cy="914755"/>
            <a:chOff x="2264799" y="3654374"/>
            <a:chExt cx="1345775" cy="914755"/>
          </a:xfrm>
        </p:grpSpPr>
        <p:sp>
          <p:nvSpPr>
            <p:cNvPr id="783" name="Google Shape;783;p42"/>
            <p:cNvSpPr/>
            <p:nvPr/>
          </p:nvSpPr>
          <p:spPr>
            <a:xfrm rot="10800000">
              <a:off x="3085574" y="3880062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42"/>
            <p:cNvSpPr/>
            <p:nvPr/>
          </p:nvSpPr>
          <p:spPr>
            <a:xfrm rot="10800000">
              <a:off x="2675936" y="4111029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42"/>
            <p:cNvSpPr/>
            <p:nvPr/>
          </p:nvSpPr>
          <p:spPr>
            <a:xfrm rot="10800000">
              <a:off x="2674628" y="3654374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42"/>
            <p:cNvSpPr/>
            <p:nvPr/>
          </p:nvSpPr>
          <p:spPr>
            <a:xfrm rot="10800000">
              <a:off x="2264799" y="3884105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6" name="Immagine 35">
            <a:extLst>
              <a:ext uri="{FF2B5EF4-FFF2-40B4-BE49-F238E27FC236}">
                <a16:creationId xmlns:a16="http://schemas.microsoft.com/office/drawing/2014/main" id="{2D01F974-1146-9689-535C-5B66317B9D0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3023" y="1505394"/>
            <a:ext cx="4434997" cy="206888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Analysis Objectives By Module</a:t>
            </a:r>
            <a:endParaRPr dirty="0"/>
          </a:p>
        </p:txBody>
      </p:sp>
      <p:sp>
        <p:nvSpPr>
          <p:cNvPr id="792" name="Google Shape;792;p43"/>
          <p:cNvSpPr txBox="1">
            <a:spLocks noGrp="1"/>
          </p:cNvSpPr>
          <p:nvPr>
            <p:ph type="subTitle" idx="1"/>
          </p:nvPr>
        </p:nvSpPr>
        <p:spPr>
          <a:xfrm>
            <a:off x="4820055" y="2787778"/>
            <a:ext cx="3419359" cy="24591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/>
            <a:r>
              <a:rPr lang="en-US" sz="1000" dirty="0"/>
              <a:t>We deployed an advanced Machine Learning model for forecasting future emission trends </a:t>
            </a:r>
            <a:r>
              <a:rPr lang="en-US" sz="1000" b="1" dirty="0"/>
              <a:t>(LSTM Neural Network)</a:t>
            </a:r>
            <a:r>
              <a:rPr lang="en-US" sz="1000" dirty="0"/>
              <a:t>.</a:t>
            </a:r>
          </a:p>
          <a:p>
            <a:pPr marL="0" lvl="0" indent="0" algn="just"/>
            <a:endParaRPr lang="en-US" sz="1000" dirty="0"/>
          </a:p>
          <a:p>
            <a:pPr marL="0" lvl="0" indent="0" algn="just"/>
            <a:r>
              <a:rPr lang="en-US" sz="1000" dirty="0"/>
              <a:t>Therefore, we quantified the model's reliability  through a performance evaluation using standard metrics, such as Mean Absolute Error (</a:t>
            </a:r>
            <a:r>
              <a:rPr lang="en-US" sz="1000" b="1" dirty="0"/>
              <a:t>MAE</a:t>
            </a:r>
            <a:r>
              <a:rPr lang="en-US" sz="1000" dirty="0"/>
              <a:t>) or Root Mean Square Error (</a:t>
            </a:r>
            <a:r>
              <a:rPr lang="en-US" sz="1000" b="1" dirty="0"/>
              <a:t>RMSE</a:t>
            </a:r>
            <a:r>
              <a:rPr lang="en-US" sz="1000" dirty="0"/>
              <a:t>).</a:t>
            </a:r>
            <a:endParaRPr sz="800" dirty="0"/>
          </a:p>
        </p:txBody>
      </p:sp>
      <p:sp>
        <p:nvSpPr>
          <p:cNvPr id="793" name="Google Shape;793;p43"/>
          <p:cNvSpPr txBox="1">
            <a:spLocks noGrp="1"/>
          </p:cNvSpPr>
          <p:nvPr>
            <p:ph type="subTitle" idx="2"/>
          </p:nvPr>
        </p:nvSpPr>
        <p:spPr>
          <a:xfrm>
            <a:off x="907100" y="2787778"/>
            <a:ext cx="3561505" cy="16716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algn="just"/>
            <a:r>
              <a:rPr lang="en-US" sz="1000" dirty="0"/>
              <a:t>We aimed to Identify hidden patterns and anomalies in daily emission. Techniques included:</a:t>
            </a:r>
          </a:p>
          <a:p>
            <a:pPr algn="l">
              <a:spcBef>
                <a:spcPts val="1000"/>
              </a:spcBef>
              <a:spcAft>
                <a:spcPts val="600"/>
              </a:spcAft>
              <a:buClr>
                <a:srgbClr val="00DFDF"/>
              </a:buClr>
              <a:buFont typeface="Poppins"/>
              <a:buChar char="●"/>
            </a:pPr>
            <a:r>
              <a:rPr lang="en-US" sz="1000" b="1" dirty="0"/>
              <a:t>SAX (Symbolic Aggregate Approximation)</a:t>
            </a:r>
            <a:endParaRPr lang="en-US" sz="1000" dirty="0"/>
          </a:p>
          <a:p>
            <a:pPr algn="l">
              <a:spcAft>
                <a:spcPts val="600"/>
              </a:spcAft>
              <a:buClr>
                <a:srgbClr val="00DFDF"/>
              </a:buClr>
              <a:buFont typeface="Poppins"/>
              <a:buChar char="●"/>
            </a:pPr>
            <a:r>
              <a:rPr lang="en-US" sz="1000" b="1" dirty="0"/>
              <a:t>Clustering of countries</a:t>
            </a:r>
          </a:p>
          <a:p>
            <a:pPr algn="l">
              <a:buClr>
                <a:srgbClr val="00DFDF"/>
              </a:buClr>
              <a:buFont typeface="Poppins"/>
              <a:buChar char="●"/>
            </a:pPr>
            <a:r>
              <a:rPr lang="en-US" sz="1000" b="1" dirty="0"/>
              <a:t>CUSUM Test for Structural Break Detection</a:t>
            </a:r>
            <a:endParaRPr lang="en-US" sz="1000" dirty="0"/>
          </a:p>
        </p:txBody>
      </p:sp>
      <p:sp>
        <p:nvSpPr>
          <p:cNvPr id="794" name="Google Shape;794;p43"/>
          <p:cNvSpPr txBox="1">
            <a:spLocks noGrp="1"/>
          </p:cNvSpPr>
          <p:nvPr>
            <p:ph type="subTitle" idx="3"/>
          </p:nvPr>
        </p:nvSpPr>
        <p:spPr>
          <a:xfrm>
            <a:off x="1102514" y="2228879"/>
            <a:ext cx="30201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Mining</a:t>
            </a:r>
            <a:endParaRPr dirty="0"/>
          </a:p>
        </p:txBody>
      </p:sp>
      <p:sp>
        <p:nvSpPr>
          <p:cNvPr id="795" name="Google Shape;795;p43"/>
          <p:cNvSpPr txBox="1">
            <a:spLocks noGrp="1"/>
          </p:cNvSpPr>
          <p:nvPr>
            <p:ph type="subTitle" idx="4"/>
          </p:nvPr>
        </p:nvSpPr>
        <p:spPr>
          <a:xfrm>
            <a:off x="5021387" y="2228879"/>
            <a:ext cx="30201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Machine Learning</a:t>
            </a:r>
            <a:endParaRPr dirty="0"/>
          </a:p>
        </p:txBody>
      </p:sp>
      <p:grpSp>
        <p:nvGrpSpPr>
          <p:cNvPr id="2" name="Google Shape;11363;p90">
            <a:extLst>
              <a:ext uri="{FF2B5EF4-FFF2-40B4-BE49-F238E27FC236}">
                <a16:creationId xmlns:a16="http://schemas.microsoft.com/office/drawing/2014/main" id="{B89BDCB5-3516-7594-9596-54F6D258EA19}"/>
              </a:ext>
            </a:extLst>
          </p:cNvPr>
          <p:cNvGrpSpPr/>
          <p:nvPr/>
        </p:nvGrpSpPr>
        <p:grpSpPr>
          <a:xfrm>
            <a:off x="6319897" y="1542018"/>
            <a:ext cx="420796" cy="421914"/>
            <a:chOff x="-1333200" y="2770450"/>
            <a:chExt cx="291450" cy="292225"/>
          </a:xfrm>
          <a:solidFill>
            <a:srgbClr val="00DFDF"/>
          </a:solidFill>
        </p:grpSpPr>
        <p:sp>
          <p:nvSpPr>
            <p:cNvPr id="3" name="Google Shape;11364;p90">
              <a:extLst>
                <a:ext uri="{FF2B5EF4-FFF2-40B4-BE49-F238E27FC236}">
                  <a16:creationId xmlns:a16="http://schemas.microsoft.com/office/drawing/2014/main" id="{212D59DC-320E-2051-0826-9DDBEEB89906}"/>
                </a:ext>
              </a:extLst>
            </p:cNvPr>
            <p:cNvSpPr/>
            <p:nvPr/>
          </p:nvSpPr>
          <p:spPr>
            <a:xfrm>
              <a:off x="-1299325" y="2808250"/>
              <a:ext cx="222925" cy="134725"/>
            </a:xfrm>
            <a:custGeom>
              <a:avLst/>
              <a:gdLst/>
              <a:ahLst/>
              <a:cxnLst/>
              <a:rect l="l" t="t" r="r" b="b"/>
              <a:pathLst>
                <a:path w="8917" h="5389" extrusionOk="0">
                  <a:moveTo>
                    <a:pt x="7877" y="631"/>
                  </a:moveTo>
                  <a:cubicBezTo>
                    <a:pt x="8066" y="631"/>
                    <a:pt x="8223" y="789"/>
                    <a:pt x="8223" y="978"/>
                  </a:cubicBezTo>
                  <a:cubicBezTo>
                    <a:pt x="8223" y="1167"/>
                    <a:pt x="8066" y="1324"/>
                    <a:pt x="7877" y="1324"/>
                  </a:cubicBezTo>
                  <a:cubicBezTo>
                    <a:pt x="7656" y="1324"/>
                    <a:pt x="7498" y="1167"/>
                    <a:pt x="7498" y="978"/>
                  </a:cubicBezTo>
                  <a:cubicBezTo>
                    <a:pt x="7498" y="789"/>
                    <a:pt x="7656" y="631"/>
                    <a:pt x="7877" y="631"/>
                  </a:cubicBezTo>
                  <a:close/>
                  <a:moveTo>
                    <a:pt x="3056" y="1293"/>
                  </a:moveTo>
                  <a:cubicBezTo>
                    <a:pt x="3245" y="1293"/>
                    <a:pt x="3403" y="1450"/>
                    <a:pt x="3403" y="1639"/>
                  </a:cubicBezTo>
                  <a:cubicBezTo>
                    <a:pt x="3403" y="1828"/>
                    <a:pt x="3245" y="1986"/>
                    <a:pt x="3056" y="1986"/>
                  </a:cubicBezTo>
                  <a:cubicBezTo>
                    <a:pt x="2867" y="1986"/>
                    <a:pt x="2710" y="1828"/>
                    <a:pt x="2710" y="1639"/>
                  </a:cubicBezTo>
                  <a:cubicBezTo>
                    <a:pt x="2741" y="1450"/>
                    <a:pt x="2899" y="1293"/>
                    <a:pt x="3056" y="1293"/>
                  </a:cubicBezTo>
                  <a:close/>
                  <a:moveTo>
                    <a:pt x="5797" y="3340"/>
                  </a:moveTo>
                  <a:cubicBezTo>
                    <a:pt x="6018" y="3340"/>
                    <a:pt x="6175" y="3498"/>
                    <a:pt x="6175" y="3687"/>
                  </a:cubicBezTo>
                  <a:cubicBezTo>
                    <a:pt x="6175" y="3876"/>
                    <a:pt x="6018" y="4034"/>
                    <a:pt x="5797" y="4034"/>
                  </a:cubicBezTo>
                  <a:cubicBezTo>
                    <a:pt x="5608" y="4034"/>
                    <a:pt x="5451" y="3876"/>
                    <a:pt x="5451" y="3687"/>
                  </a:cubicBezTo>
                  <a:cubicBezTo>
                    <a:pt x="5451" y="3498"/>
                    <a:pt x="5608" y="3340"/>
                    <a:pt x="5797" y="3340"/>
                  </a:cubicBezTo>
                  <a:close/>
                  <a:moveTo>
                    <a:pt x="1008" y="4034"/>
                  </a:moveTo>
                  <a:cubicBezTo>
                    <a:pt x="1198" y="4034"/>
                    <a:pt x="1355" y="4191"/>
                    <a:pt x="1355" y="4412"/>
                  </a:cubicBezTo>
                  <a:cubicBezTo>
                    <a:pt x="1355" y="4601"/>
                    <a:pt x="1198" y="4758"/>
                    <a:pt x="1008" y="4758"/>
                  </a:cubicBezTo>
                  <a:cubicBezTo>
                    <a:pt x="819" y="4758"/>
                    <a:pt x="662" y="4601"/>
                    <a:pt x="662" y="4412"/>
                  </a:cubicBezTo>
                  <a:cubicBezTo>
                    <a:pt x="662" y="4191"/>
                    <a:pt x="819" y="4034"/>
                    <a:pt x="1008" y="4034"/>
                  </a:cubicBezTo>
                  <a:close/>
                  <a:moveTo>
                    <a:pt x="7908" y="1"/>
                  </a:moveTo>
                  <a:cubicBezTo>
                    <a:pt x="7341" y="1"/>
                    <a:pt x="6868" y="474"/>
                    <a:pt x="6868" y="1009"/>
                  </a:cubicBezTo>
                  <a:cubicBezTo>
                    <a:pt x="6868" y="1198"/>
                    <a:pt x="6963" y="1419"/>
                    <a:pt x="7026" y="1576"/>
                  </a:cubicBezTo>
                  <a:lnTo>
                    <a:pt x="6112" y="2742"/>
                  </a:lnTo>
                  <a:cubicBezTo>
                    <a:pt x="6032" y="2722"/>
                    <a:pt x="5943" y="2711"/>
                    <a:pt x="5850" y="2711"/>
                  </a:cubicBezTo>
                  <a:cubicBezTo>
                    <a:pt x="5650" y="2711"/>
                    <a:pt x="5434" y="2760"/>
                    <a:pt x="5262" y="2868"/>
                  </a:cubicBezTo>
                  <a:lnTo>
                    <a:pt x="4096" y="1954"/>
                  </a:lnTo>
                  <a:cubicBezTo>
                    <a:pt x="4127" y="1891"/>
                    <a:pt x="4127" y="1765"/>
                    <a:pt x="4127" y="1639"/>
                  </a:cubicBezTo>
                  <a:cubicBezTo>
                    <a:pt x="4127" y="1104"/>
                    <a:pt x="3655" y="631"/>
                    <a:pt x="3088" y="631"/>
                  </a:cubicBezTo>
                  <a:cubicBezTo>
                    <a:pt x="2552" y="631"/>
                    <a:pt x="2080" y="1104"/>
                    <a:pt x="2080" y="1639"/>
                  </a:cubicBezTo>
                  <a:cubicBezTo>
                    <a:pt x="2080" y="1828"/>
                    <a:pt x="2143" y="2049"/>
                    <a:pt x="2237" y="2206"/>
                  </a:cubicBezTo>
                  <a:lnTo>
                    <a:pt x="1324" y="3372"/>
                  </a:lnTo>
                  <a:cubicBezTo>
                    <a:pt x="1261" y="3340"/>
                    <a:pt x="1134" y="3340"/>
                    <a:pt x="1008" y="3340"/>
                  </a:cubicBezTo>
                  <a:cubicBezTo>
                    <a:pt x="441" y="3340"/>
                    <a:pt x="0" y="3813"/>
                    <a:pt x="0" y="4349"/>
                  </a:cubicBezTo>
                  <a:cubicBezTo>
                    <a:pt x="0" y="4947"/>
                    <a:pt x="441" y="5388"/>
                    <a:pt x="1008" y="5388"/>
                  </a:cubicBezTo>
                  <a:cubicBezTo>
                    <a:pt x="1576" y="5388"/>
                    <a:pt x="2017" y="4916"/>
                    <a:pt x="2017" y="4349"/>
                  </a:cubicBezTo>
                  <a:cubicBezTo>
                    <a:pt x="2017" y="4160"/>
                    <a:pt x="1954" y="3971"/>
                    <a:pt x="1859" y="3813"/>
                  </a:cubicBezTo>
                  <a:lnTo>
                    <a:pt x="2773" y="2616"/>
                  </a:lnTo>
                  <a:cubicBezTo>
                    <a:pt x="2875" y="2650"/>
                    <a:pt x="2980" y="2667"/>
                    <a:pt x="3087" y="2667"/>
                  </a:cubicBezTo>
                  <a:cubicBezTo>
                    <a:pt x="3278" y="2667"/>
                    <a:pt x="3473" y="2611"/>
                    <a:pt x="3655" y="2490"/>
                  </a:cubicBezTo>
                  <a:lnTo>
                    <a:pt x="4821" y="3403"/>
                  </a:lnTo>
                  <a:cubicBezTo>
                    <a:pt x="4789" y="3498"/>
                    <a:pt x="4789" y="3624"/>
                    <a:pt x="4789" y="3719"/>
                  </a:cubicBezTo>
                  <a:cubicBezTo>
                    <a:pt x="4789" y="4286"/>
                    <a:pt x="5262" y="4758"/>
                    <a:pt x="5797" y="4758"/>
                  </a:cubicBezTo>
                  <a:cubicBezTo>
                    <a:pt x="6364" y="4758"/>
                    <a:pt x="6837" y="4286"/>
                    <a:pt x="6837" y="3719"/>
                  </a:cubicBezTo>
                  <a:cubicBezTo>
                    <a:pt x="6837" y="3529"/>
                    <a:pt x="6742" y="3340"/>
                    <a:pt x="6679" y="3183"/>
                  </a:cubicBezTo>
                  <a:lnTo>
                    <a:pt x="7593" y="1986"/>
                  </a:lnTo>
                  <a:cubicBezTo>
                    <a:pt x="7656" y="2049"/>
                    <a:pt x="7782" y="2049"/>
                    <a:pt x="7908" y="2049"/>
                  </a:cubicBezTo>
                  <a:cubicBezTo>
                    <a:pt x="8444" y="2049"/>
                    <a:pt x="8916" y="1576"/>
                    <a:pt x="8916" y="1009"/>
                  </a:cubicBezTo>
                  <a:cubicBezTo>
                    <a:pt x="8916" y="474"/>
                    <a:pt x="8444" y="1"/>
                    <a:pt x="79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1365;p90">
              <a:extLst>
                <a:ext uri="{FF2B5EF4-FFF2-40B4-BE49-F238E27FC236}">
                  <a16:creationId xmlns:a16="http://schemas.microsoft.com/office/drawing/2014/main" id="{927145CD-A824-8581-C320-2902CECCEFDB}"/>
                </a:ext>
              </a:extLst>
            </p:cNvPr>
            <p:cNvSpPr/>
            <p:nvPr/>
          </p:nvSpPr>
          <p:spPr>
            <a:xfrm>
              <a:off x="-1333200" y="2770450"/>
              <a:ext cx="291450" cy="292225"/>
            </a:xfrm>
            <a:custGeom>
              <a:avLst/>
              <a:gdLst/>
              <a:ahLst/>
              <a:cxnLst/>
              <a:rect l="l" t="t" r="r" b="b"/>
              <a:pathLst>
                <a:path w="11658" h="11689" extrusionOk="0">
                  <a:moveTo>
                    <a:pt x="10586" y="725"/>
                  </a:moveTo>
                  <a:cubicBezTo>
                    <a:pt x="10807" y="725"/>
                    <a:pt x="10964" y="883"/>
                    <a:pt x="10964" y="1072"/>
                  </a:cubicBezTo>
                  <a:lnTo>
                    <a:pt x="10964" y="7593"/>
                  </a:lnTo>
                  <a:lnTo>
                    <a:pt x="631" y="7593"/>
                  </a:lnTo>
                  <a:lnTo>
                    <a:pt x="631" y="1072"/>
                  </a:lnTo>
                  <a:cubicBezTo>
                    <a:pt x="662" y="883"/>
                    <a:pt x="820" y="725"/>
                    <a:pt x="977" y="725"/>
                  </a:cubicBezTo>
                  <a:close/>
                  <a:moveTo>
                    <a:pt x="10996" y="8286"/>
                  </a:moveTo>
                  <a:lnTo>
                    <a:pt x="10996" y="8633"/>
                  </a:lnTo>
                  <a:cubicBezTo>
                    <a:pt x="10996" y="8822"/>
                    <a:pt x="10838" y="8980"/>
                    <a:pt x="10618" y="8980"/>
                  </a:cubicBezTo>
                  <a:lnTo>
                    <a:pt x="1009" y="8980"/>
                  </a:lnTo>
                  <a:cubicBezTo>
                    <a:pt x="820" y="8980"/>
                    <a:pt x="662" y="8822"/>
                    <a:pt x="662" y="8633"/>
                  </a:cubicBezTo>
                  <a:lnTo>
                    <a:pt x="662" y="8286"/>
                  </a:lnTo>
                  <a:close/>
                  <a:moveTo>
                    <a:pt x="6617" y="9641"/>
                  </a:moveTo>
                  <a:lnTo>
                    <a:pt x="6932" y="11027"/>
                  </a:lnTo>
                  <a:lnTo>
                    <a:pt x="4632" y="11027"/>
                  </a:lnTo>
                  <a:lnTo>
                    <a:pt x="4947" y="9641"/>
                  </a:lnTo>
                  <a:close/>
                  <a:moveTo>
                    <a:pt x="1009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8570"/>
                  </a:lnTo>
                  <a:cubicBezTo>
                    <a:pt x="1" y="9137"/>
                    <a:pt x="473" y="9610"/>
                    <a:pt x="1009" y="9610"/>
                  </a:cubicBezTo>
                  <a:lnTo>
                    <a:pt x="4285" y="9610"/>
                  </a:lnTo>
                  <a:lnTo>
                    <a:pt x="3970" y="10996"/>
                  </a:lnTo>
                  <a:lnTo>
                    <a:pt x="3057" y="10996"/>
                  </a:lnTo>
                  <a:cubicBezTo>
                    <a:pt x="2868" y="10996"/>
                    <a:pt x="2710" y="11153"/>
                    <a:pt x="2710" y="11342"/>
                  </a:cubicBezTo>
                  <a:cubicBezTo>
                    <a:pt x="2710" y="11531"/>
                    <a:pt x="2868" y="11689"/>
                    <a:pt x="3057" y="11689"/>
                  </a:cubicBezTo>
                  <a:lnTo>
                    <a:pt x="8538" y="11689"/>
                  </a:lnTo>
                  <a:cubicBezTo>
                    <a:pt x="8727" y="11689"/>
                    <a:pt x="8885" y="11531"/>
                    <a:pt x="8885" y="11342"/>
                  </a:cubicBezTo>
                  <a:cubicBezTo>
                    <a:pt x="8885" y="11153"/>
                    <a:pt x="8727" y="10996"/>
                    <a:pt x="8538" y="10996"/>
                  </a:cubicBezTo>
                  <a:lnTo>
                    <a:pt x="7625" y="10996"/>
                  </a:lnTo>
                  <a:lnTo>
                    <a:pt x="7310" y="9610"/>
                  </a:lnTo>
                  <a:lnTo>
                    <a:pt x="10618" y="9610"/>
                  </a:lnTo>
                  <a:cubicBezTo>
                    <a:pt x="11185" y="9610"/>
                    <a:pt x="11657" y="9137"/>
                    <a:pt x="11657" y="8570"/>
                  </a:cubicBezTo>
                  <a:lnTo>
                    <a:pt x="11657" y="1040"/>
                  </a:lnTo>
                  <a:cubicBezTo>
                    <a:pt x="11657" y="473"/>
                    <a:pt x="11185" y="1"/>
                    <a:pt x="106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" name="Google Shape;11374;p90">
            <a:extLst>
              <a:ext uri="{FF2B5EF4-FFF2-40B4-BE49-F238E27FC236}">
                <a16:creationId xmlns:a16="http://schemas.microsoft.com/office/drawing/2014/main" id="{08962DA4-20D6-3CD1-ACD5-5351BCF8FF1A}"/>
              </a:ext>
            </a:extLst>
          </p:cNvPr>
          <p:cNvGrpSpPr/>
          <p:nvPr/>
        </p:nvGrpSpPr>
        <p:grpSpPr>
          <a:xfrm>
            <a:off x="2401072" y="1542018"/>
            <a:ext cx="423033" cy="421914"/>
            <a:chOff x="-5635975" y="2757075"/>
            <a:chExt cx="293000" cy="292225"/>
          </a:xfrm>
          <a:solidFill>
            <a:srgbClr val="00DFDF"/>
          </a:solidFill>
        </p:grpSpPr>
        <p:sp>
          <p:nvSpPr>
            <p:cNvPr id="6" name="Google Shape;11375;p90">
              <a:extLst>
                <a:ext uri="{FF2B5EF4-FFF2-40B4-BE49-F238E27FC236}">
                  <a16:creationId xmlns:a16="http://schemas.microsoft.com/office/drawing/2014/main" id="{FD5A3FFF-5FE3-839B-A750-A07CFD27B079}"/>
                </a:ext>
              </a:extLst>
            </p:cNvPr>
            <p:cNvSpPr/>
            <p:nvPr/>
          </p:nvSpPr>
          <p:spPr>
            <a:xfrm>
              <a:off x="-5635975" y="2757075"/>
              <a:ext cx="293000" cy="292225"/>
            </a:xfrm>
            <a:custGeom>
              <a:avLst/>
              <a:gdLst/>
              <a:ahLst/>
              <a:cxnLst/>
              <a:rect l="l" t="t" r="r" b="b"/>
              <a:pathLst>
                <a:path w="11720" h="11689" extrusionOk="0">
                  <a:moveTo>
                    <a:pt x="10649" y="693"/>
                  </a:moveTo>
                  <a:cubicBezTo>
                    <a:pt x="10838" y="693"/>
                    <a:pt x="10995" y="851"/>
                    <a:pt x="10995" y="1040"/>
                  </a:cubicBezTo>
                  <a:lnTo>
                    <a:pt x="10995" y="7593"/>
                  </a:lnTo>
                  <a:lnTo>
                    <a:pt x="693" y="7593"/>
                  </a:lnTo>
                  <a:lnTo>
                    <a:pt x="693" y="1040"/>
                  </a:lnTo>
                  <a:cubicBezTo>
                    <a:pt x="725" y="851"/>
                    <a:pt x="882" y="693"/>
                    <a:pt x="1040" y="693"/>
                  </a:cubicBezTo>
                  <a:close/>
                  <a:moveTo>
                    <a:pt x="10995" y="8223"/>
                  </a:moveTo>
                  <a:lnTo>
                    <a:pt x="10995" y="8569"/>
                  </a:lnTo>
                  <a:cubicBezTo>
                    <a:pt x="11027" y="8821"/>
                    <a:pt x="10869" y="8916"/>
                    <a:pt x="10680" y="8916"/>
                  </a:cubicBezTo>
                  <a:lnTo>
                    <a:pt x="1040" y="8916"/>
                  </a:lnTo>
                  <a:cubicBezTo>
                    <a:pt x="851" y="8916"/>
                    <a:pt x="693" y="8758"/>
                    <a:pt x="693" y="8569"/>
                  </a:cubicBezTo>
                  <a:lnTo>
                    <a:pt x="693" y="8223"/>
                  </a:lnTo>
                  <a:close/>
                  <a:moveTo>
                    <a:pt x="6679" y="9641"/>
                  </a:moveTo>
                  <a:lnTo>
                    <a:pt x="6994" y="11027"/>
                  </a:lnTo>
                  <a:lnTo>
                    <a:pt x="4694" y="11027"/>
                  </a:lnTo>
                  <a:lnTo>
                    <a:pt x="5009" y="9641"/>
                  </a:lnTo>
                  <a:close/>
                  <a:moveTo>
                    <a:pt x="1040" y="0"/>
                  </a:moveTo>
                  <a:cubicBezTo>
                    <a:pt x="473" y="0"/>
                    <a:pt x="0" y="473"/>
                    <a:pt x="0" y="1008"/>
                  </a:cubicBezTo>
                  <a:lnTo>
                    <a:pt x="0" y="8569"/>
                  </a:lnTo>
                  <a:cubicBezTo>
                    <a:pt x="0" y="9137"/>
                    <a:pt x="473" y="9609"/>
                    <a:pt x="1040" y="9609"/>
                  </a:cubicBezTo>
                  <a:lnTo>
                    <a:pt x="4316" y="9609"/>
                  </a:lnTo>
                  <a:lnTo>
                    <a:pt x="4001" y="10964"/>
                  </a:lnTo>
                  <a:lnTo>
                    <a:pt x="3087" y="10964"/>
                  </a:lnTo>
                  <a:cubicBezTo>
                    <a:pt x="2898" y="10964"/>
                    <a:pt x="2741" y="11121"/>
                    <a:pt x="2741" y="11342"/>
                  </a:cubicBezTo>
                  <a:cubicBezTo>
                    <a:pt x="2741" y="11531"/>
                    <a:pt x="2898" y="11688"/>
                    <a:pt x="3087" y="11688"/>
                  </a:cubicBezTo>
                  <a:lnTo>
                    <a:pt x="8569" y="11688"/>
                  </a:lnTo>
                  <a:cubicBezTo>
                    <a:pt x="8758" y="11688"/>
                    <a:pt x="8916" y="11531"/>
                    <a:pt x="8916" y="11342"/>
                  </a:cubicBezTo>
                  <a:cubicBezTo>
                    <a:pt x="8916" y="11121"/>
                    <a:pt x="8758" y="10964"/>
                    <a:pt x="8569" y="10964"/>
                  </a:cubicBezTo>
                  <a:lnTo>
                    <a:pt x="7656" y="10964"/>
                  </a:lnTo>
                  <a:lnTo>
                    <a:pt x="7341" y="9609"/>
                  </a:lnTo>
                  <a:lnTo>
                    <a:pt x="10649" y="9609"/>
                  </a:lnTo>
                  <a:cubicBezTo>
                    <a:pt x="11216" y="9609"/>
                    <a:pt x="11688" y="9137"/>
                    <a:pt x="11688" y="8569"/>
                  </a:cubicBezTo>
                  <a:lnTo>
                    <a:pt x="11688" y="1008"/>
                  </a:lnTo>
                  <a:cubicBezTo>
                    <a:pt x="11720" y="473"/>
                    <a:pt x="11247" y="0"/>
                    <a:pt x="106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1376;p90">
              <a:extLst>
                <a:ext uri="{FF2B5EF4-FFF2-40B4-BE49-F238E27FC236}">
                  <a16:creationId xmlns:a16="http://schemas.microsoft.com/office/drawing/2014/main" id="{A55DFD4D-7BDF-B170-B229-364302BC742C}"/>
                </a:ext>
              </a:extLst>
            </p:cNvPr>
            <p:cNvSpPr/>
            <p:nvPr/>
          </p:nvSpPr>
          <p:spPr>
            <a:xfrm>
              <a:off x="-5584800" y="2790150"/>
              <a:ext cx="189850" cy="138050"/>
            </a:xfrm>
            <a:custGeom>
              <a:avLst/>
              <a:gdLst/>
              <a:ahLst/>
              <a:cxnLst/>
              <a:rect l="l" t="t" r="r" b="b"/>
              <a:pathLst>
                <a:path w="7594" h="5522" extrusionOk="0">
                  <a:moveTo>
                    <a:pt x="2994" y="725"/>
                  </a:moveTo>
                  <a:lnTo>
                    <a:pt x="2332" y="1387"/>
                  </a:lnTo>
                  <a:lnTo>
                    <a:pt x="1230" y="1387"/>
                  </a:lnTo>
                  <a:lnTo>
                    <a:pt x="1891" y="725"/>
                  </a:lnTo>
                  <a:close/>
                  <a:moveTo>
                    <a:pt x="3781" y="882"/>
                  </a:moveTo>
                  <a:lnTo>
                    <a:pt x="4349" y="1418"/>
                  </a:lnTo>
                  <a:lnTo>
                    <a:pt x="3246" y="1418"/>
                  </a:lnTo>
                  <a:lnTo>
                    <a:pt x="3781" y="882"/>
                  </a:lnTo>
                  <a:close/>
                  <a:moveTo>
                    <a:pt x="5735" y="756"/>
                  </a:moveTo>
                  <a:lnTo>
                    <a:pt x="6396" y="1418"/>
                  </a:lnTo>
                  <a:lnTo>
                    <a:pt x="5294" y="1418"/>
                  </a:lnTo>
                  <a:lnTo>
                    <a:pt x="4632" y="756"/>
                  </a:lnTo>
                  <a:close/>
                  <a:moveTo>
                    <a:pt x="2175" y="2080"/>
                  </a:moveTo>
                  <a:lnTo>
                    <a:pt x="2868" y="3749"/>
                  </a:lnTo>
                  <a:lnTo>
                    <a:pt x="1198" y="2080"/>
                  </a:lnTo>
                  <a:close/>
                  <a:moveTo>
                    <a:pt x="6396" y="2080"/>
                  </a:moveTo>
                  <a:lnTo>
                    <a:pt x="4727" y="3749"/>
                  </a:lnTo>
                  <a:lnTo>
                    <a:pt x="5420" y="2080"/>
                  </a:lnTo>
                  <a:close/>
                  <a:moveTo>
                    <a:pt x="4664" y="2080"/>
                  </a:moveTo>
                  <a:lnTo>
                    <a:pt x="3781" y="4253"/>
                  </a:lnTo>
                  <a:lnTo>
                    <a:pt x="2931" y="2080"/>
                  </a:lnTo>
                  <a:close/>
                  <a:moveTo>
                    <a:pt x="1734" y="0"/>
                  </a:moveTo>
                  <a:cubicBezTo>
                    <a:pt x="1671" y="0"/>
                    <a:pt x="1545" y="32"/>
                    <a:pt x="1513" y="126"/>
                  </a:cubicBezTo>
                  <a:lnTo>
                    <a:pt x="127" y="1513"/>
                  </a:lnTo>
                  <a:cubicBezTo>
                    <a:pt x="1" y="1670"/>
                    <a:pt x="1" y="1859"/>
                    <a:pt x="127" y="2017"/>
                  </a:cubicBezTo>
                  <a:lnTo>
                    <a:pt x="3561" y="5451"/>
                  </a:lnTo>
                  <a:cubicBezTo>
                    <a:pt x="3624" y="5498"/>
                    <a:pt x="3711" y="5522"/>
                    <a:pt x="3797" y="5522"/>
                  </a:cubicBezTo>
                  <a:cubicBezTo>
                    <a:pt x="3884" y="5522"/>
                    <a:pt x="3970" y="5498"/>
                    <a:pt x="4033" y="5451"/>
                  </a:cubicBezTo>
                  <a:lnTo>
                    <a:pt x="7468" y="2017"/>
                  </a:lnTo>
                  <a:cubicBezTo>
                    <a:pt x="7594" y="1891"/>
                    <a:pt x="7594" y="1702"/>
                    <a:pt x="7499" y="1544"/>
                  </a:cubicBezTo>
                  <a:lnTo>
                    <a:pt x="7468" y="1513"/>
                  </a:lnTo>
                  <a:lnTo>
                    <a:pt x="6081" y="126"/>
                  </a:lnTo>
                  <a:cubicBezTo>
                    <a:pt x="6018" y="32"/>
                    <a:pt x="5924" y="0"/>
                    <a:pt x="58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>
          <a:extLst>
            <a:ext uri="{FF2B5EF4-FFF2-40B4-BE49-F238E27FC236}">
              <a16:creationId xmlns:a16="http://schemas.microsoft.com/office/drawing/2014/main" id="{2FCABC3E-3269-E8DE-B4E4-0AC6D1F05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40">
            <a:extLst>
              <a:ext uri="{FF2B5EF4-FFF2-40B4-BE49-F238E27FC236}">
                <a16:creationId xmlns:a16="http://schemas.microsoft.com/office/drawing/2014/main" id="{C6E857C0-5BE3-6F92-3614-149D78B7D1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2344050"/>
            <a:ext cx="5067600" cy="92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Exploring Data</a:t>
            </a:r>
            <a:endParaRPr dirty="0"/>
          </a:p>
        </p:txBody>
      </p:sp>
      <p:sp>
        <p:nvSpPr>
          <p:cNvPr id="745" name="Google Shape;745;p40">
            <a:extLst>
              <a:ext uri="{FF2B5EF4-FFF2-40B4-BE49-F238E27FC236}">
                <a16:creationId xmlns:a16="http://schemas.microsoft.com/office/drawing/2014/main" id="{CA36D3F9-88AB-F5D1-F769-9F2B9AF2D4D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3225" y="1353475"/>
            <a:ext cx="1652100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746" name="Google Shape;746;p40">
            <a:extLst>
              <a:ext uri="{FF2B5EF4-FFF2-40B4-BE49-F238E27FC236}">
                <a16:creationId xmlns:a16="http://schemas.microsoft.com/office/drawing/2014/main" id="{14994F31-5436-B62D-7360-AEB166820C9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25" y="3415025"/>
            <a:ext cx="50676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Visualizing data is the key to transform raw numbers into clear, actionable insights</a:t>
            </a:r>
            <a:endParaRPr dirty="0"/>
          </a:p>
        </p:txBody>
      </p:sp>
      <p:cxnSp>
        <p:nvCxnSpPr>
          <p:cNvPr id="747" name="Google Shape;747;p40">
            <a:extLst>
              <a:ext uri="{FF2B5EF4-FFF2-40B4-BE49-F238E27FC236}">
                <a16:creationId xmlns:a16="http://schemas.microsoft.com/office/drawing/2014/main" id="{F9715044-9378-0313-7DFC-7530DEFA4C01}"/>
              </a:ext>
            </a:extLst>
          </p:cNvPr>
          <p:cNvCxnSpPr/>
          <p:nvPr/>
        </p:nvCxnSpPr>
        <p:spPr>
          <a:xfrm>
            <a:off x="818479" y="3315127"/>
            <a:ext cx="931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745121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>
          <a:extLst>
            <a:ext uri="{FF2B5EF4-FFF2-40B4-BE49-F238E27FC236}">
              <a16:creationId xmlns:a16="http://schemas.microsoft.com/office/drawing/2014/main" id="{3BDAA201-B7A9-16B4-7F0C-23333D647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42">
            <a:extLst>
              <a:ext uri="{FF2B5EF4-FFF2-40B4-BE49-F238E27FC236}">
                <a16:creationId xmlns:a16="http://schemas.microsoft.com/office/drawing/2014/main" id="{3FCFDE64-E6DC-C6EA-32E0-059F45833B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5694" y="295769"/>
            <a:ext cx="4294800" cy="15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t-IT" dirty="0"/>
              <a:t>Data Descriptive Summary</a:t>
            </a:r>
            <a:endParaRPr dirty="0"/>
          </a:p>
        </p:txBody>
      </p:sp>
      <p:sp>
        <p:nvSpPr>
          <p:cNvPr id="760" name="Google Shape;760;p42">
            <a:extLst>
              <a:ext uri="{FF2B5EF4-FFF2-40B4-BE49-F238E27FC236}">
                <a16:creationId xmlns:a16="http://schemas.microsoft.com/office/drawing/2014/main" id="{A14809C4-AF91-48BC-57CF-98877DD4252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63264" y="1396136"/>
            <a:ext cx="4018709" cy="35942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 algn="just">
              <a:buNone/>
            </a:pPr>
            <a:r>
              <a:rPr lang="en-US" dirty="0"/>
              <a:t>The variable </a:t>
            </a:r>
            <a:r>
              <a:rPr lang="en-US" dirty="0">
                <a:solidFill>
                  <a:schemeClr val="tx2"/>
                </a:solidFill>
              </a:rPr>
              <a:t>value</a:t>
            </a:r>
            <a:r>
              <a:rPr lang="en-US" dirty="0"/>
              <a:t> (daily emissions in MtCO₂/day) shows a wide range — from nearly zero up to about 43 MtCO₂/day, with a mean of 2.39 and a high </a:t>
            </a:r>
            <a:r>
              <a:rPr lang="en-US" dirty="0">
                <a:solidFill>
                  <a:schemeClr val="tx2"/>
                </a:solidFill>
              </a:rPr>
              <a:t>standard deviation</a:t>
            </a:r>
            <a:r>
              <a:rPr lang="en-US" dirty="0"/>
              <a:t> (≈ 5.9), </a:t>
            </a:r>
            <a:r>
              <a:rPr lang="en-US" dirty="0">
                <a:solidFill>
                  <a:schemeClr val="tx1"/>
                </a:solidFill>
              </a:rPr>
              <a:t>indicating substantial variability</a:t>
            </a:r>
            <a:r>
              <a:rPr lang="en-US" dirty="0"/>
              <a:t> across countries and sectors.</a:t>
            </a:r>
          </a:p>
          <a:p>
            <a:pPr marL="139700" indent="0" algn="just">
              <a:buNone/>
            </a:pPr>
            <a:endParaRPr lang="en-US" dirty="0"/>
          </a:p>
          <a:p>
            <a:pPr marL="139700" indent="0" algn="just">
              <a:buNone/>
            </a:pPr>
            <a:r>
              <a:rPr lang="en-US" dirty="0"/>
              <a:t>The </a:t>
            </a:r>
            <a:r>
              <a:rPr lang="en-US" dirty="0">
                <a:solidFill>
                  <a:schemeClr val="tx2"/>
                </a:solidFill>
              </a:rPr>
              <a:t>median</a:t>
            </a:r>
            <a:r>
              <a:rPr lang="en-US" dirty="0"/>
              <a:t> (0.32 MtCO₂/day) is much lower than the </a:t>
            </a:r>
            <a:r>
              <a:rPr lang="en-US" dirty="0">
                <a:solidFill>
                  <a:schemeClr val="tx2"/>
                </a:solidFill>
              </a:rPr>
              <a:t>mean</a:t>
            </a:r>
            <a:r>
              <a:rPr lang="en-US" dirty="0"/>
              <a:t>, suggesting a right-skewed distribution, where most emissions are small but a few sectors or countries produce extremely large values.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/>
          </a:p>
        </p:txBody>
      </p:sp>
      <p:grpSp>
        <p:nvGrpSpPr>
          <p:cNvPr id="761" name="Google Shape;761;p42">
            <a:extLst>
              <a:ext uri="{FF2B5EF4-FFF2-40B4-BE49-F238E27FC236}">
                <a16:creationId xmlns:a16="http://schemas.microsoft.com/office/drawing/2014/main" id="{C012F7E4-595B-3A1E-585C-B049AA2E3C8D}"/>
              </a:ext>
            </a:extLst>
          </p:cNvPr>
          <p:cNvGrpSpPr/>
          <p:nvPr/>
        </p:nvGrpSpPr>
        <p:grpSpPr>
          <a:xfrm>
            <a:off x="5726349" y="445024"/>
            <a:ext cx="2577275" cy="1833510"/>
            <a:chOff x="781874" y="1294774"/>
            <a:chExt cx="2577275" cy="1833510"/>
          </a:xfrm>
        </p:grpSpPr>
        <p:sp>
          <p:nvSpPr>
            <p:cNvPr id="762" name="Google Shape;762;p42">
              <a:extLst>
                <a:ext uri="{FF2B5EF4-FFF2-40B4-BE49-F238E27FC236}">
                  <a16:creationId xmlns:a16="http://schemas.microsoft.com/office/drawing/2014/main" id="{B7604830-9862-E531-7F01-EF64DCF53E16}"/>
                </a:ext>
              </a:extLst>
            </p:cNvPr>
            <p:cNvSpPr/>
            <p:nvPr/>
          </p:nvSpPr>
          <p:spPr>
            <a:xfrm rot="10800000">
              <a:off x="2834149" y="1520462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42">
              <a:extLst>
                <a:ext uri="{FF2B5EF4-FFF2-40B4-BE49-F238E27FC236}">
                  <a16:creationId xmlns:a16="http://schemas.microsoft.com/office/drawing/2014/main" id="{B0CAF845-3C1D-C670-FB67-5DCB8061F1C9}"/>
                </a:ext>
              </a:extLst>
            </p:cNvPr>
            <p:cNvSpPr/>
            <p:nvPr/>
          </p:nvSpPr>
          <p:spPr>
            <a:xfrm rot="10800000">
              <a:off x="2424511" y="1751429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42">
              <a:extLst>
                <a:ext uri="{FF2B5EF4-FFF2-40B4-BE49-F238E27FC236}">
                  <a16:creationId xmlns:a16="http://schemas.microsoft.com/office/drawing/2014/main" id="{3DDFAB3C-813A-78D6-08A1-223AC97E84AC}"/>
                </a:ext>
              </a:extLst>
            </p:cNvPr>
            <p:cNvSpPr/>
            <p:nvPr/>
          </p:nvSpPr>
          <p:spPr>
            <a:xfrm rot="10800000">
              <a:off x="2423203" y="1294774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42">
              <a:extLst>
                <a:ext uri="{FF2B5EF4-FFF2-40B4-BE49-F238E27FC236}">
                  <a16:creationId xmlns:a16="http://schemas.microsoft.com/office/drawing/2014/main" id="{3EEEA31E-63ED-CDEB-B0C2-43F04FF93771}"/>
                </a:ext>
              </a:extLst>
            </p:cNvPr>
            <p:cNvSpPr/>
            <p:nvPr/>
          </p:nvSpPr>
          <p:spPr>
            <a:xfrm rot="10800000">
              <a:off x="2013374" y="1524505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42">
              <a:extLst>
                <a:ext uri="{FF2B5EF4-FFF2-40B4-BE49-F238E27FC236}">
                  <a16:creationId xmlns:a16="http://schemas.microsoft.com/office/drawing/2014/main" id="{2ADEFEB0-5DDA-5FD5-FF72-06CDC3D94A6D}"/>
                </a:ext>
              </a:extLst>
            </p:cNvPr>
            <p:cNvSpPr/>
            <p:nvPr/>
          </p:nvSpPr>
          <p:spPr>
            <a:xfrm rot="10800000">
              <a:off x="1601864" y="1754411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42">
              <a:extLst>
                <a:ext uri="{FF2B5EF4-FFF2-40B4-BE49-F238E27FC236}">
                  <a16:creationId xmlns:a16="http://schemas.microsoft.com/office/drawing/2014/main" id="{AAEE6E69-E3D8-ADEB-C1D3-66D5DD13FDD8}"/>
                </a:ext>
              </a:extLst>
            </p:cNvPr>
            <p:cNvSpPr/>
            <p:nvPr/>
          </p:nvSpPr>
          <p:spPr>
            <a:xfrm rot="10800000">
              <a:off x="2008925" y="2444203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42">
              <a:extLst>
                <a:ext uri="{FF2B5EF4-FFF2-40B4-BE49-F238E27FC236}">
                  <a16:creationId xmlns:a16="http://schemas.microsoft.com/office/drawing/2014/main" id="{FDA7F383-E93C-4529-9C7F-C19CEF50284C}"/>
                </a:ext>
              </a:extLst>
            </p:cNvPr>
            <p:cNvSpPr/>
            <p:nvPr/>
          </p:nvSpPr>
          <p:spPr>
            <a:xfrm rot="10800000">
              <a:off x="1599288" y="2669819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42">
              <a:extLst>
                <a:ext uri="{FF2B5EF4-FFF2-40B4-BE49-F238E27FC236}">
                  <a16:creationId xmlns:a16="http://schemas.microsoft.com/office/drawing/2014/main" id="{943191F8-FA17-FA17-905A-983F8180E69B}"/>
                </a:ext>
              </a:extLst>
            </p:cNvPr>
            <p:cNvSpPr/>
            <p:nvPr/>
          </p:nvSpPr>
          <p:spPr>
            <a:xfrm rot="10800000">
              <a:off x="1599288" y="2211855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42">
              <a:extLst>
                <a:ext uri="{FF2B5EF4-FFF2-40B4-BE49-F238E27FC236}">
                  <a16:creationId xmlns:a16="http://schemas.microsoft.com/office/drawing/2014/main" id="{D5DC032D-6EFE-6CAB-040E-A9244776E828}"/>
                </a:ext>
              </a:extLst>
            </p:cNvPr>
            <p:cNvSpPr/>
            <p:nvPr/>
          </p:nvSpPr>
          <p:spPr>
            <a:xfrm rot="10800000">
              <a:off x="1190767" y="2441586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42">
              <a:extLst>
                <a:ext uri="{FF2B5EF4-FFF2-40B4-BE49-F238E27FC236}">
                  <a16:creationId xmlns:a16="http://schemas.microsoft.com/office/drawing/2014/main" id="{475F2183-1814-89F5-32A5-72D763E97FA7}"/>
                </a:ext>
              </a:extLst>
            </p:cNvPr>
            <p:cNvSpPr/>
            <p:nvPr/>
          </p:nvSpPr>
          <p:spPr>
            <a:xfrm rot="10800000">
              <a:off x="781874" y="2670184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2" name="Google Shape;772;p42">
            <a:extLst>
              <a:ext uri="{FF2B5EF4-FFF2-40B4-BE49-F238E27FC236}">
                <a16:creationId xmlns:a16="http://schemas.microsoft.com/office/drawing/2014/main" id="{5376158B-B713-906F-20D9-A64C5981EE06}"/>
              </a:ext>
            </a:extLst>
          </p:cNvPr>
          <p:cNvGrpSpPr/>
          <p:nvPr/>
        </p:nvGrpSpPr>
        <p:grpSpPr>
          <a:xfrm>
            <a:off x="6483389" y="2806055"/>
            <a:ext cx="936510" cy="688006"/>
            <a:chOff x="3235964" y="2587955"/>
            <a:chExt cx="936510" cy="688006"/>
          </a:xfrm>
        </p:grpSpPr>
        <p:sp>
          <p:nvSpPr>
            <p:cNvPr id="773" name="Google Shape;773;p42">
              <a:extLst>
                <a:ext uri="{FF2B5EF4-FFF2-40B4-BE49-F238E27FC236}">
                  <a16:creationId xmlns:a16="http://schemas.microsoft.com/office/drawing/2014/main" id="{3A95B1B1-C58D-446E-9CB6-0F2CC711E607}"/>
                </a:ext>
              </a:extLst>
            </p:cNvPr>
            <p:cNvSpPr/>
            <p:nvPr/>
          </p:nvSpPr>
          <p:spPr>
            <a:xfrm rot="10800000">
              <a:off x="3647474" y="2587955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42">
              <a:extLst>
                <a:ext uri="{FF2B5EF4-FFF2-40B4-BE49-F238E27FC236}">
                  <a16:creationId xmlns:a16="http://schemas.microsoft.com/office/drawing/2014/main" id="{FA235FE4-DA9D-D051-551E-427C33C7CE30}"/>
                </a:ext>
              </a:extLst>
            </p:cNvPr>
            <p:cNvSpPr/>
            <p:nvPr/>
          </p:nvSpPr>
          <p:spPr>
            <a:xfrm rot="10800000">
              <a:off x="3235964" y="2817861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5" name="Google Shape;775;p42">
            <a:extLst>
              <a:ext uri="{FF2B5EF4-FFF2-40B4-BE49-F238E27FC236}">
                <a16:creationId xmlns:a16="http://schemas.microsoft.com/office/drawing/2014/main" id="{12EC446E-4BCE-3436-888C-A9077896BDDA}"/>
              </a:ext>
            </a:extLst>
          </p:cNvPr>
          <p:cNvGrpSpPr/>
          <p:nvPr/>
        </p:nvGrpSpPr>
        <p:grpSpPr>
          <a:xfrm>
            <a:off x="7786678" y="2810729"/>
            <a:ext cx="935946" cy="1829202"/>
            <a:chOff x="4738303" y="2514629"/>
            <a:chExt cx="935946" cy="1829202"/>
          </a:xfrm>
        </p:grpSpPr>
        <p:sp>
          <p:nvSpPr>
            <p:cNvPr id="776" name="Google Shape;776;p42">
              <a:extLst>
                <a:ext uri="{FF2B5EF4-FFF2-40B4-BE49-F238E27FC236}">
                  <a16:creationId xmlns:a16="http://schemas.microsoft.com/office/drawing/2014/main" id="{8007431D-818E-5CCC-05B5-9026B0A2F003}"/>
                </a:ext>
              </a:extLst>
            </p:cNvPr>
            <p:cNvSpPr/>
            <p:nvPr/>
          </p:nvSpPr>
          <p:spPr>
            <a:xfrm rot="10800000">
              <a:off x="5149249" y="2740318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42">
              <a:extLst>
                <a:ext uri="{FF2B5EF4-FFF2-40B4-BE49-F238E27FC236}">
                  <a16:creationId xmlns:a16="http://schemas.microsoft.com/office/drawing/2014/main" id="{A1B84CEA-9AF3-D08E-3848-664111AB0B55}"/>
                </a:ext>
              </a:extLst>
            </p:cNvPr>
            <p:cNvSpPr/>
            <p:nvPr/>
          </p:nvSpPr>
          <p:spPr>
            <a:xfrm rot="10800000">
              <a:off x="4739611" y="2971284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42">
              <a:extLst>
                <a:ext uri="{FF2B5EF4-FFF2-40B4-BE49-F238E27FC236}">
                  <a16:creationId xmlns:a16="http://schemas.microsoft.com/office/drawing/2014/main" id="{AB1DAAF8-4579-D78D-169A-965A935BBC34}"/>
                </a:ext>
              </a:extLst>
            </p:cNvPr>
            <p:cNvSpPr/>
            <p:nvPr/>
          </p:nvSpPr>
          <p:spPr>
            <a:xfrm rot="10800000">
              <a:off x="4738303" y="2514629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42">
              <a:extLst>
                <a:ext uri="{FF2B5EF4-FFF2-40B4-BE49-F238E27FC236}">
                  <a16:creationId xmlns:a16="http://schemas.microsoft.com/office/drawing/2014/main" id="{00406CD9-678A-9DCA-F829-73D6D6AE0F6B}"/>
                </a:ext>
              </a:extLst>
            </p:cNvPr>
            <p:cNvSpPr/>
            <p:nvPr/>
          </p:nvSpPr>
          <p:spPr>
            <a:xfrm rot="10800000">
              <a:off x="5149225" y="3660116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42">
              <a:extLst>
                <a:ext uri="{FF2B5EF4-FFF2-40B4-BE49-F238E27FC236}">
                  <a16:creationId xmlns:a16="http://schemas.microsoft.com/office/drawing/2014/main" id="{132F19B9-750F-39EC-A1F0-1924C21FE560}"/>
                </a:ext>
              </a:extLst>
            </p:cNvPr>
            <p:cNvSpPr/>
            <p:nvPr/>
          </p:nvSpPr>
          <p:spPr>
            <a:xfrm rot="10800000">
              <a:off x="4739588" y="3885731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42">
              <a:extLst>
                <a:ext uri="{FF2B5EF4-FFF2-40B4-BE49-F238E27FC236}">
                  <a16:creationId xmlns:a16="http://schemas.microsoft.com/office/drawing/2014/main" id="{896E96F8-7D66-E215-3B84-9FAC91D191F1}"/>
                </a:ext>
              </a:extLst>
            </p:cNvPr>
            <p:cNvSpPr/>
            <p:nvPr/>
          </p:nvSpPr>
          <p:spPr>
            <a:xfrm rot="10800000">
              <a:off x="4739588" y="3427767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2" name="Google Shape;782;p42">
            <a:extLst>
              <a:ext uri="{FF2B5EF4-FFF2-40B4-BE49-F238E27FC236}">
                <a16:creationId xmlns:a16="http://schemas.microsoft.com/office/drawing/2014/main" id="{403F3E10-0990-976B-A2EE-F3AFA2DFEF20}"/>
              </a:ext>
            </a:extLst>
          </p:cNvPr>
          <p:cNvGrpSpPr/>
          <p:nvPr/>
        </p:nvGrpSpPr>
        <p:grpSpPr>
          <a:xfrm>
            <a:off x="5480799" y="3832449"/>
            <a:ext cx="1345775" cy="914755"/>
            <a:chOff x="2264799" y="3654374"/>
            <a:chExt cx="1345775" cy="914755"/>
          </a:xfrm>
        </p:grpSpPr>
        <p:sp>
          <p:nvSpPr>
            <p:cNvPr id="783" name="Google Shape;783;p42">
              <a:extLst>
                <a:ext uri="{FF2B5EF4-FFF2-40B4-BE49-F238E27FC236}">
                  <a16:creationId xmlns:a16="http://schemas.microsoft.com/office/drawing/2014/main" id="{8512C3F1-F12B-5FFB-EF80-012C571E6549}"/>
                </a:ext>
              </a:extLst>
            </p:cNvPr>
            <p:cNvSpPr/>
            <p:nvPr/>
          </p:nvSpPr>
          <p:spPr>
            <a:xfrm rot="10800000">
              <a:off x="3085574" y="3880062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42">
              <a:extLst>
                <a:ext uri="{FF2B5EF4-FFF2-40B4-BE49-F238E27FC236}">
                  <a16:creationId xmlns:a16="http://schemas.microsoft.com/office/drawing/2014/main" id="{7642D907-8A86-5AB3-2411-F1FC7E0461C7}"/>
                </a:ext>
              </a:extLst>
            </p:cNvPr>
            <p:cNvSpPr/>
            <p:nvPr/>
          </p:nvSpPr>
          <p:spPr>
            <a:xfrm rot="10800000">
              <a:off x="2675936" y="4111029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42">
              <a:extLst>
                <a:ext uri="{FF2B5EF4-FFF2-40B4-BE49-F238E27FC236}">
                  <a16:creationId xmlns:a16="http://schemas.microsoft.com/office/drawing/2014/main" id="{B382AD2D-744D-BA51-366E-23149D554EA2}"/>
                </a:ext>
              </a:extLst>
            </p:cNvPr>
            <p:cNvSpPr/>
            <p:nvPr/>
          </p:nvSpPr>
          <p:spPr>
            <a:xfrm rot="10800000">
              <a:off x="2674628" y="3654374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42">
              <a:extLst>
                <a:ext uri="{FF2B5EF4-FFF2-40B4-BE49-F238E27FC236}">
                  <a16:creationId xmlns:a16="http://schemas.microsoft.com/office/drawing/2014/main" id="{EF4AFD77-D5A9-1A68-7FEF-E638FF3C05AA}"/>
                </a:ext>
              </a:extLst>
            </p:cNvPr>
            <p:cNvSpPr/>
            <p:nvPr/>
          </p:nvSpPr>
          <p:spPr>
            <a:xfrm rot="10800000">
              <a:off x="2264799" y="3884105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Immagine 6">
            <a:extLst>
              <a:ext uri="{FF2B5EF4-FFF2-40B4-BE49-F238E27FC236}">
                <a16:creationId xmlns:a16="http://schemas.microsoft.com/office/drawing/2014/main" id="{490807BB-5D3F-ADC8-696A-E83A49CEFE1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8355" y="343665"/>
            <a:ext cx="3484664" cy="299095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5DAE6137-CC13-1E73-A90F-4EE586A399F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8355" y="4290936"/>
            <a:ext cx="3482150" cy="50655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998D4735-E65F-DB32-41F0-231E941E144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35841" y="3558029"/>
            <a:ext cx="3484664" cy="4899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821182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1">
          <a:extLst>
            <a:ext uri="{FF2B5EF4-FFF2-40B4-BE49-F238E27FC236}">
              <a16:creationId xmlns:a16="http://schemas.microsoft.com/office/drawing/2014/main" id="{43EE5022-32D6-DD7D-57B5-1E34013A1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50">
            <a:extLst>
              <a:ext uri="{FF2B5EF4-FFF2-40B4-BE49-F238E27FC236}">
                <a16:creationId xmlns:a16="http://schemas.microsoft.com/office/drawing/2014/main" id="{7AED8B50-FE43-7D8E-9AA9-01BDDE4343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0217" y="227861"/>
            <a:ext cx="5820137" cy="10902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Visualizing Global Emissions</a:t>
            </a:r>
            <a:br>
              <a:rPr lang="it-IT" dirty="0"/>
            </a:br>
            <a:r>
              <a:rPr lang="it-IT" b="0" dirty="0"/>
              <a:t>using rolling mean</a:t>
            </a:r>
            <a:endParaRPr b="0" dirty="0"/>
          </a:p>
        </p:txBody>
      </p:sp>
      <p:sp>
        <p:nvSpPr>
          <p:cNvPr id="954" name="Google Shape;954;p50">
            <a:extLst>
              <a:ext uri="{FF2B5EF4-FFF2-40B4-BE49-F238E27FC236}">
                <a16:creationId xmlns:a16="http://schemas.microsoft.com/office/drawing/2014/main" id="{DB8AD065-D9D3-7BFE-A154-1A99A6944D1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16158" y="1802661"/>
            <a:ext cx="3265021" cy="29200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/>
            <a:r>
              <a:rPr lang="it-IT" sz="1200" dirty="0"/>
              <a:t>To </a:t>
            </a:r>
            <a:r>
              <a:rPr lang="it-IT" sz="1200" dirty="0" err="1"/>
              <a:t>better</a:t>
            </a:r>
            <a:r>
              <a:rPr lang="it-IT" sz="1200" dirty="0"/>
              <a:t> </a:t>
            </a:r>
            <a:r>
              <a:rPr lang="it-IT" sz="1200" dirty="0" err="1"/>
              <a:t>analyze</a:t>
            </a:r>
            <a:r>
              <a:rPr lang="it-IT" sz="1200" dirty="0"/>
              <a:t> </a:t>
            </a:r>
            <a:r>
              <a:rPr lang="it-IT" sz="1200" dirty="0" err="1"/>
              <a:t>structural</a:t>
            </a:r>
            <a:r>
              <a:rPr lang="it-IT" sz="1200" dirty="0"/>
              <a:t> </a:t>
            </a:r>
            <a:r>
              <a:rPr lang="it-IT" sz="1200" dirty="0" err="1"/>
              <a:t>changes</a:t>
            </a:r>
            <a:r>
              <a:rPr lang="it-IT" sz="1200" dirty="0"/>
              <a:t> in </a:t>
            </a:r>
            <a:r>
              <a:rPr lang="it-IT" sz="1200" dirty="0" err="1"/>
              <a:t>daily</a:t>
            </a:r>
            <a:r>
              <a:rPr lang="it-IT" sz="1200" dirty="0"/>
              <a:t> CO</a:t>
            </a:r>
            <a:r>
              <a:rPr lang="it-IT" sz="1200" baseline="-25000" dirty="0"/>
              <a:t>2</a:t>
            </a:r>
            <a:r>
              <a:rPr lang="it-IT" sz="1200" dirty="0"/>
              <a:t> </a:t>
            </a:r>
            <a:r>
              <a:rPr lang="it-IT" sz="1200" dirty="0" err="1"/>
              <a:t>emissions</a:t>
            </a:r>
            <a:r>
              <a:rPr lang="it-IT" sz="1200" dirty="0"/>
              <a:t>, </a:t>
            </a:r>
            <a:r>
              <a:rPr lang="it-IT" sz="1200" dirty="0" err="1"/>
              <a:t>we</a:t>
            </a:r>
            <a:r>
              <a:rPr lang="it-IT" sz="1200" dirty="0"/>
              <a:t> </a:t>
            </a:r>
            <a:r>
              <a:rPr lang="it-IT" sz="1200" dirty="0" err="1"/>
              <a:t>applied</a:t>
            </a:r>
            <a:r>
              <a:rPr lang="it-IT" sz="1200" dirty="0"/>
              <a:t> a 30-day Rolling Mean </a:t>
            </a:r>
            <a:r>
              <a:rPr lang="it-IT" sz="1200" dirty="0" err="1"/>
              <a:t>smoothing</a:t>
            </a:r>
            <a:r>
              <a:rPr lang="it-IT" sz="1200" dirty="0"/>
              <a:t> technique.</a:t>
            </a:r>
          </a:p>
          <a:p>
            <a:pPr marL="0" lvl="0" indent="0" algn="ctr"/>
            <a:endParaRPr lang="it-IT" sz="1200" dirty="0"/>
          </a:p>
          <a:p>
            <a:pPr marL="0" indent="0" algn="ctr"/>
            <a:r>
              <a:rPr lang="en-US" sz="1200" dirty="0"/>
              <a:t>This process effectively reduces short-term noise and reporting variability, allowing us to highlight medium-term trends and seasonal patterns while preserving overall temporal solution.</a:t>
            </a:r>
          </a:p>
          <a:p>
            <a:pPr marL="0" lvl="0" indent="0" algn="ctr"/>
            <a:endParaRPr lang="it-IT" dirty="0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967BACA4-5BD0-22B8-0876-EC0C65C399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0687" y="3099190"/>
            <a:ext cx="4547155" cy="187254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B97EC55-B286-1E4B-025D-E3AE970D36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0687" y="1104254"/>
            <a:ext cx="4547155" cy="187254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" name="Google Shape;747;p40">
            <a:extLst>
              <a:ext uri="{FF2B5EF4-FFF2-40B4-BE49-F238E27FC236}">
                <a16:creationId xmlns:a16="http://schemas.microsoft.com/office/drawing/2014/main" id="{D3D231DD-1C7B-B235-76F7-AB4F2BF39786}"/>
              </a:ext>
            </a:extLst>
          </p:cNvPr>
          <p:cNvCxnSpPr/>
          <p:nvPr/>
        </p:nvCxnSpPr>
        <p:spPr>
          <a:xfrm>
            <a:off x="412500" y="1524269"/>
            <a:ext cx="931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496613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1">
          <a:extLst>
            <a:ext uri="{FF2B5EF4-FFF2-40B4-BE49-F238E27FC236}">
              <a16:creationId xmlns:a16="http://schemas.microsoft.com/office/drawing/2014/main" id="{AD106FD7-6E7A-1F1B-1FEB-30FC70861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50">
            <a:extLst>
              <a:ext uri="{FF2B5EF4-FFF2-40B4-BE49-F238E27FC236}">
                <a16:creationId xmlns:a16="http://schemas.microsoft.com/office/drawing/2014/main" id="{5CBCAF6D-FA08-D08B-D452-5ADAA7E3E3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0217" y="239485"/>
            <a:ext cx="6446883" cy="10902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Visualizing Global Emissions</a:t>
            </a:r>
            <a:br>
              <a:rPr lang="it-IT" dirty="0"/>
            </a:br>
            <a:r>
              <a:rPr lang="it-IT" b="0" dirty="0"/>
              <a:t>using </a:t>
            </a:r>
            <a:r>
              <a:rPr lang="it-IT" b="0" dirty="0" err="1"/>
              <a:t>aggregation</a:t>
            </a:r>
            <a:endParaRPr b="0" dirty="0"/>
          </a:p>
        </p:txBody>
      </p:sp>
      <p:sp>
        <p:nvSpPr>
          <p:cNvPr id="954" name="Google Shape;954;p50">
            <a:extLst>
              <a:ext uri="{FF2B5EF4-FFF2-40B4-BE49-F238E27FC236}">
                <a16:creationId xmlns:a16="http://schemas.microsoft.com/office/drawing/2014/main" id="{E2E11AA9-5ADF-7E84-42E9-B3B63A3646B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831363" y="4678537"/>
            <a:ext cx="5481273" cy="3604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/>
            <a:r>
              <a:rPr lang="en-US" sz="1000" dirty="0"/>
              <a:t>To facilitate even more long-term analysis, the data may be aggregated by month.</a:t>
            </a:r>
          </a:p>
        </p:txBody>
      </p:sp>
      <p:pic>
        <p:nvPicPr>
          <p:cNvPr id="5127" name="Picture 7">
            <a:extLst>
              <a:ext uri="{FF2B5EF4-FFF2-40B4-BE49-F238E27FC236}">
                <a16:creationId xmlns:a16="http://schemas.microsoft.com/office/drawing/2014/main" id="{BBA3E512-1CAE-DBA4-413C-158B218090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472" y="1426500"/>
            <a:ext cx="7579056" cy="312372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49120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>
          <a:extLst>
            <a:ext uri="{FF2B5EF4-FFF2-40B4-BE49-F238E27FC236}">
              <a16:creationId xmlns:a16="http://schemas.microsoft.com/office/drawing/2014/main" id="{62127260-49D0-A5F9-41AB-464B00590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42">
            <a:extLst>
              <a:ext uri="{FF2B5EF4-FFF2-40B4-BE49-F238E27FC236}">
                <a16:creationId xmlns:a16="http://schemas.microsoft.com/office/drawing/2014/main" id="{A9664028-638F-A1FF-0A28-026DCEC9C9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0726" y="367757"/>
            <a:ext cx="4625095" cy="6059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t-IT" dirty="0"/>
              <a:t>Monthly Data Analysis</a:t>
            </a:r>
            <a:endParaRPr dirty="0"/>
          </a:p>
        </p:txBody>
      </p:sp>
      <p:sp>
        <p:nvSpPr>
          <p:cNvPr id="760" name="Google Shape;760;p42">
            <a:extLst>
              <a:ext uri="{FF2B5EF4-FFF2-40B4-BE49-F238E27FC236}">
                <a16:creationId xmlns:a16="http://schemas.microsoft.com/office/drawing/2014/main" id="{64E061BC-F9AC-6410-31A6-E8621A4AE18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79686" y="1128812"/>
            <a:ext cx="5045415" cy="35942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spcBef>
                <a:spcPts val="1000"/>
              </a:spcBef>
              <a:buSzPts val="1400"/>
              <a:buNone/>
            </a:pPr>
            <a:r>
              <a:rPr lang="en-US" sz="1200" dirty="0"/>
              <a:t>From the </a:t>
            </a:r>
            <a:r>
              <a:rPr lang="en-US" sz="1200" dirty="0" err="1"/>
              <a:t>hystogram</a:t>
            </a:r>
            <a:r>
              <a:rPr lang="en-US" sz="1200" dirty="0"/>
              <a:t>, it can be observed that monthly CO₂ emissions follow a stable distribution</a:t>
            </a:r>
            <a:r>
              <a:rPr lang="it-IT" sz="1200" dirty="0"/>
              <a:t>:</a:t>
            </a:r>
          </a:p>
          <a:p>
            <a:pPr lvl="0">
              <a:spcBef>
                <a:spcPts val="1000"/>
              </a:spcBef>
              <a:buSzPts val="1400"/>
            </a:pPr>
            <a:r>
              <a:rPr lang="it-IT" sz="1200" dirty="0" err="1"/>
              <a:t>Unimodal</a:t>
            </a:r>
            <a:endParaRPr lang="it-IT" sz="1200" dirty="0"/>
          </a:p>
          <a:p>
            <a:pPr lvl="0">
              <a:buSzPts val="1400"/>
            </a:pPr>
            <a:r>
              <a:rPr lang="it-IT" sz="1200" dirty="0" err="1"/>
              <a:t>Slightly</a:t>
            </a:r>
            <a:r>
              <a:rPr lang="it-IT" sz="1200" dirty="0"/>
              <a:t> </a:t>
            </a:r>
            <a:r>
              <a:rPr lang="it-IT" sz="1200" dirty="0" err="1"/>
              <a:t>right-skewed</a:t>
            </a:r>
            <a:r>
              <a:rPr lang="it-IT" sz="1200" dirty="0"/>
              <a:t> </a:t>
            </a:r>
            <a:r>
              <a:rPr lang="it-IT" sz="1200" dirty="0" err="1"/>
              <a:t>distribution</a:t>
            </a:r>
            <a:endParaRPr lang="en-US" sz="1200" dirty="0"/>
          </a:p>
          <a:p>
            <a:pPr>
              <a:buSzPts val="1400"/>
            </a:pPr>
            <a:r>
              <a:rPr lang="en-US" sz="1200" dirty="0"/>
              <a:t>Few lows linked to COVID-19 slowdown</a:t>
            </a:r>
            <a:endParaRPr lang="en-US" sz="1300" dirty="0"/>
          </a:p>
          <a:p>
            <a:pPr marL="139700" indent="0" algn="just">
              <a:spcBef>
                <a:spcPts val="600"/>
              </a:spcBef>
              <a:buNone/>
            </a:pPr>
            <a:endParaRPr lang="en-US" sz="1200" dirty="0"/>
          </a:p>
          <a:p>
            <a:pPr marL="139700" indent="0" algn="just">
              <a:spcBef>
                <a:spcPts val="600"/>
              </a:spcBef>
              <a:buNone/>
            </a:pPr>
            <a:r>
              <a:rPr lang="en-US" sz="1200" dirty="0"/>
              <a:t>From the second image, it can be observed that global CO₂ emissions show clear seasonal patterns and limited random fluctuations:</a:t>
            </a:r>
            <a:endParaRPr lang="en-US" sz="1300" dirty="0"/>
          </a:p>
          <a:p>
            <a:pPr lvl="0">
              <a:spcBef>
                <a:spcPts val="1000"/>
              </a:spcBef>
              <a:buSzPts val="1400"/>
            </a:pPr>
            <a:r>
              <a:rPr lang="it-IT" sz="1200" dirty="0"/>
              <a:t>Strong </a:t>
            </a:r>
            <a:r>
              <a:rPr lang="it-IT" sz="1200" dirty="0" err="1"/>
              <a:t>seasonal</a:t>
            </a:r>
            <a:r>
              <a:rPr lang="it-IT" sz="1200" dirty="0"/>
              <a:t> component</a:t>
            </a:r>
          </a:p>
          <a:p>
            <a:pPr lvl="0">
              <a:buSzPts val="1400"/>
            </a:pPr>
            <a:r>
              <a:rPr lang="en-US" sz="1200" dirty="0"/>
              <a:t>Low irregular noise</a:t>
            </a:r>
          </a:p>
          <a:p>
            <a:pPr>
              <a:buSzPts val="1400"/>
            </a:pPr>
            <a:r>
              <a:rPr lang="en-US" sz="1200" dirty="0"/>
              <a:t>Reliable base for anomaly detection</a:t>
            </a:r>
          </a:p>
          <a:p>
            <a:pPr marL="139700" indent="0" algn="just">
              <a:spcBef>
                <a:spcPts val="600"/>
              </a:spcBef>
              <a:buNone/>
            </a:pPr>
            <a:endParaRPr lang="en-US" sz="1300" dirty="0"/>
          </a:p>
        </p:txBody>
      </p:sp>
      <p:grpSp>
        <p:nvGrpSpPr>
          <p:cNvPr id="761" name="Google Shape;761;p42">
            <a:extLst>
              <a:ext uri="{FF2B5EF4-FFF2-40B4-BE49-F238E27FC236}">
                <a16:creationId xmlns:a16="http://schemas.microsoft.com/office/drawing/2014/main" id="{ED813942-0620-1866-21A4-D3F8D974835A}"/>
              </a:ext>
            </a:extLst>
          </p:cNvPr>
          <p:cNvGrpSpPr/>
          <p:nvPr/>
        </p:nvGrpSpPr>
        <p:grpSpPr>
          <a:xfrm>
            <a:off x="5726349" y="445024"/>
            <a:ext cx="2577275" cy="1833510"/>
            <a:chOff x="781874" y="1294774"/>
            <a:chExt cx="2577275" cy="1833510"/>
          </a:xfrm>
        </p:grpSpPr>
        <p:sp>
          <p:nvSpPr>
            <p:cNvPr id="762" name="Google Shape;762;p42">
              <a:extLst>
                <a:ext uri="{FF2B5EF4-FFF2-40B4-BE49-F238E27FC236}">
                  <a16:creationId xmlns:a16="http://schemas.microsoft.com/office/drawing/2014/main" id="{E1D3A374-9F85-5DBD-F726-1F20F7CE9339}"/>
                </a:ext>
              </a:extLst>
            </p:cNvPr>
            <p:cNvSpPr/>
            <p:nvPr/>
          </p:nvSpPr>
          <p:spPr>
            <a:xfrm rot="10800000">
              <a:off x="2834149" y="1520462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42">
              <a:extLst>
                <a:ext uri="{FF2B5EF4-FFF2-40B4-BE49-F238E27FC236}">
                  <a16:creationId xmlns:a16="http://schemas.microsoft.com/office/drawing/2014/main" id="{712AC05A-4C01-84E6-2E0A-7C1D7B0B036E}"/>
                </a:ext>
              </a:extLst>
            </p:cNvPr>
            <p:cNvSpPr/>
            <p:nvPr/>
          </p:nvSpPr>
          <p:spPr>
            <a:xfrm rot="10800000">
              <a:off x="2424511" y="1751429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42">
              <a:extLst>
                <a:ext uri="{FF2B5EF4-FFF2-40B4-BE49-F238E27FC236}">
                  <a16:creationId xmlns:a16="http://schemas.microsoft.com/office/drawing/2014/main" id="{7D333918-982E-B67F-9AD6-1EC99B81D9E0}"/>
                </a:ext>
              </a:extLst>
            </p:cNvPr>
            <p:cNvSpPr/>
            <p:nvPr/>
          </p:nvSpPr>
          <p:spPr>
            <a:xfrm rot="10800000">
              <a:off x="2423203" y="1294774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42">
              <a:extLst>
                <a:ext uri="{FF2B5EF4-FFF2-40B4-BE49-F238E27FC236}">
                  <a16:creationId xmlns:a16="http://schemas.microsoft.com/office/drawing/2014/main" id="{E34FC1F9-EB25-3377-7D6D-48BAC8C09663}"/>
                </a:ext>
              </a:extLst>
            </p:cNvPr>
            <p:cNvSpPr/>
            <p:nvPr/>
          </p:nvSpPr>
          <p:spPr>
            <a:xfrm rot="10800000">
              <a:off x="2013374" y="1524505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42">
              <a:extLst>
                <a:ext uri="{FF2B5EF4-FFF2-40B4-BE49-F238E27FC236}">
                  <a16:creationId xmlns:a16="http://schemas.microsoft.com/office/drawing/2014/main" id="{395BEDDE-6263-4658-4ABF-8970618647CD}"/>
                </a:ext>
              </a:extLst>
            </p:cNvPr>
            <p:cNvSpPr/>
            <p:nvPr/>
          </p:nvSpPr>
          <p:spPr>
            <a:xfrm rot="10800000">
              <a:off x="1601864" y="1754411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42">
              <a:extLst>
                <a:ext uri="{FF2B5EF4-FFF2-40B4-BE49-F238E27FC236}">
                  <a16:creationId xmlns:a16="http://schemas.microsoft.com/office/drawing/2014/main" id="{EB9C8D66-AAB4-1244-1BED-F5C30690F487}"/>
                </a:ext>
              </a:extLst>
            </p:cNvPr>
            <p:cNvSpPr/>
            <p:nvPr/>
          </p:nvSpPr>
          <p:spPr>
            <a:xfrm rot="10800000">
              <a:off x="2008925" y="2444203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42">
              <a:extLst>
                <a:ext uri="{FF2B5EF4-FFF2-40B4-BE49-F238E27FC236}">
                  <a16:creationId xmlns:a16="http://schemas.microsoft.com/office/drawing/2014/main" id="{F5FDB191-201B-4784-7211-892F6CFD5477}"/>
                </a:ext>
              </a:extLst>
            </p:cNvPr>
            <p:cNvSpPr/>
            <p:nvPr/>
          </p:nvSpPr>
          <p:spPr>
            <a:xfrm rot="10800000">
              <a:off x="1599288" y="2669819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42">
              <a:extLst>
                <a:ext uri="{FF2B5EF4-FFF2-40B4-BE49-F238E27FC236}">
                  <a16:creationId xmlns:a16="http://schemas.microsoft.com/office/drawing/2014/main" id="{79934A1D-6312-4773-377B-610768462701}"/>
                </a:ext>
              </a:extLst>
            </p:cNvPr>
            <p:cNvSpPr/>
            <p:nvPr/>
          </p:nvSpPr>
          <p:spPr>
            <a:xfrm rot="10800000">
              <a:off x="1599288" y="2211855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42">
              <a:extLst>
                <a:ext uri="{FF2B5EF4-FFF2-40B4-BE49-F238E27FC236}">
                  <a16:creationId xmlns:a16="http://schemas.microsoft.com/office/drawing/2014/main" id="{9F62BB8A-F803-1FD4-D665-DCC5F9E24075}"/>
                </a:ext>
              </a:extLst>
            </p:cNvPr>
            <p:cNvSpPr/>
            <p:nvPr/>
          </p:nvSpPr>
          <p:spPr>
            <a:xfrm rot="10800000">
              <a:off x="1190767" y="2441586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42">
              <a:extLst>
                <a:ext uri="{FF2B5EF4-FFF2-40B4-BE49-F238E27FC236}">
                  <a16:creationId xmlns:a16="http://schemas.microsoft.com/office/drawing/2014/main" id="{F9B5540B-54B6-2E7F-14F2-2030B0A6A6B7}"/>
                </a:ext>
              </a:extLst>
            </p:cNvPr>
            <p:cNvSpPr/>
            <p:nvPr/>
          </p:nvSpPr>
          <p:spPr>
            <a:xfrm rot="10800000">
              <a:off x="781874" y="2670184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2" name="Google Shape;772;p42">
            <a:extLst>
              <a:ext uri="{FF2B5EF4-FFF2-40B4-BE49-F238E27FC236}">
                <a16:creationId xmlns:a16="http://schemas.microsoft.com/office/drawing/2014/main" id="{48EC4F05-901D-7F56-7A79-A98A8596178E}"/>
              </a:ext>
            </a:extLst>
          </p:cNvPr>
          <p:cNvGrpSpPr/>
          <p:nvPr/>
        </p:nvGrpSpPr>
        <p:grpSpPr>
          <a:xfrm>
            <a:off x="6483389" y="2806055"/>
            <a:ext cx="936510" cy="688006"/>
            <a:chOff x="3235964" y="2587955"/>
            <a:chExt cx="936510" cy="688006"/>
          </a:xfrm>
        </p:grpSpPr>
        <p:sp>
          <p:nvSpPr>
            <p:cNvPr id="773" name="Google Shape;773;p42">
              <a:extLst>
                <a:ext uri="{FF2B5EF4-FFF2-40B4-BE49-F238E27FC236}">
                  <a16:creationId xmlns:a16="http://schemas.microsoft.com/office/drawing/2014/main" id="{8015282F-F1F1-75C3-C161-468CA2033BE7}"/>
                </a:ext>
              </a:extLst>
            </p:cNvPr>
            <p:cNvSpPr/>
            <p:nvPr/>
          </p:nvSpPr>
          <p:spPr>
            <a:xfrm rot="10800000">
              <a:off x="3647474" y="2587955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42">
              <a:extLst>
                <a:ext uri="{FF2B5EF4-FFF2-40B4-BE49-F238E27FC236}">
                  <a16:creationId xmlns:a16="http://schemas.microsoft.com/office/drawing/2014/main" id="{FC994500-F147-E785-617F-E7EE07B49FE7}"/>
                </a:ext>
              </a:extLst>
            </p:cNvPr>
            <p:cNvSpPr/>
            <p:nvPr/>
          </p:nvSpPr>
          <p:spPr>
            <a:xfrm rot="10800000">
              <a:off x="3235964" y="2817861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5" name="Google Shape;775;p42">
            <a:extLst>
              <a:ext uri="{FF2B5EF4-FFF2-40B4-BE49-F238E27FC236}">
                <a16:creationId xmlns:a16="http://schemas.microsoft.com/office/drawing/2014/main" id="{C7F7A27E-2C98-129C-92DF-ECF24D965E25}"/>
              </a:ext>
            </a:extLst>
          </p:cNvPr>
          <p:cNvGrpSpPr/>
          <p:nvPr/>
        </p:nvGrpSpPr>
        <p:grpSpPr>
          <a:xfrm>
            <a:off x="7786678" y="2810729"/>
            <a:ext cx="935946" cy="1829202"/>
            <a:chOff x="4738303" y="2514629"/>
            <a:chExt cx="935946" cy="1829202"/>
          </a:xfrm>
        </p:grpSpPr>
        <p:sp>
          <p:nvSpPr>
            <p:cNvPr id="776" name="Google Shape;776;p42">
              <a:extLst>
                <a:ext uri="{FF2B5EF4-FFF2-40B4-BE49-F238E27FC236}">
                  <a16:creationId xmlns:a16="http://schemas.microsoft.com/office/drawing/2014/main" id="{F3F2F5D3-543C-CE8C-7857-E60020DB1A44}"/>
                </a:ext>
              </a:extLst>
            </p:cNvPr>
            <p:cNvSpPr/>
            <p:nvPr/>
          </p:nvSpPr>
          <p:spPr>
            <a:xfrm rot="10800000">
              <a:off x="5149249" y="2740318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42">
              <a:extLst>
                <a:ext uri="{FF2B5EF4-FFF2-40B4-BE49-F238E27FC236}">
                  <a16:creationId xmlns:a16="http://schemas.microsoft.com/office/drawing/2014/main" id="{1FD38A93-75EF-B289-1C8A-BECDFB434C51}"/>
                </a:ext>
              </a:extLst>
            </p:cNvPr>
            <p:cNvSpPr/>
            <p:nvPr/>
          </p:nvSpPr>
          <p:spPr>
            <a:xfrm rot="10800000">
              <a:off x="4739611" y="2971284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42">
              <a:extLst>
                <a:ext uri="{FF2B5EF4-FFF2-40B4-BE49-F238E27FC236}">
                  <a16:creationId xmlns:a16="http://schemas.microsoft.com/office/drawing/2014/main" id="{E8302876-6CFF-2220-831F-DDCE55E586AC}"/>
                </a:ext>
              </a:extLst>
            </p:cNvPr>
            <p:cNvSpPr/>
            <p:nvPr/>
          </p:nvSpPr>
          <p:spPr>
            <a:xfrm rot="10800000">
              <a:off x="4738303" y="2514629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42">
              <a:extLst>
                <a:ext uri="{FF2B5EF4-FFF2-40B4-BE49-F238E27FC236}">
                  <a16:creationId xmlns:a16="http://schemas.microsoft.com/office/drawing/2014/main" id="{75A7E8BE-8CA7-74C5-83F2-96C543B481C4}"/>
                </a:ext>
              </a:extLst>
            </p:cNvPr>
            <p:cNvSpPr/>
            <p:nvPr/>
          </p:nvSpPr>
          <p:spPr>
            <a:xfrm rot="10800000">
              <a:off x="5149225" y="3660116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42">
              <a:extLst>
                <a:ext uri="{FF2B5EF4-FFF2-40B4-BE49-F238E27FC236}">
                  <a16:creationId xmlns:a16="http://schemas.microsoft.com/office/drawing/2014/main" id="{7668D467-7CAC-5F16-28EF-17AA0182818D}"/>
                </a:ext>
              </a:extLst>
            </p:cNvPr>
            <p:cNvSpPr/>
            <p:nvPr/>
          </p:nvSpPr>
          <p:spPr>
            <a:xfrm rot="10800000">
              <a:off x="4739588" y="3885731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42">
              <a:extLst>
                <a:ext uri="{FF2B5EF4-FFF2-40B4-BE49-F238E27FC236}">
                  <a16:creationId xmlns:a16="http://schemas.microsoft.com/office/drawing/2014/main" id="{5CDC59B8-2214-751D-82A6-768F9733AC0C}"/>
                </a:ext>
              </a:extLst>
            </p:cNvPr>
            <p:cNvSpPr/>
            <p:nvPr/>
          </p:nvSpPr>
          <p:spPr>
            <a:xfrm rot="10800000">
              <a:off x="4739588" y="3427767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2" name="Google Shape;782;p42">
            <a:extLst>
              <a:ext uri="{FF2B5EF4-FFF2-40B4-BE49-F238E27FC236}">
                <a16:creationId xmlns:a16="http://schemas.microsoft.com/office/drawing/2014/main" id="{EB835932-FDF8-5102-BFD6-F4D608B9FB88}"/>
              </a:ext>
            </a:extLst>
          </p:cNvPr>
          <p:cNvGrpSpPr/>
          <p:nvPr/>
        </p:nvGrpSpPr>
        <p:grpSpPr>
          <a:xfrm>
            <a:off x="5480799" y="3832449"/>
            <a:ext cx="1345775" cy="914755"/>
            <a:chOff x="2264799" y="3654374"/>
            <a:chExt cx="1345775" cy="914755"/>
          </a:xfrm>
        </p:grpSpPr>
        <p:sp>
          <p:nvSpPr>
            <p:cNvPr id="783" name="Google Shape;783;p42">
              <a:extLst>
                <a:ext uri="{FF2B5EF4-FFF2-40B4-BE49-F238E27FC236}">
                  <a16:creationId xmlns:a16="http://schemas.microsoft.com/office/drawing/2014/main" id="{0C237228-B598-CBD1-E4A3-E6A73464C03E}"/>
                </a:ext>
              </a:extLst>
            </p:cNvPr>
            <p:cNvSpPr/>
            <p:nvPr/>
          </p:nvSpPr>
          <p:spPr>
            <a:xfrm rot="10800000">
              <a:off x="3085574" y="3880062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42">
              <a:extLst>
                <a:ext uri="{FF2B5EF4-FFF2-40B4-BE49-F238E27FC236}">
                  <a16:creationId xmlns:a16="http://schemas.microsoft.com/office/drawing/2014/main" id="{FBF50830-0A48-7395-F974-D9E5ADCAFB01}"/>
                </a:ext>
              </a:extLst>
            </p:cNvPr>
            <p:cNvSpPr/>
            <p:nvPr/>
          </p:nvSpPr>
          <p:spPr>
            <a:xfrm rot="10800000">
              <a:off x="2675936" y="4111029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42">
              <a:extLst>
                <a:ext uri="{FF2B5EF4-FFF2-40B4-BE49-F238E27FC236}">
                  <a16:creationId xmlns:a16="http://schemas.microsoft.com/office/drawing/2014/main" id="{4529BAD4-86D3-EC3D-099B-02833FC343C1}"/>
                </a:ext>
              </a:extLst>
            </p:cNvPr>
            <p:cNvSpPr/>
            <p:nvPr/>
          </p:nvSpPr>
          <p:spPr>
            <a:xfrm rot="10800000">
              <a:off x="2674628" y="3654374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42">
              <a:extLst>
                <a:ext uri="{FF2B5EF4-FFF2-40B4-BE49-F238E27FC236}">
                  <a16:creationId xmlns:a16="http://schemas.microsoft.com/office/drawing/2014/main" id="{C4A82FD4-D913-3C91-B2D6-73E37BE4138C}"/>
                </a:ext>
              </a:extLst>
            </p:cNvPr>
            <p:cNvSpPr/>
            <p:nvPr/>
          </p:nvSpPr>
          <p:spPr>
            <a:xfrm rot="10800000">
              <a:off x="2264799" y="3884105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146" name="Picture 2">
            <a:extLst>
              <a:ext uri="{FF2B5EF4-FFF2-40B4-BE49-F238E27FC236}">
                <a16:creationId xmlns:a16="http://schemas.microsoft.com/office/drawing/2014/main" id="{F54102D2-AA68-9C8F-FA7B-9F8F8E8812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5801" y="169792"/>
            <a:ext cx="3031003" cy="241524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12773DC5-7F49-E7FC-3E90-7540CA604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2154" y="2760900"/>
            <a:ext cx="3034650" cy="226394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00952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1">
          <a:extLst>
            <a:ext uri="{FF2B5EF4-FFF2-40B4-BE49-F238E27FC236}">
              <a16:creationId xmlns:a16="http://schemas.microsoft.com/office/drawing/2014/main" id="{9AACC346-F97B-472D-755B-87646D438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41">
            <a:extLst>
              <a:ext uri="{FF2B5EF4-FFF2-40B4-BE49-F238E27FC236}">
                <a16:creationId xmlns:a16="http://schemas.microsoft.com/office/drawing/2014/main" id="{C7DD45F0-3193-536F-E1C0-90796063FE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7433" y="442846"/>
            <a:ext cx="451883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it-IT" sz="2800" dirty="0"/>
              <a:t>Normalized Emissions</a:t>
            </a:r>
            <a:endParaRPr lang="it-IT" sz="2800" b="0" dirty="0"/>
          </a:p>
        </p:txBody>
      </p:sp>
      <p:sp>
        <p:nvSpPr>
          <p:cNvPr id="754" name="Google Shape;754;p41">
            <a:extLst>
              <a:ext uri="{FF2B5EF4-FFF2-40B4-BE49-F238E27FC236}">
                <a16:creationId xmlns:a16="http://schemas.microsoft.com/office/drawing/2014/main" id="{F84474B5-A172-B4E4-885C-F876DBE9592B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39635" y="1132048"/>
            <a:ext cx="3844834" cy="33138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/>
              <a:t>To make cross-country comparisons meaningful, we constructed a new dataset that expresses CO₂ emissions relative to key socioeconomic indicators:</a:t>
            </a:r>
          </a:p>
          <a:p>
            <a:pPr lvl="0" algn="just">
              <a:buClr>
                <a:srgbClr val="00DFDF"/>
              </a:buClr>
              <a:buChar char="●"/>
            </a:pPr>
            <a:r>
              <a:rPr lang="en-US" b="1" dirty="0"/>
              <a:t>Population</a:t>
            </a:r>
          </a:p>
          <a:p>
            <a:pPr lvl="0" algn="just">
              <a:buClr>
                <a:srgbClr val="00DFDF"/>
              </a:buClr>
              <a:buChar char="●"/>
            </a:pPr>
            <a:r>
              <a:rPr lang="en-US" b="1" dirty="0"/>
              <a:t>Gross Domestic Product</a:t>
            </a:r>
            <a:r>
              <a:rPr lang="en-US" dirty="0"/>
              <a:t> (GDP)</a:t>
            </a:r>
          </a:p>
          <a:p>
            <a:pPr marL="0" lvl="0" indent="0" algn="just">
              <a:spcBef>
                <a:spcPts val="1200"/>
              </a:spcBef>
              <a:buClr>
                <a:srgbClr val="00DFDF"/>
              </a:buClr>
            </a:pPr>
            <a:r>
              <a:rPr lang="en-US" dirty="0"/>
              <a:t>Population and GDP data are retrieved automatically from the World Bank Open Data API (via the wbgapi Python package). 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A73E8DA-8F4A-4810-4A0D-8BA017A98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325" y="118225"/>
            <a:ext cx="4046040" cy="241376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62F752A7-74A4-DDE4-610B-81BA1545EB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326" y="2648494"/>
            <a:ext cx="4046039" cy="241376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6120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1">
          <a:extLst>
            <a:ext uri="{FF2B5EF4-FFF2-40B4-BE49-F238E27FC236}">
              <a16:creationId xmlns:a16="http://schemas.microsoft.com/office/drawing/2014/main" id="{4B993AE0-2F74-E862-6287-6A14E2AA3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50">
            <a:extLst>
              <a:ext uri="{FF2B5EF4-FFF2-40B4-BE49-F238E27FC236}">
                <a16:creationId xmlns:a16="http://schemas.microsoft.com/office/drawing/2014/main" id="{A502A90E-8A68-A075-8F70-91F2AE17D6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18774" y="118703"/>
            <a:ext cx="5820137" cy="5747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 dirty="0"/>
              <a:t>Global Emissions by Sector</a:t>
            </a:r>
            <a:endParaRPr sz="2800" b="0" dirty="0"/>
          </a:p>
        </p:txBody>
      </p:sp>
      <p:sp>
        <p:nvSpPr>
          <p:cNvPr id="954" name="Google Shape;954;p50">
            <a:extLst>
              <a:ext uri="{FF2B5EF4-FFF2-40B4-BE49-F238E27FC236}">
                <a16:creationId xmlns:a16="http://schemas.microsoft.com/office/drawing/2014/main" id="{D19E054E-A011-2E3B-F18B-C2715FC1890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46116" y="3840953"/>
            <a:ext cx="7051767" cy="10532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000" b="1" dirty="0">
                <a:solidFill>
                  <a:srgbClr val="7030A0"/>
                </a:solidFill>
              </a:rPr>
              <a:t>Power</a:t>
            </a:r>
            <a:r>
              <a:rPr lang="en-US" sz="1000" dirty="0"/>
              <a:t> and </a:t>
            </a:r>
            <a:r>
              <a:rPr lang="en-US" sz="1000" b="1" dirty="0">
                <a:solidFill>
                  <a:srgbClr val="00B050"/>
                </a:solidFill>
              </a:rPr>
              <a:t>Industry</a:t>
            </a:r>
            <a:r>
              <a:rPr lang="en-US" sz="1000" dirty="0"/>
              <a:t> are the dominant sources of emissions;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000" b="1" dirty="0">
                <a:solidFill>
                  <a:srgbClr val="FFC000"/>
                </a:solidFill>
              </a:rPr>
              <a:t>Ground Transport</a:t>
            </a:r>
            <a:r>
              <a:rPr lang="en-US" sz="1000" b="1" dirty="0"/>
              <a:t> </a:t>
            </a:r>
            <a:r>
              <a:rPr lang="en-US" sz="1000" dirty="0"/>
              <a:t>remains relatively stable but shows a visible drop during early 2020 (COVID-19);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000" b="1" dirty="0">
                <a:solidFill>
                  <a:srgbClr val="804438"/>
                </a:solidFill>
              </a:rPr>
              <a:t>Residential</a:t>
            </a:r>
            <a:r>
              <a:rPr lang="en-US" sz="1000" dirty="0"/>
              <a:t> emissions display a strong winter seasonality, peaking each year due to heating demand;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000" b="1" dirty="0">
                <a:solidFill>
                  <a:srgbClr val="8CBAD8"/>
                </a:solidFill>
              </a:rPr>
              <a:t>Domestic</a:t>
            </a:r>
            <a:r>
              <a:rPr lang="en-US" sz="1000" dirty="0"/>
              <a:t> and </a:t>
            </a:r>
            <a:r>
              <a:rPr lang="en-US" sz="1000" b="1" dirty="0">
                <a:solidFill>
                  <a:srgbClr val="D41B1D"/>
                </a:solidFill>
              </a:rPr>
              <a:t>International Aviation </a:t>
            </a:r>
            <a:r>
              <a:rPr lang="en-US" sz="1000" dirty="0"/>
              <a:t>emissions are much lower in magnitude but exhibit a similar pandemic-related collapse in 2020, gradually returning to pre-crisis levels.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29B5B673-629D-0B56-D932-FB53B44031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412" y="713608"/>
            <a:ext cx="6132814" cy="304298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96421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>
          <a:extLst>
            <a:ext uri="{FF2B5EF4-FFF2-40B4-BE49-F238E27FC236}">
              <a16:creationId xmlns:a16="http://schemas.microsoft.com/office/drawing/2014/main" id="{8AFD7EDC-A505-457A-409B-CD3027E02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42">
            <a:extLst>
              <a:ext uri="{FF2B5EF4-FFF2-40B4-BE49-F238E27FC236}">
                <a16:creationId xmlns:a16="http://schemas.microsoft.com/office/drawing/2014/main" id="{5E246518-C5A5-3B98-EAFD-CB85F7D179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3695" y="180651"/>
            <a:ext cx="5896306" cy="15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t-IT" dirty="0"/>
              <a:t>Global Emissions by Country</a:t>
            </a:r>
            <a:endParaRPr dirty="0"/>
          </a:p>
        </p:txBody>
      </p:sp>
      <p:sp>
        <p:nvSpPr>
          <p:cNvPr id="760" name="Google Shape;760;p42">
            <a:extLst>
              <a:ext uri="{FF2B5EF4-FFF2-40B4-BE49-F238E27FC236}">
                <a16:creationId xmlns:a16="http://schemas.microsoft.com/office/drawing/2014/main" id="{B892570C-CB39-99C4-92FD-C83C2338C0D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51118" y="970709"/>
            <a:ext cx="4018709" cy="38257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spcAft>
                <a:spcPts val="1200"/>
              </a:spcAft>
              <a:buNone/>
            </a:pPr>
            <a:r>
              <a:rPr lang="en-US" sz="1200" dirty="0"/>
              <a:t>The pie chart displays the share of total CO₂ emissions contributed by each country:</a:t>
            </a:r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FF7F0E"/>
                </a:solidFill>
              </a:rPr>
              <a:t>China</a:t>
            </a:r>
            <a:r>
              <a:rPr lang="en-US" sz="1200" dirty="0"/>
              <a:t> (31.2%) and the </a:t>
            </a:r>
            <a:r>
              <a:rPr lang="en-US" sz="1200" dirty="0">
                <a:solidFill>
                  <a:schemeClr val="bg2">
                    <a:lumMod val="50000"/>
                    <a:lumOff val="50000"/>
                  </a:schemeClr>
                </a:solidFill>
              </a:rPr>
              <a:t>Rest of the World </a:t>
            </a:r>
            <a:r>
              <a:rPr lang="en-US" sz="1200" dirty="0"/>
              <a:t>(ROW, 33.2%) together account for nearly two-thirds of global emissions, emphasizing their dominant roles;</a:t>
            </a:r>
          </a:p>
          <a:p>
            <a:pPr>
              <a:spcAft>
                <a:spcPts val="600"/>
              </a:spcAft>
            </a:pPr>
            <a:r>
              <a:rPr lang="en-US" sz="1200" dirty="0"/>
              <a:t>The </a:t>
            </a:r>
            <a:r>
              <a:rPr lang="en-US" sz="1200" dirty="0">
                <a:solidFill>
                  <a:srgbClr val="2CA02C"/>
                </a:solidFill>
              </a:rPr>
              <a:t>United States</a:t>
            </a:r>
            <a:r>
              <a:rPr lang="en-US" sz="1200" dirty="0"/>
              <a:t> contributes 14.2%, followed by </a:t>
            </a:r>
            <a:r>
              <a:rPr lang="en-US" sz="1200" dirty="0">
                <a:solidFill>
                  <a:srgbClr val="D62728"/>
                </a:solidFill>
              </a:rPr>
              <a:t>India</a:t>
            </a:r>
            <a:r>
              <a:rPr lang="en-US" sz="1200" dirty="0"/>
              <a:t> (7.9%), </a:t>
            </a:r>
            <a:r>
              <a:rPr lang="en-US" sz="1200" dirty="0">
                <a:solidFill>
                  <a:srgbClr val="7030A0"/>
                </a:solidFill>
              </a:rPr>
              <a:t>Russia</a:t>
            </a:r>
            <a:r>
              <a:rPr lang="en-US" sz="1200" dirty="0"/>
              <a:t> (4.2%), and </a:t>
            </a:r>
            <a:r>
              <a:rPr lang="en-US" sz="1200" dirty="0">
                <a:solidFill>
                  <a:srgbClr val="8C564B"/>
                </a:solidFill>
              </a:rPr>
              <a:t>Japan</a:t>
            </a:r>
            <a:r>
              <a:rPr lang="en-US" sz="1200" dirty="0"/>
              <a:t> (2.9%);</a:t>
            </a:r>
          </a:p>
          <a:p>
            <a:r>
              <a:rPr lang="en-US" sz="1200" dirty="0"/>
              <a:t>European countries such as </a:t>
            </a:r>
            <a:r>
              <a:rPr lang="en-US" sz="1200" dirty="0">
                <a:solidFill>
                  <a:srgbClr val="E377C2"/>
                </a:solidFill>
              </a:rPr>
              <a:t>Germany</a:t>
            </a:r>
            <a:r>
              <a:rPr lang="en-US" sz="1200" dirty="0"/>
              <a:t>, the </a:t>
            </a:r>
            <a:r>
              <a:rPr lang="en-US" sz="1200" dirty="0">
                <a:solidFill>
                  <a:srgbClr val="BCBD22"/>
                </a:solidFill>
              </a:rPr>
              <a:t>United Kingdom</a:t>
            </a:r>
            <a:r>
              <a:rPr lang="en-US" sz="1200" dirty="0"/>
              <a:t>, </a:t>
            </a:r>
            <a:r>
              <a:rPr lang="en-US" sz="1200" dirty="0">
                <a:solidFill>
                  <a:srgbClr val="07B9CC"/>
                </a:solidFill>
              </a:rPr>
              <a:t>Italy</a:t>
            </a:r>
            <a:r>
              <a:rPr lang="en-US" sz="1200" dirty="0"/>
              <a:t>, </a:t>
            </a:r>
            <a:r>
              <a:rPr lang="en-US" sz="1200" dirty="0">
                <a:solidFill>
                  <a:srgbClr val="1F77B4"/>
                </a:solidFill>
              </a:rPr>
              <a:t>France</a:t>
            </a:r>
            <a:r>
              <a:rPr lang="en-US" sz="1200" dirty="0"/>
              <a:t>, and </a:t>
            </a:r>
            <a:r>
              <a:rPr lang="en-US" sz="1200" dirty="0">
                <a:solidFill>
                  <a:srgbClr val="FF7F0E"/>
                </a:solidFill>
              </a:rPr>
              <a:t>Spain</a:t>
            </a:r>
            <a:r>
              <a:rPr lang="en-US" sz="1200" dirty="0"/>
              <a:t> each account for less than 2%, highlighting their comparatively smaller shares.</a:t>
            </a:r>
          </a:p>
          <a:p>
            <a:pPr marL="139700" indent="0">
              <a:spcBef>
                <a:spcPts val="1200"/>
              </a:spcBef>
              <a:buNone/>
            </a:pPr>
            <a:r>
              <a:rPr lang="en-US" sz="1200" dirty="0"/>
              <a:t>Overall, the figure shows a high concentration of emissions in a few major economies.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200" dirty="0"/>
          </a:p>
        </p:txBody>
      </p:sp>
      <p:grpSp>
        <p:nvGrpSpPr>
          <p:cNvPr id="761" name="Google Shape;761;p42">
            <a:extLst>
              <a:ext uri="{FF2B5EF4-FFF2-40B4-BE49-F238E27FC236}">
                <a16:creationId xmlns:a16="http://schemas.microsoft.com/office/drawing/2014/main" id="{E254E15A-AE62-34AA-2911-25B59CABABC6}"/>
              </a:ext>
            </a:extLst>
          </p:cNvPr>
          <p:cNvGrpSpPr/>
          <p:nvPr/>
        </p:nvGrpSpPr>
        <p:grpSpPr>
          <a:xfrm>
            <a:off x="5726349" y="445024"/>
            <a:ext cx="2577275" cy="1833510"/>
            <a:chOff x="781874" y="1294774"/>
            <a:chExt cx="2577275" cy="1833510"/>
          </a:xfrm>
        </p:grpSpPr>
        <p:sp>
          <p:nvSpPr>
            <p:cNvPr id="762" name="Google Shape;762;p42">
              <a:extLst>
                <a:ext uri="{FF2B5EF4-FFF2-40B4-BE49-F238E27FC236}">
                  <a16:creationId xmlns:a16="http://schemas.microsoft.com/office/drawing/2014/main" id="{0422001B-356F-04D6-EEDF-F86FBD03FE6D}"/>
                </a:ext>
              </a:extLst>
            </p:cNvPr>
            <p:cNvSpPr/>
            <p:nvPr/>
          </p:nvSpPr>
          <p:spPr>
            <a:xfrm rot="10800000">
              <a:off x="2834149" y="1520462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42">
              <a:extLst>
                <a:ext uri="{FF2B5EF4-FFF2-40B4-BE49-F238E27FC236}">
                  <a16:creationId xmlns:a16="http://schemas.microsoft.com/office/drawing/2014/main" id="{D382328B-2ABD-D917-4637-1E453DABD91A}"/>
                </a:ext>
              </a:extLst>
            </p:cNvPr>
            <p:cNvSpPr/>
            <p:nvPr/>
          </p:nvSpPr>
          <p:spPr>
            <a:xfrm rot="10800000">
              <a:off x="2424511" y="1751429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42">
              <a:extLst>
                <a:ext uri="{FF2B5EF4-FFF2-40B4-BE49-F238E27FC236}">
                  <a16:creationId xmlns:a16="http://schemas.microsoft.com/office/drawing/2014/main" id="{B5797C59-485F-DA5A-2332-380A0811D3C9}"/>
                </a:ext>
              </a:extLst>
            </p:cNvPr>
            <p:cNvSpPr/>
            <p:nvPr/>
          </p:nvSpPr>
          <p:spPr>
            <a:xfrm rot="10800000">
              <a:off x="2423203" y="1294774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42">
              <a:extLst>
                <a:ext uri="{FF2B5EF4-FFF2-40B4-BE49-F238E27FC236}">
                  <a16:creationId xmlns:a16="http://schemas.microsoft.com/office/drawing/2014/main" id="{58EEF0EB-D163-E7E8-A382-157E03854EA6}"/>
                </a:ext>
              </a:extLst>
            </p:cNvPr>
            <p:cNvSpPr/>
            <p:nvPr/>
          </p:nvSpPr>
          <p:spPr>
            <a:xfrm rot="10800000">
              <a:off x="2013374" y="1524505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42">
              <a:extLst>
                <a:ext uri="{FF2B5EF4-FFF2-40B4-BE49-F238E27FC236}">
                  <a16:creationId xmlns:a16="http://schemas.microsoft.com/office/drawing/2014/main" id="{D05B9D84-CAFA-EE05-57E7-A6F34A715DCA}"/>
                </a:ext>
              </a:extLst>
            </p:cNvPr>
            <p:cNvSpPr/>
            <p:nvPr/>
          </p:nvSpPr>
          <p:spPr>
            <a:xfrm rot="10800000">
              <a:off x="1601864" y="1754411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42">
              <a:extLst>
                <a:ext uri="{FF2B5EF4-FFF2-40B4-BE49-F238E27FC236}">
                  <a16:creationId xmlns:a16="http://schemas.microsoft.com/office/drawing/2014/main" id="{1B57ED44-1BC4-A85E-A679-2F3EC5BCCF81}"/>
                </a:ext>
              </a:extLst>
            </p:cNvPr>
            <p:cNvSpPr/>
            <p:nvPr/>
          </p:nvSpPr>
          <p:spPr>
            <a:xfrm rot="10800000">
              <a:off x="2008925" y="2444203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42">
              <a:extLst>
                <a:ext uri="{FF2B5EF4-FFF2-40B4-BE49-F238E27FC236}">
                  <a16:creationId xmlns:a16="http://schemas.microsoft.com/office/drawing/2014/main" id="{E3B24345-754E-1D9F-47E4-3639D0A117EC}"/>
                </a:ext>
              </a:extLst>
            </p:cNvPr>
            <p:cNvSpPr/>
            <p:nvPr/>
          </p:nvSpPr>
          <p:spPr>
            <a:xfrm rot="10800000">
              <a:off x="1599288" y="2669819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42">
              <a:extLst>
                <a:ext uri="{FF2B5EF4-FFF2-40B4-BE49-F238E27FC236}">
                  <a16:creationId xmlns:a16="http://schemas.microsoft.com/office/drawing/2014/main" id="{0710C659-840C-5631-BA3B-85CAB9B41F6D}"/>
                </a:ext>
              </a:extLst>
            </p:cNvPr>
            <p:cNvSpPr/>
            <p:nvPr/>
          </p:nvSpPr>
          <p:spPr>
            <a:xfrm rot="10800000">
              <a:off x="1599288" y="2211855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42">
              <a:extLst>
                <a:ext uri="{FF2B5EF4-FFF2-40B4-BE49-F238E27FC236}">
                  <a16:creationId xmlns:a16="http://schemas.microsoft.com/office/drawing/2014/main" id="{7E606E05-D5E7-6859-24ED-7B980E3CFFAD}"/>
                </a:ext>
              </a:extLst>
            </p:cNvPr>
            <p:cNvSpPr/>
            <p:nvPr/>
          </p:nvSpPr>
          <p:spPr>
            <a:xfrm rot="10800000">
              <a:off x="1190767" y="2441586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42">
              <a:extLst>
                <a:ext uri="{FF2B5EF4-FFF2-40B4-BE49-F238E27FC236}">
                  <a16:creationId xmlns:a16="http://schemas.microsoft.com/office/drawing/2014/main" id="{D3179670-D282-7640-5CB0-00AC23ACC76A}"/>
                </a:ext>
              </a:extLst>
            </p:cNvPr>
            <p:cNvSpPr/>
            <p:nvPr/>
          </p:nvSpPr>
          <p:spPr>
            <a:xfrm rot="10800000">
              <a:off x="781874" y="2670184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2" name="Google Shape;772;p42">
            <a:extLst>
              <a:ext uri="{FF2B5EF4-FFF2-40B4-BE49-F238E27FC236}">
                <a16:creationId xmlns:a16="http://schemas.microsoft.com/office/drawing/2014/main" id="{1846FCF4-754D-6757-08A6-E7D0DFC59CBB}"/>
              </a:ext>
            </a:extLst>
          </p:cNvPr>
          <p:cNvGrpSpPr/>
          <p:nvPr/>
        </p:nvGrpSpPr>
        <p:grpSpPr>
          <a:xfrm>
            <a:off x="6483389" y="2806055"/>
            <a:ext cx="936510" cy="688006"/>
            <a:chOff x="3235964" y="2587955"/>
            <a:chExt cx="936510" cy="688006"/>
          </a:xfrm>
        </p:grpSpPr>
        <p:sp>
          <p:nvSpPr>
            <p:cNvPr id="773" name="Google Shape;773;p42">
              <a:extLst>
                <a:ext uri="{FF2B5EF4-FFF2-40B4-BE49-F238E27FC236}">
                  <a16:creationId xmlns:a16="http://schemas.microsoft.com/office/drawing/2014/main" id="{6310EF2E-20F3-4CE0-E40F-8D8BCC140E5F}"/>
                </a:ext>
              </a:extLst>
            </p:cNvPr>
            <p:cNvSpPr/>
            <p:nvPr/>
          </p:nvSpPr>
          <p:spPr>
            <a:xfrm rot="10800000">
              <a:off x="3647474" y="2587955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42">
              <a:extLst>
                <a:ext uri="{FF2B5EF4-FFF2-40B4-BE49-F238E27FC236}">
                  <a16:creationId xmlns:a16="http://schemas.microsoft.com/office/drawing/2014/main" id="{9884ACB5-37CD-DB18-99EC-6235AFC35247}"/>
                </a:ext>
              </a:extLst>
            </p:cNvPr>
            <p:cNvSpPr/>
            <p:nvPr/>
          </p:nvSpPr>
          <p:spPr>
            <a:xfrm rot="10800000">
              <a:off x="3235964" y="2817861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5" name="Google Shape;775;p42">
            <a:extLst>
              <a:ext uri="{FF2B5EF4-FFF2-40B4-BE49-F238E27FC236}">
                <a16:creationId xmlns:a16="http://schemas.microsoft.com/office/drawing/2014/main" id="{93018372-53E5-E37D-9D3A-F6D519FF3633}"/>
              </a:ext>
            </a:extLst>
          </p:cNvPr>
          <p:cNvGrpSpPr/>
          <p:nvPr/>
        </p:nvGrpSpPr>
        <p:grpSpPr>
          <a:xfrm>
            <a:off x="7786678" y="2810729"/>
            <a:ext cx="935946" cy="1829202"/>
            <a:chOff x="4738303" y="2514629"/>
            <a:chExt cx="935946" cy="1829202"/>
          </a:xfrm>
        </p:grpSpPr>
        <p:sp>
          <p:nvSpPr>
            <p:cNvPr id="776" name="Google Shape;776;p42">
              <a:extLst>
                <a:ext uri="{FF2B5EF4-FFF2-40B4-BE49-F238E27FC236}">
                  <a16:creationId xmlns:a16="http://schemas.microsoft.com/office/drawing/2014/main" id="{02A61DBD-9C84-6758-33E3-35800751600F}"/>
                </a:ext>
              </a:extLst>
            </p:cNvPr>
            <p:cNvSpPr/>
            <p:nvPr/>
          </p:nvSpPr>
          <p:spPr>
            <a:xfrm rot="10800000">
              <a:off x="5149249" y="2740318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42">
              <a:extLst>
                <a:ext uri="{FF2B5EF4-FFF2-40B4-BE49-F238E27FC236}">
                  <a16:creationId xmlns:a16="http://schemas.microsoft.com/office/drawing/2014/main" id="{086A2F12-4AA7-0E99-2AEF-B8833D2905A4}"/>
                </a:ext>
              </a:extLst>
            </p:cNvPr>
            <p:cNvSpPr/>
            <p:nvPr/>
          </p:nvSpPr>
          <p:spPr>
            <a:xfrm rot="10800000">
              <a:off x="4739611" y="2971284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42">
              <a:extLst>
                <a:ext uri="{FF2B5EF4-FFF2-40B4-BE49-F238E27FC236}">
                  <a16:creationId xmlns:a16="http://schemas.microsoft.com/office/drawing/2014/main" id="{96B1DFF0-C673-F9D0-1D69-86CEF9C08481}"/>
                </a:ext>
              </a:extLst>
            </p:cNvPr>
            <p:cNvSpPr/>
            <p:nvPr/>
          </p:nvSpPr>
          <p:spPr>
            <a:xfrm rot="10800000">
              <a:off x="4738303" y="2514629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42">
              <a:extLst>
                <a:ext uri="{FF2B5EF4-FFF2-40B4-BE49-F238E27FC236}">
                  <a16:creationId xmlns:a16="http://schemas.microsoft.com/office/drawing/2014/main" id="{F2BCDBE3-2343-3888-F039-47666BC09443}"/>
                </a:ext>
              </a:extLst>
            </p:cNvPr>
            <p:cNvSpPr/>
            <p:nvPr/>
          </p:nvSpPr>
          <p:spPr>
            <a:xfrm rot="10800000">
              <a:off x="5149225" y="3660116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42">
              <a:extLst>
                <a:ext uri="{FF2B5EF4-FFF2-40B4-BE49-F238E27FC236}">
                  <a16:creationId xmlns:a16="http://schemas.microsoft.com/office/drawing/2014/main" id="{6F4AAF27-3142-E0A1-71F2-9928E510DDE2}"/>
                </a:ext>
              </a:extLst>
            </p:cNvPr>
            <p:cNvSpPr/>
            <p:nvPr/>
          </p:nvSpPr>
          <p:spPr>
            <a:xfrm rot="10800000">
              <a:off x="4739588" y="3885731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42">
              <a:extLst>
                <a:ext uri="{FF2B5EF4-FFF2-40B4-BE49-F238E27FC236}">
                  <a16:creationId xmlns:a16="http://schemas.microsoft.com/office/drawing/2014/main" id="{16B3332F-1C36-2226-770F-33C00069EB70}"/>
                </a:ext>
              </a:extLst>
            </p:cNvPr>
            <p:cNvSpPr/>
            <p:nvPr/>
          </p:nvSpPr>
          <p:spPr>
            <a:xfrm rot="10800000">
              <a:off x="4739588" y="3427767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2" name="Google Shape;782;p42">
            <a:extLst>
              <a:ext uri="{FF2B5EF4-FFF2-40B4-BE49-F238E27FC236}">
                <a16:creationId xmlns:a16="http://schemas.microsoft.com/office/drawing/2014/main" id="{5A14E107-47EE-7CF9-E4F3-23E7CD44E275}"/>
              </a:ext>
            </a:extLst>
          </p:cNvPr>
          <p:cNvGrpSpPr/>
          <p:nvPr/>
        </p:nvGrpSpPr>
        <p:grpSpPr>
          <a:xfrm>
            <a:off x="5480799" y="3832449"/>
            <a:ext cx="1345775" cy="914755"/>
            <a:chOff x="2264799" y="3654374"/>
            <a:chExt cx="1345775" cy="914755"/>
          </a:xfrm>
        </p:grpSpPr>
        <p:sp>
          <p:nvSpPr>
            <p:cNvPr id="783" name="Google Shape;783;p42">
              <a:extLst>
                <a:ext uri="{FF2B5EF4-FFF2-40B4-BE49-F238E27FC236}">
                  <a16:creationId xmlns:a16="http://schemas.microsoft.com/office/drawing/2014/main" id="{7B5D5BCA-E3BD-390B-73B8-89D4F9F3725D}"/>
                </a:ext>
              </a:extLst>
            </p:cNvPr>
            <p:cNvSpPr/>
            <p:nvPr/>
          </p:nvSpPr>
          <p:spPr>
            <a:xfrm rot="10800000">
              <a:off x="3085574" y="3880062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42">
              <a:extLst>
                <a:ext uri="{FF2B5EF4-FFF2-40B4-BE49-F238E27FC236}">
                  <a16:creationId xmlns:a16="http://schemas.microsoft.com/office/drawing/2014/main" id="{08688180-6C6C-7C71-6B1F-20DD6F3C3B98}"/>
                </a:ext>
              </a:extLst>
            </p:cNvPr>
            <p:cNvSpPr/>
            <p:nvPr/>
          </p:nvSpPr>
          <p:spPr>
            <a:xfrm rot="10800000">
              <a:off x="2675936" y="4111029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42">
              <a:extLst>
                <a:ext uri="{FF2B5EF4-FFF2-40B4-BE49-F238E27FC236}">
                  <a16:creationId xmlns:a16="http://schemas.microsoft.com/office/drawing/2014/main" id="{383493E6-D6BC-9FFB-77E1-406152118D68}"/>
                </a:ext>
              </a:extLst>
            </p:cNvPr>
            <p:cNvSpPr/>
            <p:nvPr/>
          </p:nvSpPr>
          <p:spPr>
            <a:xfrm rot="10800000">
              <a:off x="2674628" y="3654374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42">
              <a:extLst>
                <a:ext uri="{FF2B5EF4-FFF2-40B4-BE49-F238E27FC236}">
                  <a16:creationId xmlns:a16="http://schemas.microsoft.com/office/drawing/2014/main" id="{D204492D-8853-312F-9EBE-E885357A1586}"/>
                </a:ext>
              </a:extLst>
            </p:cNvPr>
            <p:cNvSpPr/>
            <p:nvPr/>
          </p:nvSpPr>
          <p:spPr>
            <a:xfrm rot="10800000">
              <a:off x="2264799" y="3884105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9218" name="Picture 2">
            <a:extLst>
              <a:ext uri="{FF2B5EF4-FFF2-40B4-BE49-F238E27FC236}">
                <a16:creationId xmlns:a16="http://schemas.microsoft.com/office/drawing/2014/main" id="{4334A5BF-9AF2-8250-53B2-7425F943CE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8712" y="1024417"/>
            <a:ext cx="3873888" cy="387747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79970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1">
          <a:extLst>
            <a:ext uri="{FF2B5EF4-FFF2-40B4-BE49-F238E27FC236}">
              <a16:creationId xmlns:a16="http://schemas.microsoft.com/office/drawing/2014/main" id="{AADD12C6-0ABF-7669-0ED8-80C945B29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50">
            <a:extLst>
              <a:ext uri="{FF2B5EF4-FFF2-40B4-BE49-F238E27FC236}">
                <a16:creationId xmlns:a16="http://schemas.microsoft.com/office/drawing/2014/main" id="{2C77AE8C-5BAA-BA79-984A-43EB96DAE3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9695" y="-34929"/>
            <a:ext cx="7422364" cy="10902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Visualizing Emissions by Country</a:t>
            </a:r>
            <a:endParaRPr b="0" dirty="0"/>
          </a:p>
        </p:txBody>
      </p:sp>
      <p:sp>
        <p:nvSpPr>
          <p:cNvPr id="954" name="Google Shape;954;p50">
            <a:extLst>
              <a:ext uri="{FF2B5EF4-FFF2-40B4-BE49-F238E27FC236}">
                <a16:creationId xmlns:a16="http://schemas.microsoft.com/office/drawing/2014/main" id="{854D3261-4D68-72A7-3496-681F9FA467F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45308" y="4156023"/>
            <a:ext cx="4195569" cy="3604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/>
            <a:r>
              <a:rPr lang="en-US" sz="1000" b="1" dirty="0"/>
              <a:t>The figure shows the daily evolution of CO₂ emissions (MtCO₂/day) from 2019 to 2025 for six major emitters: China, the United States, India, Russia, Japan, and Germany.</a:t>
            </a:r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A339DD0C-074A-3E72-FF53-030AD64676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217" y="1360568"/>
            <a:ext cx="4725753" cy="268386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2" name="Picture 2">
            <a:extLst>
              <a:ext uri="{FF2B5EF4-FFF2-40B4-BE49-F238E27FC236}">
                <a16:creationId xmlns:a16="http://schemas.microsoft.com/office/drawing/2014/main" id="{0875FAD3-0C5F-AE26-0A35-93F9C4880E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7658" y="1360568"/>
            <a:ext cx="3736125" cy="268821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954;p50">
            <a:extLst>
              <a:ext uri="{FF2B5EF4-FFF2-40B4-BE49-F238E27FC236}">
                <a16:creationId xmlns:a16="http://schemas.microsoft.com/office/drawing/2014/main" id="{6B1F9712-0B93-EBE2-F217-0ACC9FC2BC69}"/>
              </a:ext>
            </a:extLst>
          </p:cNvPr>
          <p:cNvSpPr txBox="1">
            <a:spLocks/>
          </p:cNvSpPr>
          <p:nvPr/>
        </p:nvSpPr>
        <p:spPr>
          <a:xfrm>
            <a:off x="5157827" y="4156023"/>
            <a:ext cx="3675785" cy="360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/>
            <a:r>
              <a:rPr lang="en-US" sz="1000" b="1" dirty="0"/>
              <a:t>This heatmap shows the average daily CO₂ emissions (in MtCO₂/day) for each country–sector pair</a:t>
            </a:r>
          </a:p>
        </p:txBody>
      </p:sp>
    </p:spTree>
    <p:extLst>
      <p:ext uri="{BB962C8B-B14F-4D97-AF65-F5344CB8AC3E}">
        <p14:creationId xmlns:p14="http://schemas.microsoft.com/office/powerpoint/2010/main" val="11632708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>
          <a:extLst>
            <a:ext uri="{FF2B5EF4-FFF2-40B4-BE49-F238E27FC236}">
              <a16:creationId xmlns:a16="http://schemas.microsoft.com/office/drawing/2014/main" id="{A6629B0E-5EC8-4AD6-FCFD-E42252F5C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40">
            <a:extLst>
              <a:ext uri="{FF2B5EF4-FFF2-40B4-BE49-F238E27FC236}">
                <a16:creationId xmlns:a16="http://schemas.microsoft.com/office/drawing/2014/main" id="{F2F7EFD3-3819-E7A8-7EBA-62E7BC2507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2344050"/>
            <a:ext cx="6592966" cy="92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Anomaly Detection</a:t>
            </a:r>
            <a:endParaRPr dirty="0"/>
          </a:p>
        </p:txBody>
      </p:sp>
      <p:sp>
        <p:nvSpPr>
          <p:cNvPr id="745" name="Google Shape;745;p40">
            <a:extLst>
              <a:ext uri="{FF2B5EF4-FFF2-40B4-BE49-F238E27FC236}">
                <a16:creationId xmlns:a16="http://schemas.microsoft.com/office/drawing/2014/main" id="{072B9582-BC48-B65C-C6A1-CDE88FEF707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3225" y="1353475"/>
            <a:ext cx="1652100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746" name="Google Shape;746;p40">
            <a:extLst>
              <a:ext uri="{FF2B5EF4-FFF2-40B4-BE49-F238E27FC236}">
                <a16:creationId xmlns:a16="http://schemas.microsoft.com/office/drawing/2014/main" id="{EFA81CC1-C21E-B799-A28D-B4D20511CB0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25" y="3415025"/>
            <a:ext cx="50676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Detecting unusual emission patterns through data-driven anomaly identification.</a:t>
            </a:r>
            <a:endParaRPr dirty="0"/>
          </a:p>
        </p:txBody>
      </p:sp>
      <p:cxnSp>
        <p:nvCxnSpPr>
          <p:cNvPr id="747" name="Google Shape;747;p40">
            <a:extLst>
              <a:ext uri="{FF2B5EF4-FFF2-40B4-BE49-F238E27FC236}">
                <a16:creationId xmlns:a16="http://schemas.microsoft.com/office/drawing/2014/main" id="{424703E7-C9A7-BDD5-7C8F-FE63D2015D0D}"/>
              </a:ext>
            </a:extLst>
          </p:cNvPr>
          <p:cNvCxnSpPr/>
          <p:nvPr/>
        </p:nvCxnSpPr>
        <p:spPr>
          <a:xfrm>
            <a:off x="818479" y="3315127"/>
            <a:ext cx="931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532098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>
          <a:extLst>
            <a:ext uri="{FF2B5EF4-FFF2-40B4-BE49-F238E27FC236}">
              <a16:creationId xmlns:a16="http://schemas.microsoft.com/office/drawing/2014/main" id="{86B6D69C-6DF9-09A1-4845-01D1A26CD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42">
            <a:extLst>
              <a:ext uri="{FF2B5EF4-FFF2-40B4-BE49-F238E27FC236}">
                <a16:creationId xmlns:a16="http://schemas.microsoft.com/office/drawing/2014/main" id="{8F75D131-5078-BDC6-3B13-C36A3209E7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1127" y="418975"/>
            <a:ext cx="3425952" cy="6243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Introducing SAX</a:t>
            </a:r>
            <a:endParaRPr dirty="0"/>
          </a:p>
        </p:txBody>
      </p:sp>
      <p:sp>
        <p:nvSpPr>
          <p:cNvPr id="760" name="Google Shape;760;p42">
            <a:extLst>
              <a:ext uri="{FF2B5EF4-FFF2-40B4-BE49-F238E27FC236}">
                <a16:creationId xmlns:a16="http://schemas.microsoft.com/office/drawing/2014/main" id="{1183550A-3035-2D76-882F-CD9D1469E8F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48204" y="1043288"/>
            <a:ext cx="4165995" cy="39611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en-US" sz="1200" dirty="0"/>
              <a:t>To analyze temporal patterns of CO₂ emissions in a more compact and comparable way, we applied the Symbolic Aggregate approXimation (SAX) method.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endParaRPr lang="en-US" sz="1200" dirty="0"/>
          </a:p>
          <a:p>
            <a:pPr marL="0" lvl="0" indent="0">
              <a:spcAft>
                <a:spcPts val="1200"/>
              </a:spcAft>
              <a:buClr>
                <a:schemeClr val="dk1"/>
              </a:buClr>
              <a:buSzPts val="1100"/>
              <a:buNone/>
            </a:pPr>
            <a:r>
              <a:rPr lang="en-US" sz="1200" dirty="0"/>
              <a:t>SAX converts each country’s time series into a symbolic representation by:</a:t>
            </a:r>
          </a:p>
          <a:p>
            <a:pPr>
              <a:buSzPts val="1400"/>
            </a:pPr>
            <a:r>
              <a:rPr lang="en-US" sz="1200" dirty="0"/>
              <a:t>Normalizing the series (zero mean, unit variance);</a:t>
            </a:r>
          </a:p>
          <a:p>
            <a:pPr>
              <a:buSzPts val="1400"/>
            </a:pPr>
            <a:r>
              <a:rPr lang="en-US" sz="1200" dirty="0"/>
              <a:t>Smoothing the signal via a rolling mean (Piecewise Aggregate Approximation, PAA);</a:t>
            </a:r>
          </a:p>
          <a:p>
            <a:pPr>
              <a:buSzPts val="1400"/>
            </a:pPr>
            <a:r>
              <a:rPr lang="en-US" sz="1200" dirty="0"/>
              <a:t>Discretizing the smoothed values into a small set of bins based on normal distribution breakpoints;</a:t>
            </a:r>
          </a:p>
          <a:p>
            <a:pPr>
              <a:buSzPts val="1400"/>
            </a:pPr>
            <a:r>
              <a:rPr lang="en-US" sz="1200" dirty="0"/>
              <a:t>Mapping each bin to a symbol (from ‘a’ to ‘e’).</a:t>
            </a:r>
          </a:p>
          <a:p>
            <a:pPr>
              <a:buSzPts val="1400"/>
            </a:pPr>
            <a:endParaRPr lang="en-US" sz="1200" dirty="0"/>
          </a:p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sz="1200" dirty="0"/>
          </a:p>
        </p:txBody>
      </p:sp>
      <p:grpSp>
        <p:nvGrpSpPr>
          <p:cNvPr id="761" name="Google Shape;761;p42">
            <a:extLst>
              <a:ext uri="{FF2B5EF4-FFF2-40B4-BE49-F238E27FC236}">
                <a16:creationId xmlns:a16="http://schemas.microsoft.com/office/drawing/2014/main" id="{DD2EE27C-7BA6-5B38-B5D5-F5B060D68512}"/>
              </a:ext>
            </a:extLst>
          </p:cNvPr>
          <p:cNvGrpSpPr/>
          <p:nvPr/>
        </p:nvGrpSpPr>
        <p:grpSpPr>
          <a:xfrm>
            <a:off x="5726349" y="445024"/>
            <a:ext cx="2577275" cy="1833510"/>
            <a:chOff x="781874" y="1294774"/>
            <a:chExt cx="2577275" cy="1833510"/>
          </a:xfrm>
        </p:grpSpPr>
        <p:sp>
          <p:nvSpPr>
            <p:cNvPr id="762" name="Google Shape;762;p42">
              <a:extLst>
                <a:ext uri="{FF2B5EF4-FFF2-40B4-BE49-F238E27FC236}">
                  <a16:creationId xmlns:a16="http://schemas.microsoft.com/office/drawing/2014/main" id="{040A97F3-778A-0CE9-5BCE-9F90AA41AF3A}"/>
                </a:ext>
              </a:extLst>
            </p:cNvPr>
            <p:cNvSpPr/>
            <p:nvPr/>
          </p:nvSpPr>
          <p:spPr>
            <a:xfrm rot="10800000">
              <a:off x="2834149" y="1520462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42">
              <a:extLst>
                <a:ext uri="{FF2B5EF4-FFF2-40B4-BE49-F238E27FC236}">
                  <a16:creationId xmlns:a16="http://schemas.microsoft.com/office/drawing/2014/main" id="{8D64B088-7A38-1434-E1CB-1489CAE19C53}"/>
                </a:ext>
              </a:extLst>
            </p:cNvPr>
            <p:cNvSpPr/>
            <p:nvPr/>
          </p:nvSpPr>
          <p:spPr>
            <a:xfrm rot="10800000">
              <a:off x="2424511" y="1751429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42">
              <a:extLst>
                <a:ext uri="{FF2B5EF4-FFF2-40B4-BE49-F238E27FC236}">
                  <a16:creationId xmlns:a16="http://schemas.microsoft.com/office/drawing/2014/main" id="{9AC2C5A3-8B9B-3B51-94FB-1AFAEAFC3800}"/>
                </a:ext>
              </a:extLst>
            </p:cNvPr>
            <p:cNvSpPr/>
            <p:nvPr/>
          </p:nvSpPr>
          <p:spPr>
            <a:xfrm rot="10800000">
              <a:off x="2423203" y="1294774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42">
              <a:extLst>
                <a:ext uri="{FF2B5EF4-FFF2-40B4-BE49-F238E27FC236}">
                  <a16:creationId xmlns:a16="http://schemas.microsoft.com/office/drawing/2014/main" id="{82C1F7B3-8FDD-2A7A-7B5C-E0369FC0032E}"/>
                </a:ext>
              </a:extLst>
            </p:cNvPr>
            <p:cNvSpPr/>
            <p:nvPr/>
          </p:nvSpPr>
          <p:spPr>
            <a:xfrm rot="10800000">
              <a:off x="2013374" y="1524505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42">
              <a:extLst>
                <a:ext uri="{FF2B5EF4-FFF2-40B4-BE49-F238E27FC236}">
                  <a16:creationId xmlns:a16="http://schemas.microsoft.com/office/drawing/2014/main" id="{F0AD6796-2BE9-7DE8-13F8-71DF44EBDC02}"/>
                </a:ext>
              </a:extLst>
            </p:cNvPr>
            <p:cNvSpPr/>
            <p:nvPr/>
          </p:nvSpPr>
          <p:spPr>
            <a:xfrm rot="10800000">
              <a:off x="1601864" y="1754411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42">
              <a:extLst>
                <a:ext uri="{FF2B5EF4-FFF2-40B4-BE49-F238E27FC236}">
                  <a16:creationId xmlns:a16="http://schemas.microsoft.com/office/drawing/2014/main" id="{B7CCF21B-2A84-B758-13DF-7280F68223AE}"/>
                </a:ext>
              </a:extLst>
            </p:cNvPr>
            <p:cNvSpPr/>
            <p:nvPr/>
          </p:nvSpPr>
          <p:spPr>
            <a:xfrm rot="10800000">
              <a:off x="2008925" y="2444203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42">
              <a:extLst>
                <a:ext uri="{FF2B5EF4-FFF2-40B4-BE49-F238E27FC236}">
                  <a16:creationId xmlns:a16="http://schemas.microsoft.com/office/drawing/2014/main" id="{1358AF92-36D3-2A9F-B2DC-463AB2DEE4A9}"/>
                </a:ext>
              </a:extLst>
            </p:cNvPr>
            <p:cNvSpPr/>
            <p:nvPr/>
          </p:nvSpPr>
          <p:spPr>
            <a:xfrm rot="10800000">
              <a:off x="1599288" y="2669819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42">
              <a:extLst>
                <a:ext uri="{FF2B5EF4-FFF2-40B4-BE49-F238E27FC236}">
                  <a16:creationId xmlns:a16="http://schemas.microsoft.com/office/drawing/2014/main" id="{84D19F8C-054C-E700-2CAE-04152FAB0998}"/>
                </a:ext>
              </a:extLst>
            </p:cNvPr>
            <p:cNvSpPr/>
            <p:nvPr/>
          </p:nvSpPr>
          <p:spPr>
            <a:xfrm rot="10800000">
              <a:off x="1599288" y="2211855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42">
              <a:extLst>
                <a:ext uri="{FF2B5EF4-FFF2-40B4-BE49-F238E27FC236}">
                  <a16:creationId xmlns:a16="http://schemas.microsoft.com/office/drawing/2014/main" id="{36962B92-22B7-D891-3A19-A39C9D5C669E}"/>
                </a:ext>
              </a:extLst>
            </p:cNvPr>
            <p:cNvSpPr/>
            <p:nvPr/>
          </p:nvSpPr>
          <p:spPr>
            <a:xfrm rot="10800000">
              <a:off x="1190767" y="2441586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42">
              <a:extLst>
                <a:ext uri="{FF2B5EF4-FFF2-40B4-BE49-F238E27FC236}">
                  <a16:creationId xmlns:a16="http://schemas.microsoft.com/office/drawing/2014/main" id="{37BC2A76-D42D-358E-D27C-9CDD8FA3B425}"/>
                </a:ext>
              </a:extLst>
            </p:cNvPr>
            <p:cNvSpPr/>
            <p:nvPr/>
          </p:nvSpPr>
          <p:spPr>
            <a:xfrm rot="10800000">
              <a:off x="781874" y="2670184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2" name="Google Shape;772;p42">
            <a:extLst>
              <a:ext uri="{FF2B5EF4-FFF2-40B4-BE49-F238E27FC236}">
                <a16:creationId xmlns:a16="http://schemas.microsoft.com/office/drawing/2014/main" id="{FD7B9642-3F8C-DEFD-06B0-EF7758CB1826}"/>
              </a:ext>
            </a:extLst>
          </p:cNvPr>
          <p:cNvGrpSpPr/>
          <p:nvPr/>
        </p:nvGrpSpPr>
        <p:grpSpPr>
          <a:xfrm>
            <a:off x="6483389" y="2806055"/>
            <a:ext cx="936510" cy="688006"/>
            <a:chOff x="3235964" y="2587955"/>
            <a:chExt cx="936510" cy="688006"/>
          </a:xfrm>
        </p:grpSpPr>
        <p:sp>
          <p:nvSpPr>
            <p:cNvPr id="773" name="Google Shape;773;p42">
              <a:extLst>
                <a:ext uri="{FF2B5EF4-FFF2-40B4-BE49-F238E27FC236}">
                  <a16:creationId xmlns:a16="http://schemas.microsoft.com/office/drawing/2014/main" id="{93C148CD-8ABD-C28D-620A-66BF2C3E785B}"/>
                </a:ext>
              </a:extLst>
            </p:cNvPr>
            <p:cNvSpPr/>
            <p:nvPr/>
          </p:nvSpPr>
          <p:spPr>
            <a:xfrm rot="10800000">
              <a:off x="3647474" y="2587955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42">
              <a:extLst>
                <a:ext uri="{FF2B5EF4-FFF2-40B4-BE49-F238E27FC236}">
                  <a16:creationId xmlns:a16="http://schemas.microsoft.com/office/drawing/2014/main" id="{0C83478D-7CB4-69C4-83CA-5429C4D3500A}"/>
                </a:ext>
              </a:extLst>
            </p:cNvPr>
            <p:cNvSpPr/>
            <p:nvPr/>
          </p:nvSpPr>
          <p:spPr>
            <a:xfrm rot="10800000">
              <a:off x="3235964" y="2817861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5" name="Google Shape;775;p42">
            <a:extLst>
              <a:ext uri="{FF2B5EF4-FFF2-40B4-BE49-F238E27FC236}">
                <a16:creationId xmlns:a16="http://schemas.microsoft.com/office/drawing/2014/main" id="{56D7C6E8-E542-5512-9630-27F221DF1F08}"/>
              </a:ext>
            </a:extLst>
          </p:cNvPr>
          <p:cNvGrpSpPr/>
          <p:nvPr/>
        </p:nvGrpSpPr>
        <p:grpSpPr>
          <a:xfrm>
            <a:off x="7786678" y="2810729"/>
            <a:ext cx="935946" cy="1829202"/>
            <a:chOff x="4738303" y="2514629"/>
            <a:chExt cx="935946" cy="1829202"/>
          </a:xfrm>
        </p:grpSpPr>
        <p:sp>
          <p:nvSpPr>
            <p:cNvPr id="776" name="Google Shape;776;p42">
              <a:extLst>
                <a:ext uri="{FF2B5EF4-FFF2-40B4-BE49-F238E27FC236}">
                  <a16:creationId xmlns:a16="http://schemas.microsoft.com/office/drawing/2014/main" id="{054ADE25-4576-BA1E-B3D4-AECDFBCA2535}"/>
                </a:ext>
              </a:extLst>
            </p:cNvPr>
            <p:cNvSpPr/>
            <p:nvPr/>
          </p:nvSpPr>
          <p:spPr>
            <a:xfrm rot="10800000">
              <a:off x="5149249" y="2740318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42">
              <a:extLst>
                <a:ext uri="{FF2B5EF4-FFF2-40B4-BE49-F238E27FC236}">
                  <a16:creationId xmlns:a16="http://schemas.microsoft.com/office/drawing/2014/main" id="{5B3A01EC-DD19-4F0A-35BA-A7F8A1DFB049}"/>
                </a:ext>
              </a:extLst>
            </p:cNvPr>
            <p:cNvSpPr/>
            <p:nvPr/>
          </p:nvSpPr>
          <p:spPr>
            <a:xfrm rot="10800000">
              <a:off x="4739611" y="2971284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42">
              <a:extLst>
                <a:ext uri="{FF2B5EF4-FFF2-40B4-BE49-F238E27FC236}">
                  <a16:creationId xmlns:a16="http://schemas.microsoft.com/office/drawing/2014/main" id="{310BC137-327A-55BF-998A-18AD7899EB64}"/>
                </a:ext>
              </a:extLst>
            </p:cNvPr>
            <p:cNvSpPr/>
            <p:nvPr/>
          </p:nvSpPr>
          <p:spPr>
            <a:xfrm rot="10800000">
              <a:off x="4738303" y="2514629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42">
              <a:extLst>
                <a:ext uri="{FF2B5EF4-FFF2-40B4-BE49-F238E27FC236}">
                  <a16:creationId xmlns:a16="http://schemas.microsoft.com/office/drawing/2014/main" id="{5C265D19-53A0-AB8B-2EDC-F10EC5A7CA3A}"/>
                </a:ext>
              </a:extLst>
            </p:cNvPr>
            <p:cNvSpPr/>
            <p:nvPr/>
          </p:nvSpPr>
          <p:spPr>
            <a:xfrm rot="10800000">
              <a:off x="5149225" y="3660116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42">
              <a:extLst>
                <a:ext uri="{FF2B5EF4-FFF2-40B4-BE49-F238E27FC236}">
                  <a16:creationId xmlns:a16="http://schemas.microsoft.com/office/drawing/2014/main" id="{75AAFE1A-9995-7012-9E36-B400ADB7F6C7}"/>
                </a:ext>
              </a:extLst>
            </p:cNvPr>
            <p:cNvSpPr/>
            <p:nvPr/>
          </p:nvSpPr>
          <p:spPr>
            <a:xfrm rot="10800000">
              <a:off x="4739588" y="3885731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42">
              <a:extLst>
                <a:ext uri="{FF2B5EF4-FFF2-40B4-BE49-F238E27FC236}">
                  <a16:creationId xmlns:a16="http://schemas.microsoft.com/office/drawing/2014/main" id="{956CB886-CA0F-01FA-C490-4475BC368A37}"/>
                </a:ext>
              </a:extLst>
            </p:cNvPr>
            <p:cNvSpPr/>
            <p:nvPr/>
          </p:nvSpPr>
          <p:spPr>
            <a:xfrm rot="10800000">
              <a:off x="4739588" y="3427767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2" name="Google Shape;782;p42">
            <a:extLst>
              <a:ext uri="{FF2B5EF4-FFF2-40B4-BE49-F238E27FC236}">
                <a16:creationId xmlns:a16="http://schemas.microsoft.com/office/drawing/2014/main" id="{1DB15649-F1E1-7AA0-83F9-93A737B97CC6}"/>
              </a:ext>
            </a:extLst>
          </p:cNvPr>
          <p:cNvGrpSpPr/>
          <p:nvPr/>
        </p:nvGrpSpPr>
        <p:grpSpPr>
          <a:xfrm>
            <a:off x="5480799" y="3832449"/>
            <a:ext cx="1345775" cy="914755"/>
            <a:chOff x="2264799" y="3654374"/>
            <a:chExt cx="1345775" cy="914755"/>
          </a:xfrm>
        </p:grpSpPr>
        <p:sp>
          <p:nvSpPr>
            <p:cNvPr id="783" name="Google Shape;783;p42">
              <a:extLst>
                <a:ext uri="{FF2B5EF4-FFF2-40B4-BE49-F238E27FC236}">
                  <a16:creationId xmlns:a16="http://schemas.microsoft.com/office/drawing/2014/main" id="{E0E45045-87F4-D688-6C30-048BF8037805}"/>
                </a:ext>
              </a:extLst>
            </p:cNvPr>
            <p:cNvSpPr/>
            <p:nvPr/>
          </p:nvSpPr>
          <p:spPr>
            <a:xfrm rot="10800000">
              <a:off x="3085574" y="3880062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42">
              <a:extLst>
                <a:ext uri="{FF2B5EF4-FFF2-40B4-BE49-F238E27FC236}">
                  <a16:creationId xmlns:a16="http://schemas.microsoft.com/office/drawing/2014/main" id="{083B511D-0B4F-EEA1-CDAF-61AACE85C820}"/>
                </a:ext>
              </a:extLst>
            </p:cNvPr>
            <p:cNvSpPr/>
            <p:nvPr/>
          </p:nvSpPr>
          <p:spPr>
            <a:xfrm rot="10800000">
              <a:off x="2675936" y="4111029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42">
              <a:extLst>
                <a:ext uri="{FF2B5EF4-FFF2-40B4-BE49-F238E27FC236}">
                  <a16:creationId xmlns:a16="http://schemas.microsoft.com/office/drawing/2014/main" id="{4518FD1C-673E-25B8-6F24-C2C6D8E1CAE9}"/>
                </a:ext>
              </a:extLst>
            </p:cNvPr>
            <p:cNvSpPr/>
            <p:nvPr/>
          </p:nvSpPr>
          <p:spPr>
            <a:xfrm rot="10800000">
              <a:off x="2674628" y="3654374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42">
              <a:extLst>
                <a:ext uri="{FF2B5EF4-FFF2-40B4-BE49-F238E27FC236}">
                  <a16:creationId xmlns:a16="http://schemas.microsoft.com/office/drawing/2014/main" id="{6921611F-C845-5AD0-A950-446400CBBFFA}"/>
                </a:ext>
              </a:extLst>
            </p:cNvPr>
            <p:cNvSpPr/>
            <p:nvPr/>
          </p:nvSpPr>
          <p:spPr>
            <a:xfrm rot="10800000">
              <a:off x="2264799" y="3884105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Immagine 2">
            <a:extLst>
              <a:ext uri="{FF2B5EF4-FFF2-40B4-BE49-F238E27FC236}">
                <a16:creationId xmlns:a16="http://schemas.microsoft.com/office/drawing/2014/main" id="{F5636C0D-C45B-C79C-B675-E7E4991B481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0878" y="418975"/>
            <a:ext cx="4334918" cy="437819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29421606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1">
          <a:extLst>
            <a:ext uri="{FF2B5EF4-FFF2-40B4-BE49-F238E27FC236}">
              <a16:creationId xmlns:a16="http://schemas.microsoft.com/office/drawing/2014/main" id="{337B8A61-C000-7334-8E88-9B47FDC0B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50">
            <a:extLst>
              <a:ext uri="{FF2B5EF4-FFF2-40B4-BE49-F238E27FC236}">
                <a16:creationId xmlns:a16="http://schemas.microsoft.com/office/drawing/2014/main" id="{E0D35672-1939-24FF-101F-AA2F64AA14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2458" y="167565"/>
            <a:ext cx="7503443" cy="62736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Plotting SAX </a:t>
            </a:r>
            <a:r>
              <a:rPr lang="it-IT" dirty="0" err="1"/>
              <a:t>Sequences</a:t>
            </a:r>
            <a:r>
              <a:rPr lang="it-IT" dirty="0"/>
              <a:t> (</a:t>
            </a:r>
            <a:r>
              <a:rPr lang="it-IT" dirty="0" err="1"/>
              <a:t>Heatmap</a:t>
            </a:r>
            <a:r>
              <a:rPr lang="it-IT" dirty="0"/>
              <a:t>)</a:t>
            </a:r>
            <a:endParaRPr b="0" dirty="0"/>
          </a:p>
        </p:txBody>
      </p:sp>
      <p:sp>
        <p:nvSpPr>
          <p:cNvPr id="954" name="Google Shape;954;p50">
            <a:extLst>
              <a:ext uri="{FF2B5EF4-FFF2-40B4-BE49-F238E27FC236}">
                <a16:creationId xmlns:a16="http://schemas.microsoft.com/office/drawing/2014/main" id="{182544EB-7021-7546-476C-95CDE64A0E8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831363" y="4615475"/>
            <a:ext cx="5700050" cy="4573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/>
            <a:r>
              <a:rPr lang="en-US" sz="1000" dirty="0"/>
              <a:t>The heatmap shows the evolution of these symbolic sequences over time, where colors represent the relative emission levels within each country's historical context.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D61CE60E-315F-9584-1222-C5DF724886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4164" y="811993"/>
            <a:ext cx="5574447" cy="378641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39197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1">
          <a:extLst>
            <a:ext uri="{FF2B5EF4-FFF2-40B4-BE49-F238E27FC236}">
              <a16:creationId xmlns:a16="http://schemas.microsoft.com/office/drawing/2014/main" id="{D786FE89-375F-5048-81AD-3B02B8570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41">
            <a:extLst>
              <a:ext uri="{FF2B5EF4-FFF2-40B4-BE49-F238E27FC236}">
                <a16:creationId xmlns:a16="http://schemas.microsoft.com/office/drawing/2014/main" id="{6B2718D2-DAAF-F1E7-6231-B2C95A7776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9546" y="345590"/>
            <a:ext cx="374407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it-IT" sz="2800" dirty="0"/>
              <a:t>Anomaly Detection </a:t>
            </a:r>
            <a:r>
              <a:rPr lang="it-IT" sz="2800" b="0" dirty="0"/>
              <a:t>by using SAX</a:t>
            </a:r>
          </a:p>
        </p:txBody>
      </p:sp>
      <p:sp>
        <p:nvSpPr>
          <p:cNvPr id="754" name="Google Shape;754;p41">
            <a:extLst>
              <a:ext uri="{FF2B5EF4-FFF2-40B4-BE49-F238E27FC236}">
                <a16:creationId xmlns:a16="http://schemas.microsoft.com/office/drawing/2014/main" id="{5E82D055-C8E2-C4EC-3B62-D9AF9DDDFA7B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208251" y="1343757"/>
            <a:ext cx="3683580" cy="34541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900" dirty="0"/>
              <a:t>Basing on the Symbolic Aggregate approXimation (SAX) representation, we apply an anomaly detection technique. After converting each country’s CO₂ emission time series into symbolic sequences (with symbols from a to e), we search for unusual patterns that rarely occur in the historical data.</a:t>
            </a:r>
          </a:p>
          <a:p>
            <a:pPr marL="228600" lvl="0" indent="-228600" algn="just" rtl="0">
              <a:spcBef>
                <a:spcPts val="0"/>
              </a:spcBef>
              <a:spcAft>
                <a:spcPts val="1200"/>
              </a:spcAft>
              <a:buClr>
                <a:srgbClr val="00DFDF"/>
              </a:buClr>
              <a:buSzPct val="100000"/>
              <a:buFont typeface="+mj-lt"/>
              <a:buAutoNum type="arabicPeriod"/>
            </a:pPr>
            <a:r>
              <a:rPr lang="en-US" sz="900" dirty="0"/>
              <a:t>We split each symbolic sequence into small overlapping patterns of length n (called n-grams).</a:t>
            </a:r>
          </a:p>
          <a:p>
            <a:pPr marL="228600" indent="-228600" algn="just">
              <a:spcAft>
                <a:spcPts val="1200"/>
              </a:spcAft>
              <a:buClr>
                <a:srgbClr val="00DFDF"/>
              </a:buClr>
              <a:buSzPct val="100000"/>
              <a:buFont typeface="+mj-lt"/>
              <a:buAutoNum type="arabicPeriod"/>
            </a:pPr>
            <a:r>
              <a:rPr lang="en-US" sz="900" dirty="0"/>
              <a:t>We estimate the frequency of each pattern across all countries and compute its probability with Laplace smoothing.</a:t>
            </a:r>
          </a:p>
          <a:p>
            <a:pPr marL="228600" indent="-228600" algn="just">
              <a:spcAft>
                <a:spcPts val="1200"/>
              </a:spcAft>
              <a:buClr>
                <a:srgbClr val="00DFDF"/>
              </a:buClr>
              <a:buSzPct val="100000"/>
              <a:buFont typeface="+mj-lt"/>
              <a:buAutoNum type="arabicPeriod"/>
            </a:pPr>
            <a:r>
              <a:rPr lang="en-US" sz="900" dirty="0"/>
              <a:t>Each window of the series receives an anomaly score equal to the negative logarithm of its pattern probability ( − log p ). The higher the score, the more unusual the local behavior of emissions.</a:t>
            </a:r>
          </a:p>
          <a:p>
            <a:pPr marL="228600" indent="-228600" algn="just">
              <a:spcAft>
                <a:spcPts val="1200"/>
              </a:spcAft>
              <a:buClr>
                <a:srgbClr val="00DFDF"/>
              </a:buClr>
              <a:buSzPct val="100000"/>
              <a:buFont typeface="+mj-lt"/>
              <a:buAutoNum type="arabicPeriod"/>
            </a:pPr>
            <a:r>
              <a:rPr lang="en-US" sz="900" dirty="0"/>
              <a:t>We then identify and visualize the top-k anomalous windows (the rarest symbolic patterns) for both the global emissions (WORLD) and a selected country (Italy).</a:t>
            </a:r>
          </a:p>
          <a:p>
            <a:pPr marL="228600" indent="-228600" algn="just">
              <a:spcAft>
                <a:spcPts val="1200"/>
              </a:spcAft>
              <a:buClr>
                <a:srgbClr val="00DFDF"/>
              </a:buClr>
              <a:buSzPct val="100000"/>
              <a:buFont typeface="+mj-lt"/>
              <a:buAutoNum type="arabicPeriod"/>
            </a:pPr>
            <a:endParaRPr lang="en-US" sz="700" dirty="0"/>
          </a:p>
          <a:p>
            <a:pPr marL="228600" indent="-228600" algn="just">
              <a:spcAft>
                <a:spcPts val="1200"/>
              </a:spcAft>
              <a:buClr>
                <a:srgbClr val="00DFDF"/>
              </a:buClr>
              <a:buSzPct val="100000"/>
              <a:buFont typeface="+mj-lt"/>
              <a:buAutoNum type="arabicPeriod"/>
            </a:pPr>
            <a:endParaRPr lang="en-US" sz="700" dirty="0"/>
          </a:p>
          <a:p>
            <a:pPr marL="228600" lvl="0" indent="-228600" algn="just" rtl="0">
              <a:spcBef>
                <a:spcPts val="0"/>
              </a:spcBef>
              <a:spcAft>
                <a:spcPts val="1200"/>
              </a:spcAft>
              <a:buClr>
                <a:srgbClr val="00DFDF"/>
              </a:buClr>
              <a:buSzPct val="100000"/>
              <a:buFont typeface="+mj-lt"/>
              <a:buAutoNum type="arabicPeriod"/>
            </a:pPr>
            <a:endParaRPr lang="en-US" sz="700" dirty="0"/>
          </a:p>
          <a:p>
            <a:pPr marL="0" lvl="0" indent="0" algn="just" rtl="0">
              <a:spcBef>
                <a:spcPts val="0"/>
              </a:spcBef>
              <a:spcAft>
                <a:spcPts val="1200"/>
              </a:spcAft>
              <a:buNone/>
            </a:pPr>
            <a:endParaRPr lang="en-US" sz="700" dirty="0"/>
          </a:p>
          <a:p>
            <a:pPr marL="0" lvl="0" indent="0" algn="just" rtl="0">
              <a:spcBef>
                <a:spcPts val="0"/>
              </a:spcBef>
              <a:spcAft>
                <a:spcPts val="1200"/>
              </a:spcAft>
              <a:buNone/>
            </a:pPr>
            <a:endParaRPr lang="en-US" sz="700" dirty="0"/>
          </a:p>
          <a:p>
            <a:pPr marL="0" lvl="0" indent="0" algn="just" rtl="0">
              <a:spcBef>
                <a:spcPts val="0"/>
              </a:spcBef>
              <a:spcAft>
                <a:spcPts val="1200"/>
              </a:spcAft>
              <a:buNone/>
            </a:pPr>
            <a:endParaRPr lang="en-US" sz="700" dirty="0"/>
          </a:p>
          <a:p>
            <a:pPr marL="0" lvl="0" indent="0" algn="just" rtl="0">
              <a:spcBef>
                <a:spcPts val="0"/>
              </a:spcBef>
              <a:spcAft>
                <a:spcPts val="1200"/>
              </a:spcAft>
              <a:buNone/>
            </a:pPr>
            <a:endParaRPr lang="en-US" sz="700" dirty="0"/>
          </a:p>
        </p:txBody>
      </p:sp>
      <p:pic>
        <p:nvPicPr>
          <p:cNvPr id="12292" name="Picture 4">
            <a:extLst>
              <a:ext uri="{FF2B5EF4-FFF2-40B4-BE49-F238E27FC236}">
                <a16:creationId xmlns:a16="http://schemas.microsoft.com/office/drawing/2014/main" id="{ECB6FDC2-CE39-4E15-D488-18CD3BC20D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2548" y="526847"/>
            <a:ext cx="4824249" cy="198665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>
            <a:extLst>
              <a:ext uri="{FF2B5EF4-FFF2-40B4-BE49-F238E27FC236}">
                <a16:creationId xmlns:a16="http://schemas.microsoft.com/office/drawing/2014/main" id="{B1A40BEA-3147-2FA4-C83D-70AD03EF68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2548" y="2712327"/>
            <a:ext cx="4824249" cy="198832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43113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1">
          <a:extLst>
            <a:ext uri="{FF2B5EF4-FFF2-40B4-BE49-F238E27FC236}">
              <a16:creationId xmlns:a16="http://schemas.microsoft.com/office/drawing/2014/main" id="{83F5FF58-F272-D1B2-BE11-1B8DF8527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50">
            <a:extLst>
              <a:ext uri="{FF2B5EF4-FFF2-40B4-BE49-F238E27FC236}">
                <a16:creationId xmlns:a16="http://schemas.microsoft.com/office/drawing/2014/main" id="{CFCD92A1-4D73-C977-5C2B-E7DBA3CC9E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0217" y="239485"/>
            <a:ext cx="5820137" cy="10902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 err="1"/>
              <a:t>Structural</a:t>
            </a:r>
            <a:r>
              <a:rPr lang="it-IT" dirty="0"/>
              <a:t> Break Detection</a:t>
            </a:r>
            <a:br>
              <a:rPr lang="it-IT" dirty="0"/>
            </a:br>
            <a:r>
              <a:rPr lang="it-IT" b="0" dirty="0"/>
              <a:t>using CUSUM test</a:t>
            </a:r>
            <a:endParaRPr b="0" dirty="0"/>
          </a:p>
        </p:txBody>
      </p:sp>
      <p:sp>
        <p:nvSpPr>
          <p:cNvPr id="954" name="Google Shape;954;p50">
            <a:extLst>
              <a:ext uri="{FF2B5EF4-FFF2-40B4-BE49-F238E27FC236}">
                <a16:creationId xmlns:a16="http://schemas.microsoft.com/office/drawing/2014/main" id="{49164360-FF6C-03ED-3B0C-FA44F45F41C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80217" y="1604228"/>
            <a:ext cx="2301874" cy="26901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/>
            <a:r>
              <a:rPr lang="en-US" sz="900" dirty="0"/>
              <a:t>The CUSUM (Cumulative Sum of Residuals) test was used to detect structural breaks in the global CO</a:t>
            </a:r>
            <a:r>
              <a:rPr lang="en-US" sz="900" baseline="-25000" dirty="0"/>
              <a:t>2</a:t>
            </a:r>
            <a:r>
              <a:rPr lang="en-US" sz="900" dirty="0"/>
              <a:t> emission trend.</a:t>
            </a:r>
          </a:p>
          <a:p>
            <a:pPr marL="0" lvl="0" indent="0" algn="ctr"/>
            <a:endParaRPr lang="en-US" sz="900" dirty="0"/>
          </a:p>
          <a:p>
            <a:pPr marL="0" lvl="0" indent="0" algn="ctr"/>
            <a:r>
              <a:rPr lang="en-US" sz="900" dirty="0"/>
              <a:t>The method fits a linear model and checks if the cumulative sum of residuals deviates significantly from zero, which is shown by crossing the 95% confidence bands.</a:t>
            </a:r>
          </a:p>
          <a:p>
            <a:pPr marL="0" lvl="0" indent="0" algn="ctr"/>
            <a:endParaRPr lang="en-US" sz="900" dirty="0"/>
          </a:p>
          <a:p>
            <a:pPr marL="0" lvl="0" indent="0" algn="ctr"/>
            <a:r>
              <a:rPr lang="en-US" sz="900" dirty="0"/>
              <a:t>A major breakpoint was detected in early 2020, consistent with the sharp drop in emissions during the COVID-19 lockdowns. Following this point, the CUSUM statistic stabilized, indicating a new emission regime.</a:t>
            </a:r>
            <a:endParaRPr lang="it-IT" sz="1000" dirty="0"/>
          </a:p>
        </p:txBody>
      </p:sp>
      <p:pic>
        <p:nvPicPr>
          <p:cNvPr id="11268" name="Picture 4">
            <a:extLst>
              <a:ext uri="{FF2B5EF4-FFF2-40B4-BE49-F238E27FC236}">
                <a16:creationId xmlns:a16="http://schemas.microsoft.com/office/drawing/2014/main" id="{907D35D3-BACF-6353-1203-CE419163D0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5224" y="1734575"/>
            <a:ext cx="6210900" cy="255983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46025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>
          <a:extLst>
            <a:ext uri="{FF2B5EF4-FFF2-40B4-BE49-F238E27FC236}">
              <a16:creationId xmlns:a16="http://schemas.microsoft.com/office/drawing/2014/main" id="{4F094BBB-4F56-3848-7543-F2188C77D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40">
            <a:extLst>
              <a:ext uri="{FF2B5EF4-FFF2-40B4-BE49-F238E27FC236}">
                <a16:creationId xmlns:a16="http://schemas.microsoft.com/office/drawing/2014/main" id="{D995279D-40AD-DB64-C36D-EBDE145531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2344050"/>
            <a:ext cx="6845214" cy="92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Clustering Analysis</a:t>
            </a:r>
            <a:endParaRPr dirty="0"/>
          </a:p>
        </p:txBody>
      </p:sp>
      <p:sp>
        <p:nvSpPr>
          <p:cNvPr id="745" name="Google Shape;745;p40">
            <a:extLst>
              <a:ext uri="{FF2B5EF4-FFF2-40B4-BE49-F238E27FC236}">
                <a16:creationId xmlns:a16="http://schemas.microsoft.com/office/drawing/2014/main" id="{86349055-F7BB-78F4-91F0-73C7D019ED8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3225" y="1353475"/>
            <a:ext cx="1652100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746" name="Google Shape;746;p40">
            <a:extLst>
              <a:ext uri="{FF2B5EF4-FFF2-40B4-BE49-F238E27FC236}">
                <a16:creationId xmlns:a16="http://schemas.microsoft.com/office/drawing/2014/main" id="{3D5E48AB-C811-DB88-3F60-F9029053044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25" y="3415024"/>
            <a:ext cx="7885739" cy="8648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Two complementary clustering approaches are explored basing on: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Temporal Evolution of Emissions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Magnitude of Emissions</a:t>
            </a:r>
            <a:endParaRPr sz="1200" dirty="0"/>
          </a:p>
        </p:txBody>
      </p:sp>
      <p:cxnSp>
        <p:nvCxnSpPr>
          <p:cNvPr id="747" name="Google Shape;747;p40">
            <a:extLst>
              <a:ext uri="{FF2B5EF4-FFF2-40B4-BE49-F238E27FC236}">
                <a16:creationId xmlns:a16="http://schemas.microsoft.com/office/drawing/2014/main" id="{39D3A7C2-4FBE-F3CF-E6C1-9CFF0EF5F9C6}"/>
              </a:ext>
            </a:extLst>
          </p:cNvPr>
          <p:cNvCxnSpPr/>
          <p:nvPr/>
        </p:nvCxnSpPr>
        <p:spPr>
          <a:xfrm>
            <a:off x="818479" y="3315127"/>
            <a:ext cx="931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9145129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>
          <a:extLst>
            <a:ext uri="{FF2B5EF4-FFF2-40B4-BE49-F238E27FC236}">
              <a16:creationId xmlns:a16="http://schemas.microsoft.com/office/drawing/2014/main" id="{E4C78BF7-01AF-7E01-5AD0-9589BC728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42">
            <a:extLst>
              <a:ext uri="{FF2B5EF4-FFF2-40B4-BE49-F238E27FC236}">
                <a16:creationId xmlns:a16="http://schemas.microsoft.com/office/drawing/2014/main" id="{00DAB390-3915-C828-5E88-D9497D09C4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2389" y="181663"/>
            <a:ext cx="5425222" cy="8429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Clustering analysis based on </a:t>
            </a:r>
            <a:r>
              <a:rPr lang="en-US" sz="2400" b="0" dirty="0"/>
              <a:t>temporal evolution of emissions</a:t>
            </a:r>
            <a:endParaRPr sz="2400" b="0" dirty="0"/>
          </a:p>
        </p:txBody>
      </p:sp>
      <p:sp>
        <p:nvSpPr>
          <p:cNvPr id="760" name="Google Shape;760;p42">
            <a:extLst>
              <a:ext uri="{FF2B5EF4-FFF2-40B4-BE49-F238E27FC236}">
                <a16:creationId xmlns:a16="http://schemas.microsoft.com/office/drawing/2014/main" id="{A52DA0E5-F002-537D-9EB7-A286AC62A89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35206" y="1310040"/>
            <a:ext cx="4165995" cy="34371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sz="1000" dirty="0"/>
          </a:p>
          <a:p>
            <a:pPr marL="368300" lvl="0" indent="-228600" algn="l" rtl="0">
              <a:spcBef>
                <a:spcPts val="0"/>
              </a:spcBef>
              <a:spcAft>
                <a:spcPts val="600"/>
              </a:spcAft>
              <a:buSzPts val="1400"/>
              <a:buFont typeface="+mj-lt"/>
              <a:buAutoNum type="arabicPeriod"/>
            </a:pPr>
            <a:r>
              <a:rPr lang="en-US" sz="1000" dirty="0"/>
              <a:t>Time series were first standardized (z-score) to remove differences in magnitude, focusing the analysis on relative temporal fluctuations;</a:t>
            </a:r>
          </a:p>
          <a:p>
            <a:pPr marL="368300" indent="-228600">
              <a:spcAft>
                <a:spcPts val="600"/>
              </a:spcAft>
              <a:buSzPts val="1400"/>
              <a:buFont typeface="+mj-lt"/>
              <a:buAutoNum type="arabicPeriod"/>
            </a:pPr>
            <a:r>
              <a:rPr lang="en-US" sz="1000" dirty="0"/>
              <a:t>Principal Component Analysis (PCA) was then applied to the standardized data to reduce dimensionality while retaining 95% of the variance;</a:t>
            </a:r>
          </a:p>
          <a:p>
            <a:pPr marL="368300" indent="-228600">
              <a:spcAft>
                <a:spcPts val="600"/>
              </a:spcAft>
              <a:buSzPts val="1400"/>
              <a:buFont typeface="+mj-lt"/>
              <a:buAutoNum type="arabicPeriod"/>
            </a:pPr>
            <a:r>
              <a:rPr lang="en-US" sz="1000" dirty="0"/>
              <a:t>Finally, the K-Means algorithm was used on this reduced representation to identify clusters of countries with similar emission trajectories;</a:t>
            </a:r>
          </a:p>
          <a:p>
            <a:pPr marL="368300" lvl="0" indent="-228600" algn="l" rtl="0">
              <a:spcBef>
                <a:spcPts val="0"/>
              </a:spcBef>
              <a:spcAft>
                <a:spcPts val="600"/>
              </a:spcAft>
              <a:buSzPts val="1400"/>
              <a:buFont typeface="+mj-lt"/>
              <a:buAutoNum type="arabicPeriod"/>
            </a:pPr>
            <a:r>
              <a:rPr lang="en-US" sz="1000" dirty="0"/>
              <a:t>The optimal number of clusters was determined by combining the </a:t>
            </a:r>
            <a:r>
              <a:rPr lang="en-US" sz="1000" b="1" dirty="0"/>
              <a:t>Elbow and Silhouette methods</a:t>
            </a:r>
            <a:r>
              <a:rPr lang="en-US" sz="1000" dirty="0"/>
              <a:t>, balancing compactness, separation, and interpretability.</a:t>
            </a:r>
          </a:p>
        </p:txBody>
      </p:sp>
      <p:grpSp>
        <p:nvGrpSpPr>
          <p:cNvPr id="761" name="Google Shape;761;p42">
            <a:extLst>
              <a:ext uri="{FF2B5EF4-FFF2-40B4-BE49-F238E27FC236}">
                <a16:creationId xmlns:a16="http://schemas.microsoft.com/office/drawing/2014/main" id="{8EB8C1FA-7443-7E22-1A25-0A86B6B5AE83}"/>
              </a:ext>
            </a:extLst>
          </p:cNvPr>
          <p:cNvGrpSpPr/>
          <p:nvPr/>
        </p:nvGrpSpPr>
        <p:grpSpPr>
          <a:xfrm>
            <a:off x="5726349" y="445024"/>
            <a:ext cx="2577275" cy="1833510"/>
            <a:chOff x="781874" y="1294774"/>
            <a:chExt cx="2577275" cy="1833510"/>
          </a:xfrm>
        </p:grpSpPr>
        <p:sp>
          <p:nvSpPr>
            <p:cNvPr id="762" name="Google Shape;762;p42">
              <a:extLst>
                <a:ext uri="{FF2B5EF4-FFF2-40B4-BE49-F238E27FC236}">
                  <a16:creationId xmlns:a16="http://schemas.microsoft.com/office/drawing/2014/main" id="{5C8F8C1D-8813-BE0D-994C-3C4A20D25F9A}"/>
                </a:ext>
              </a:extLst>
            </p:cNvPr>
            <p:cNvSpPr/>
            <p:nvPr/>
          </p:nvSpPr>
          <p:spPr>
            <a:xfrm rot="10800000">
              <a:off x="2834149" y="1520462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42">
              <a:extLst>
                <a:ext uri="{FF2B5EF4-FFF2-40B4-BE49-F238E27FC236}">
                  <a16:creationId xmlns:a16="http://schemas.microsoft.com/office/drawing/2014/main" id="{FFACF8CC-20BC-537D-D3E9-7F8EF55A6013}"/>
                </a:ext>
              </a:extLst>
            </p:cNvPr>
            <p:cNvSpPr/>
            <p:nvPr/>
          </p:nvSpPr>
          <p:spPr>
            <a:xfrm rot="10800000">
              <a:off x="2424511" y="1751429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42">
              <a:extLst>
                <a:ext uri="{FF2B5EF4-FFF2-40B4-BE49-F238E27FC236}">
                  <a16:creationId xmlns:a16="http://schemas.microsoft.com/office/drawing/2014/main" id="{A439B423-1673-F77E-B1F3-D4FA69EA41C5}"/>
                </a:ext>
              </a:extLst>
            </p:cNvPr>
            <p:cNvSpPr/>
            <p:nvPr/>
          </p:nvSpPr>
          <p:spPr>
            <a:xfrm rot="10800000">
              <a:off x="2423203" y="1294774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42">
              <a:extLst>
                <a:ext uri="{FF2B5EF4-FFF2-40B4-BE49-F238E27FC236}">
                  <a16:creationId xmlns:a16="http://schemas.microsoft.com/office/drawing/2014/main" id="{652629AA-F4AB-90AF-BAD8-8120C5B47D6B}"/>
                </a:ext>
              </a:extLst>
            </p:cNvPr>
            <p:cNvSpPr/>
            <p:nvPr/>
          </p:nvSpPr>
          <p:spPr>
            <a:xfrm rot="10800000">
              <a:off x="2013374" y="1524505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42">
              <a:extLst>
                <a:ext uri="{FF2B5EF4-FFF2-40B4-BE49-F238E27FC236}">
                  <a16:creationId xmlns:a16="http://schemas.microsoft.com/office/drawing/2014/main" id="{55C53540-2D6B-2AED-70E5-571B6D0D275B}"/>
                </a:ext>
              </a:extLst>
            </p:cNvPr>
            <p:cNvSpPr/>
            <p:nvPr/>
          </p:nvSpPr>
          <p:spPr>
            <a:xfrm rot="10800000">
              <a:off x="1601864" y="1754411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42">
              <a:extLst>
                <a:ext uri="{FF2B5EF4-FFF2-40B4-BE49-F238E27FC236}">
                  <a16:creationId xmlns:a16="http://schemas.microsoft.com/office/drawing/2014/main" id="{F37C29DB-C857-5CD6-4AC2-4EFC0153E9BF}"/>
                </a:ext>
              </a:extLst>
            </p:cNvPr>
            <p:cNvSpPr/>
            <p:nvPr/>
          </p:nvSpPr>
          <p:spPr>
            <a:xfrm rot="10800000">
              <a:off x="2008925" y="2444203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42">
              <a:extLst>
                <a:ext uri="{FF2B5EF4-FFF2-40B4-BE49-F238E27FC236}">
                  <a16:creationId xmlns:a16="http://schemas.microsoft.com/office/drawing/2014/main" id="{26183EF9-7FF4-AEBE-20AE-F801A422F687}"/>
                </a:ext>
              </a:extLst>
            </p:cNvPr>
            <p:cNvSpPr/>
            <p:nvPr/>
          </p:nvSpPr>
          <p:spPr>
            <a:xfrm rot="10800000">
              <a:off x="1599288" y="2669819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42">
              <a:extLst>
                <a:ext uri="{FF2B5EF4-FFF2-40B4-BE49-F238E27FC236}">
                  <a16:creationId xmlns:a16="http://schemas.microsoft.com/office/drawing/2014/main" id="{FB94E5A2-7796-160E-4CF3-B1BB27DD8791}"/>
                </a:ext>
              </a:extLst>
            </p:cNvPr>
            <p:cNvSpPr/>
            <p:nvPr/>
          </p:nvSpPr>
          <p:spPr>
            <a:xfrm rot="10800000">
              <a:off x="1599288" y="2211855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42">
              <a:extLst>
                <a:ext uri="{FF2B5EF4-FFF2-40B4-BE49-F238E27FC236}">
                  <a16:creationId xmlns:a16="http://schemas.microsoft.com/office/drawing/2014/main" id="{D621405A-08E7-5B73-55BC-657BD710502D}"/>
                </a:ext>
              </a:extLst>
            </p:cNvPr>
            <p:cNvSpPr/>
            <p:nvPr/>
          </p:nvSpPr>
          <p:spPr>
            <a:xfrm rot="10800000">
              <a:off x="1190767" y="2441586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42">
              <a:extLst>
                <a:ext uri="{FF2B5EF4-FFF2-40B4-BE49-F238E27FC236}">
                  <a16:creationId xmlns:a16="http://schemas.microsoft.com/office/drawing/2014/main" id="{CFA689B3-9F25-C645-5B59-1E0AD792DEE2}"/>
                </a:ext>
              </a:extLst>
            </p:cNvPr>
            <p:cNvSpPr/>
            <p:nvPr/>
          </p:nvSpPr>
          <p:spPr>
            <a:xfrm rot="10800000">
              <a:off x="781874" y="2670184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2" name="Google Shape;772;p42">
            <a:extLst>
              <a:ext uri="{FF2B5EF4-FFF2-40B4-BE49-F238E27FC236}">
                <a16:creationId xmlns:a16="http://schemas.microsoft.com/office/drawing/2014/main" id="{937BBCE3-3EB9-1F74-2A0F-28FF3E0F96CB}"/>
              </a:ext>
            </a:extLst>
          </p:cNvPr>
          <p:cNvGrpSpPr/>
          <p:nvPr/>
        </p:nvGrpSpPr>
        <p:grpSpPr>
          <a:xfrm>
            <a:off x="6483389" y="2806055"/>
            <a:ext cx="936510" cy="688006"/>
            <a:chOff x="3235964" y="2587955"/>
            <a:chExt cx="936510" cy="688006"/>
          </a:xfrm>
        </p:grpSpPr>
        <p:sp>
          <p:nvSpPr>
            <p:cNvPr id="773" name="Google Shape;773;p42">
              <a:extLst>
                <a:ext uri="{FF2B5EF4-FFF2-40B4-BE49-F238E27FC236}">
                  <a16:creationId xmlns:a16="http://schemas.microsoft.com/office/drawing/2014/main" id="{AF036587-A598-C8C9-0293-B4914FE6025F}"/>
                </a:ext>
              </a:extLst>
            </p:cNvPr>
            <p:cNvSpPr/>
            <p:nvPr/>
          </p:nvSpPr>
          <p:spPr>
            <a:xfrm rot="10800000">
              <a:off x="3647474" y="2587955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42">
              <a:extLst>
                <a:ext uri="{FF2B5EF4-FFF2-40B4-BE49-F238E27FC236}">
                  <a16:creationId xmlns:a16="http://schemas.microsoft.com/office/drawing/2014/main" id="{8BDDE36E-9682-7438-7CA7-66AEADC0D8D9}"/>
                </a:ext>
              </a:extLst>
            </p:cNvPr>
            <p:cNvSpPr/>
            <p:nvPr/>
          </p:nvSpPr>
          <p:spPr>
            <a:xfrm rot="10800000">
              <a:off x="3235964" y="2817861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5" name="Google Shape;775;p42">
            <a:extLst>
              <a:ext uri="{FF2B5EF4-FFF2-40B4-BE49-F238E27FC236}">
                <a16:creationId xmlns:a16="http://schemas.microsoft.com/office/drawing/2014/main" id="{85153B4D-F2E8-96B5-A495-805AA89F129E}"/>
              </a:ext>
            </a:extLst>
          </p:cNvPr>
          <p:cNvGrpSpPr/>
          <p:nvPr/>
        </p:nvGrpSpPr>
        <p:grpSpPr>
          <a:xfrm>
            <a:off x="7786678" y="2810729"/>
            <a:ext cx="935946" cy="1829202"/>
            <a:chOff x="4738303" y="2514629"/>
            <a:chExt cx="935946" cy="1829202"/>
          </a:xfrm>
        </p:grpSpPr>
        <p:sp>
          <p:nvSpPr>
            <p:cNvPr id="776" name="Google Shape;776;p42">
              <a:extLst>
                <a:ext uri="{FF2B5EF4-FFF2-40B4-BE49-F238E27FC236}">
                  <a16:creationId xmlns:a16="http://schemas.microsoft.com/office/drawing/2014/main" id="{2BFDB2F3-6BC4-EDCF-23F7-068A0D3E1695}"/>
                </a:ext>
              </a:extLst>
            </p:cNvPr>
            <p:cNvSpPr/>
            <p:nvPr/>
          </p:nvSpPr>
          <p:spPr>
            <a:xfrm rot="10800000">
              <a:off x="5149249" y="2740318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42">
              <a:extLst>
                <a:ext uri="{FF2B5EF4-FFF2-40B4-BE49-F238E27FC236}">
                  <a16:creationId xmlns:a16="http://schemas.microsoft.com/office/drawing/2014/main" id="{47DB3E4C-93EB-E9C2-FA74-CD78D497C235}"/>
                </a:ext>
              </a:extLst>
            </p:cNvPr>
            <p:cNvSpPr/>
            <p:nvPr/>
          </p:nvSpPr>
          <p:spPr>
            <a:xfrm rot="10800000">
              <a:off x="4739611" y="2971284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42">
              <a:extLst>
                <a:ext uri="{FF2B5EF4-FFF2-40B4-BE49-F238E27FC236}">
                  <a16:creationId xmlns:a16="http://schemas.microsoft.com/office/drawing/2014/main" id="{62F2C4ED-64ED-C76C-7D79-7B2A5F4814AE}"/>
                </a:ext>
              </a:extLst>
            </p:cNvPr>
            <p:cNvSpPr/>
            <p:nvPr/>
          </p:nvSpPr>
          <p:spPr>
            <a:xfrm rot="10800000">
              <a:off x="4738303" y="2514629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42">
              <a:extLst>
                <a:ext uri="{FF2B5EF4-FFF2-40B4-BE49-F238E27FC236}">
                  <a16:creationId xmlns:a16="http://schemas.microsoft.com/office/drawing/2014/main" id="{2B917987-6389-BC47-DDB7-78E35E94CBC7}"/>
                </a:ext>
              </a:extLst>
            </p:cNvPr>
            <p:cNvSpPr/>
            <p:nvPr/>
          </p:nvSpPr>
          <p:spPr>
            <a:xfrm rot="10800000">
              <a:off x="5149225" y="3660116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42">
              <a:extLst>
                <a:ext uri="{FF2B5EF4-FFF2-40B4-BE49-F238E27FC236}">
                  <a16:creationId xmlns:a16="http://schemas.microsoft.com/office/drawing/2014/main" id="{72C59ECE-3B15-5D23-1EAB-E53F27765195}"/>
                </a:ext>
              </a:extLst>
            </p:cNvPr>
            <p:cNvSpPr/>
            <p:nvPr/>
          </p:nvSpPr>
          <p:spPr>
            <a:xfrm rot="10800000">
              <a:off x="4739588" y="3885731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42">
              <a:extLst>
                <a:ext uri="{FF2B5EF4-FFF2-40B4-BE49-F238E27FC236}">
                  <a16:creationId xmlns:a16="http://schemas.microsoft.com/office/drawing/2014/main" id="{EDE30BE5-DCE8-FB8E-E876-7FD046AD6B09}"/>
                </a:ext>
              </a:extLst>
            </p:cNvPr>
            <p:cNvSpPr/>
            <p:nvPr/>
          </p:nvSpPr>
          <p:spPr>
            <a:xfrm rot="10800000">
              <a:off x="4739588" y="3427767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2" name="Google Shape;782;p42">
            <a:extLst>
              <a:ext uri="{FF2B5EF4-FFF2-40B4-BE49-F238E27FC236}">
                <a16:creationId xmlns:a16="http://schemas.microsoft.com/office/drawing/2014/main" id="{BE9537A3-E3D2-0BF1-E607-35D08FA6724F}"/>
              </a:ext>
            </a:extLst>
          </p:cNvPr>
          <p:cNvGrpSpPr/>
          <p:nvPr/>
        </p:nvGrpSpPr>
        <p:grpSpPr>
          <a:xfrm>
            <a:off x="5480799" y="3832449"/>
            <a:ext cx="1345775" cy="914755"/>
            <a:chOff x="2264799" y="3654374"/>
            <a:chExt cx="1345775" cy="914755"/>
          </a:xfrm>
        </p:grpSpPr>
        <p:sp>
          <p:nvSpPr>
            <p:cNvPr id="783" name="Google Shape;783;p42">
              <a:extLst>
                <a:ext uri="{FF2B5EF4-FFF2-40B4-BE49-F238E27FC236}">
                  <a16:creationId xmlns:a16="http://schemas.microsoft.com/office/drawing/2014/main" id="{E72312F8-E039-FFDB-1564-B813D3102517}"/>
                </a:ext>
              </a:extLst>
            </p:cNvPr>
            <p:cNvSpPr/>
            <p:nvPr/>
          </p:nvSpPr>
          <p:spPr>
            <a:xfrm rot="10800000">
              <a:off x="3085574" y="3880062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42">
              <a:extLst>
                <a:ext uri="{FF2B5EF4-FFF2-40B4-BE49-F238E27FC236}">
                  <a16:creationId xmlns:a16="http://schemas.microsoft.com/office/drawing/2014/main" id="{ACD57B0E-3B6B-B797-1905-DBF902437A84}"/>
                </a:ext>
              </a:extLst>
            </p:cNvPr>
            <p:cNvSpPr/>
            <p:nvPr/>
          </p:nvSpPr>
          <p:spPr>
            <a:xfrm rot="10800000">
              <a:off x="2675936" y="4111029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42">
              <a:extLst>
                <a:ext uri="{FF2B5EF4-FFF2-40B4-BE49-F238E27FC236}">
                  <a16:creationId xmlns:a16="http://schemas.microsoft.com/office/drawing/2014/main" id="{CEFE844B-F72D-1E4A-37CB-1DDC18C3D2E4}"/>
                </a:ext>
              </a:extLst>
            </p:cNvPr>
            <p:cNvSpPr/>
            <p:nvPr/>
          </p:nvSpPr>
          <p:spPr>
            <a:xfrm rot="10800000">
              <a:off x="2674628" y="3654374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42">
              <a:extLst>
                <a:ext uri="{FF2B5EF4-FFF2-40B4-BE49-F238E27FC236}">
                  <a16:creationId xmlns:a16="http://schemas.microsoft.com/office/drawing/2014/main" id="{AA702D65-4B48-08BB-1C62-A70918E7559F}"/>
                </a:ext>
              </a:extLst>
            </p:cNvPr>
            <p:cNvSpPr/>
            <p:nvPr/>
          </p:nvSpPr>
          <p:spPr>
            <a:xfrm rot="10800000">
              <a:off x="2264799" y="3884105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340" name="Picture 4">
            <a:extLst>
              <a:ext uri="{FF2B5EF4-FFF2-40B4-BE49-F238E27FC236}">
                <a16:creationId xmlns:a16="http://schemas.microsoft.com/office/drawing/2014/main" id="{589054F2-6ACA-2281-A850-2A6E9C447E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981"/>
          <a:stretch>
            <a:fillRect/>
          </a:stretch>
        </p:blipFill>
        <p:spPr bwMode="auto">
          <a:xfrm>
            <a:off x="5883366" y="181663"/>
            <a:ext cx="2806000" cy="226681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2" name="Picture 6">
            <a:extLst>
              <a:ext uri="{FF2B5EF4-FFF2-40B4-BE49-F238E27FC236}">
                <a16:creationId xmlns:a16="http://schemas.microsoft.com/office/drawing/2014/main" id="{F4CBFD01-FFC1-4D05-0300-0C99185318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88"/>
          <a:stretch>
            <a:fillRect/>
          </a:stretch>
        </p:blipFill>
        <p:spPr bwMode="auto">
          <a:xfrm>
            <a:off x="5883862" y="2619153"/>
            <a:ext cx="2788592" cy="234022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96159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1">
          <a:extLst>
            <a:ext uri="{FF2B5EF4-FFF2-40B4-BE49-F238E27FC236}">
              <a16:creationId xmlns:a16="http://schemas.microsoft.com/office/drawing/2014/main" id="{064AA631-4E1E-EBB1-7508-8A075D3F8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50">
            <a:extLst>
              <a:ext uri="{FF2B5EF4-FFF2-40B4-BE49-F238E27FC236}">
                <a16:creationId xmlns:a16="http://schemas.microsoft.com/office/drawing/2014/main" id="{FE07A1EF-ED3D-5755-7621-C0490827AD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19418" y="774699"/>
            <a:ext cx="5963870" cy="62736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dirty="0"/>
              <a:t>K-Means Clustering</a:t>
            </a:r>
            <a:endParaRPr sz="2400" b="0" dirty="0"/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2F10542E-7DE1-909B-4403-97E323C27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761" y="1024320"/>
            <a:ext cx="4423354" cy="344511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ottotitolo 2">
            <a:extLst>
              <a:ext uri="{FF2B5EF4-FFF2-40B4-BE49-F238E27FC236}">
                <a16:creationId xmlns:a16="http://schemas.microsoft.com/office/drawing/2014/main" id="{B2B1F70E-AAFF-83B0-A012-2525D52074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84179" y="1402062"/>
            <a:ext cx="4261904" cy="3283584"/>
          </a:xfrm>
        </p:spPr>
        <p:txBody>
          <a:bodyPr/>
          <a:lstStyle/>
          <a:p>
            <a:r>
              <a:rPr lang="en-US" sz="1000" dirty="0"/>
              <a:t>The cluster composition reveals three interpretable groups:</a:t>
            </a:r>
          </a:p>
          <a:p>
            <a:endParaRPr lang="en-US" sz="1000" dirty="0"/>
          </a:p>
          <a:p>
            <a:pPr marL="423450" indent="-171450">
              <a:spcAft>
                <a:spcPts val="600"/>
              </a:spcAft>
              <a:buClr>
                <a:schemeClr val="tx1"/>
              </a:buClr>
              <a:buSzPct val="150000"/>
              <a:buFont typeface="Wingdings" panose="05000000000000000000" pitchFamily="2" charset="2"/>
              <a:buChar char="§"/>
            </a:pPr>
            <a:r>
              <a:rPr lang="en-US" sz="1000" b="1" dirty="0">
                <a:solidFill>
                  <a:srgbClr val="66C2A5"/>
                </a:solidFill>
              </a:rPr>
              <a:t>Cluster 0 (United States, Spain, Brazil):</a:t>
            </a:r>
            <a:br>
              <a:rPr lang="en-US" sz="1000" dirty="0"/>
            </a:br>
            <a:r>
              <a:rPr lang="en-US" sz="1000" dirty="0"/>
              <a:t>Countries characterized by similar temporal emission dynamics, showing pronounced decreases during the COVID-19 lockdowns followed by gradual recovery and moderate variability.</a:t>
            </a:r>
          </a:p>
          <a:p>
            <a:pPr marL="423450" indent="-171450">
              <a:spcAft>
                <a:spcPts val="600"/>
              </a:spcAft>
              <a:buClr>
                <a:schemeClr val="tx1"/>
              </a:buClr>
              <a:buSzPct val="150000"/>
              <a:buFont typeface="Wingdings" panose="05000000000000000000" pitchFamily="2" charset="2"/>
              <a:buChar char="§"/>
            </a:pPr>
            <a:r>
              <a:rPr lang="en-US" sz="1000" b="1" dirty="0">
                <a:solidFill>
                  <a:srgbClr val="FC8D62"/>
                </a:solidFill>
              </a:rPr>
              <a:t>Cluster 1 (Russia, Japan, Italy, France, Germany, United Kingdom, EU27 &amp; UK):</a:t>
            </a:r>
            <a:br>
              <a:rPr lang="en-US" sz="1000" dirty="0"/>
            </a:br>
            <a:r>
              <a:rPr lang="en-US" sz="1000" dirty="0"/>
              <a:t>Industrialized economies with relatively stable and synchronized emission patterns, reflecting comparable responses to global events and seasonal variations.</a:t>
            </a:r>
          </a:p>
          <a:p>
            <a:pPr marL="423450" indent="-171450">
              <a:spcAft>
                <a:spcPts val="600"/>
              </a:spcAft>
              <a:buClr>
                <a:schemeClr val="tx1"/>
              </a:buClr>
              <a:buSzPct val="150000"/>
              <a:buFont typeface="Wingdings" panose="05000000000000000000" pitchFamily="2" charset="2"/>
              <a:buChar char="§"/>
            </a:pPr>
            <a:r>
              <a:rPr lang="en-US" sz="1000" b="1" dirty="0">
                <a:solidFill>
                  <a:srgbClr val="91A5D2"/>
                </a:solidFill>
              </a:rPr>
              <a:t>Cluster 2 (China, India):</a:t>
            </a:r>
            <a:br>
              <a:rPr lang="en-US" sz="1000" dirty="0"/>
            </a:br>
            <a:r>
              <a:rPr lang="en-US" sz="1000" dirty="0"/>
              <a:t>Large emerging economies with distinctive upward trends and stronger fluctuations in emission intensity over time.</a:t>
            </a:r>
          </a:p>
          <a:p>
            <a:endParaRPr lang="it-IT" sz="700" dirty="0"/>
          </a:p>
        </p:txBody>
      </p:sp>
    </p:spTree>
    <p:extLst>
      <p:ext uri="{BB962C8B-B14F-4D97-AF65-F5344CB8AC3E}">
        <p14:creationId xmlns:p14="http://schemas.microsoft.com/office/powerpoint/2010/main" val="12547499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1">
          <a:extLst>
            <a:ext uri="{FF2B5EF4-FFF2-40B4-BE49-F238E27FC236}">
              <a16:creationId xmlns:a16="http://schemas.microsoft.com/office/drawing/2014/main" id="{C7EBCB4B-0F8B-724C-303E-261884571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50">
            <a:extLst>
              <a:ext uri="{FF2B5EF4-FFF2-40B4-BE49-F238E27FC236}">
                <a16:creationId xmlns:a16="http://schemas.microsoft.com/office/drawing/2014/main" id="{A6CA5609-7048-5AC3-4853-A692DEAC88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00547" y="257007"/>
            <a:ext cx="5820137" cy="61349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Hierarchical Clustering</a:t>
            </a:r>
            <a:endParaRPr b="0" dirty="0"/>
          </a:p>
        </p:txBody>
      </p:sp>
      <p:sp>
        <p:nvSpPr>
          <p:cNvPr id="954" name="Google Shape;954;p50">
            <a:extLst>
              <a:ext uri="{FF2B5EF4-FFF2-40B4-BE49-F238E27FC236}">
                <a16:creationId xmlns:a16="http://schemas.microsoft.com/office/drawing/2014/main" id="{D77A3D5F-AED8-E13D-FB0B-52684ED0DA5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65801" y="4633493"/>
            <a:ext cx="8589013" cy="3604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/>
            <a:r>
              <a:rPr lang="en-US" sz="1000" dirty="0"/>
              <a:t>To further validate the temporal grouping of countries, hierarchical clustering was applied to the same standardized time-series.</a:t>
            </a:r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887DF090-5F0F-3E3E-9CDA-0B6B5EB3EA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391" y="1036020"/>
            <a:ext cx="6926439" cy="343195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79853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>
          <a:extLst>
            <a:ext uri="{FF2B5EF4-FFF2-40B4-BE49-F238E27FC236}">
              <a16:creationId xmlns:a16="http://schemas.microsoft.com/office/drawing/2014/main" id="{5B06CDA6-F8DD-C054-F322-C0B00F31C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42">
            <a:extLst>
              <a:ext uri="{FF2B5EF4-FFF2-40B4-BE49-F238E27FC236}">
                <a16:creationId xmlns:a16="http://schemas.microsoft.com/office/drawing/2014/main" id="{21EF2D17-D884-85CF-314E-1E46414937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4526" y="230428"/>
            <a:ext cx="6050846" cy="8429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Clustering analysis based on </a:t>
            </a:r>
            <a:r>
              <a:rPr lang="en-US" sz="2400" b="0" dirty="0"/>
              <a:t>emissions magnitude</a:t>
            </a:r>
            <a:endParaRPr sz="2400" b="0" dirty="0"/>
          </a:p>
        </p:txBody>
      </p:sp>
      <p:sp>
        <p:nvSpPr>
          <p:cNvPr id="760" name="Google Shape;760;p42">
            <a:extLst>
              <a:ext uri="{FF2B5EF4-FFF2-40B4-BE49-F238E27FC236}">
                <a16:creationId xmlns:a16="http://schemas.microsoft.com/office/drawing/2014/main" id="{CC7F444C-9BFE-CA3B-7D8E-9C6CA0799EB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91500" y="1557469"/>
            <a:ext cx="4472237" cy="36346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 algn="just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 dirty="0"/>
              <a:t>Unlike the previous section, where time series were standardized to highlight relative temporal patterns, the data here are globally scaled with a StandardScaler to preserve differences in emission intensity.</a:t>
            </a:r>
          </a:p>
          <a:p>
            <a:pPr marL="139700" lvl="0" indent="0" algn="just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sz="1100" dirty="0"/>
          </a:p>
          <a:p>
            <a:pPr marL="139700" lvl="0" indent="0" algn="just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 dirty="0"/>
              <a:t>This method groups countries with similar overall emission levels and variability, regardless of when fluctuations occur.</a:t>
            </a:r>
          </a:p>
          <a:p>
            <a:pPr marL="139700" lvl="0" indent="0" algn="just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sz="1100" dirty="0"/>
          </a:p>
          <a:p>
            <a:pPr marL="139700" lvl="0" indent="0" algn="just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 dirty="0"/>
              <a:t>The Elbow inflection at k ≈ 4 offers a balanced solution, providing enough detail to distinguish high, medium, and low-emission groups, while maintaining a coherent global structure that includes the aggregated ROW entity.</a:t>
            </a:r>
            <a:endParaRPr lang="en-US" sz="1000" dirty="0"/>
          </a:p>
        </p:txBody>
      </p:sp>
      <p:grpSp>
        <p:nvGrpSpPr>
          <p:cNvPr id="761" name="Google Shape;761;p42">
            <a:extLst>
              <a:ext uri="{FF2B5EF4-FFF2-40B4-BE49-F238E27FC236}">
                <a16:creationId xmlns:a16="http://schemas.microsoft.com/office/drawing/2014/main" id="{9BE5CE1C-4764-223B-3418-FB814EFC3BE0}"/>
              </a:ext>
            </a:extLst>
          </p:cNvPr>
          <p:cNvGrpSpPr/>
          <p:nvPr/>
        </p:nvGrpSpPr>
        <p:grpSpPr>
          <a:xfrm>
            <a:off x="5726349" y="445024"/>
            <a:ext cx="2577275" cy="1833510"/>
            <a:chOff x="781874" y="1294774"/>
            <a:chExt cx="2577275" cy="1833510"/>
          </a:xfrm>
        </p:grpSpPr>
        <p:sp>
          <p:nvSpPr>
            <p:cNvPr id="762" name="Google Shape;762;p42">
              <a:extLst>
                <a:ext uri="{FF2B5EF4-FFF2-40B4-BE49-F238E27FC236}">
                  <a16:creationId xmlns:a16="http://schemas.microsoft.com/office/drawing/2014/main" id="{70FF4096-3F70-63B9-63A2-2FBF8F82337D}"/>
                </a:ext>
              </a:extLst>
            </p:cNvPr>
            <p:cNvSpPr/>
            <p:nvPr/>
          </p:nvSpPr>
          <p:spPr>
            <a:xfrm rot="10800000">
              <a:off x="2834149" y="1520462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42">
              <a:extLst>
                <a:ext uri="{FF2B5EF4-FFF2-40B4-BE49-F238E27FC236}">
                  <a16:creationId xmlns:a16="http://schemas.microsoft.com/office/drawing/2014/main" id="{B40AC24D-54FE-6463-5BD0-8107594352F2}"/>
                </a:ext>
              </a:extLst>
            </p:cNvPr>
            <p:cNvSpPr/>
            <p:nvPr/>
          </p:nvSpPr>
          <p:spPr>
            <a:xfrm rot="10800000">
              <a:off x="2424511" y="1751429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42">
              <a:extLst>
                <a:ext uri="{FF2B5EF4-FFF2-40B4-BE49-F238E27FC236}">
                  <a16:creationId xmlns:a16="http://schemas.microsoft.com/office/drawing/2014/main" id="{656C8807-564B-CE87-8EF3-31D14836B457}"/>
                </a:ext>
              </a:extLst>
            </p:cNvPr>
            <p:cNvSpPr/>
            <p:nvPr/>
          </p:nvSpPr>
          <p:spPr>
            <a:xfrm rot="10800000">
              <a:off x="2423203" y="1294774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42">
              <a:extLst>
                <a:ext uri="{FF2B5EF4-FFF2-40B4-BE49-F238E27FC236}">
                  <a16:creationId xmlns:a16="http://schemas.microsoft.com/office/drawing/2014/main" id="{1740E575-447A-6488-A96D-6A5084809A7E}"/>
                </a:ext>
              </a:extLst>
            </p:cNvPr>
            <p:cNvSpPr/>
            <p:nvPr/>
          </p:nvSpPr>
          <p:spPr>
            <a:xfrm rot="10800000">
              <a:off x="2013374" y="1524505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42">
              <a:extLst>
                <a:ext uri="{FF2B5EF4-FFF2-40B4-BE49-F238E27FC236}">
                  <a16:creationId xmlns:a16="http://schemas.microsoft.com/office/drawing/2014/main" id="{0A996971-89F5-851C-E2D1-2897E8D607FB}"/>
                </a:ext>
              </a:extLst>
            </p:cNvPr>
            <p:cNvSpPr/>
            <p:nvPr/>
          </p:nvSpPr>
          <p:spPr>
            <a:xfrm rot="10800000">
              <a:off x="1601864" y="1754411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42">
              <a:extLst>
                <a:ext uri="{FF2B5EF4-FFF2-40B4-BE49-F238E27FC236}">
                  <a16:creationId xmlns:a16="http://schemas.microsoft.com/office/drawing/2014/main" id="{A497ED26-A4B2-7434-3A06-A24F7FBED126}"/>
                </a:ext>
              </a:extLst>
            </p:cNvPr>
            <p:cNvSpPr/>
            <p:nvPr/>
          </p:nvSpPr>
          <p:spPr>
            <a:xfrm rot="10800000">
              <a:off x="2008925" y="2444203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42">
              <a:extLst>
                <a:ext uri="{FF2B5EF4-FFF2-40B4-BE49-F238E27FC236}">
                  <a16:creationId xmlns:a16="http://schemas.microsoft.com/office/drawing/2014/main" id="{FC7CD445-C728-48CA-3890-8FF390DC1906}"/>
                </a:ext>
              </a:extLst>
            </p:cNvPr>
            <p:cNvSpPr/>
            <p:nvPr/>
          </p:nvSpPr>
          <p:spPr>
            <a:xfrm rot="10800000">
              <a:off x="1599288" y="2669819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42">
              <a:extLst>
                <a:ext uri="{FF2B5EF4-FFF2-40B4-BE49-F238E27FC236}">
                  <a16:creationId xmlns:a16="http://schemas.microsoft.com/office/drawing/2014/main" id="{73EEF680-F57A-76D9-E059-5563C99155DC}"/>
                </a:ext>
              </a:extLst>
            </p:cNvPr>
            <p:cNvSpPr/>
            <p:nvPr/>
          </p:nvSpPr>
          <p:spPr>
            <a:xfrm rot="10800000">
              <a:off x="1599288" y="2211855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42">
              <a:extLst>
                <a:ext uri="{FF2B5EF4-FFF2-40B4-BE49-F238E27FC236}">
                  <a16:creationId xmlns:a16="http://schemas.microsoft.com/office/drawing/2014/main" id="{EBCAC3F6-65AA-009C-3BF7-7DEF2E182F4B}"/>
                </a:ext>
              </a:extLst>
            </p:cNvPr>
            <p:cNvSpPr/>
            <p:nvPr/>
          </p:nvSpPr>
          <p:spPr>
            <a:xfrm rot="10800000">
              <a:off x="1190767" y="2441586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42">
              <a:extLst>
                <a:ext uri="{FF2B5EF4-FFF2-40B4-BE49-F238E27FC236}">
                  <a16:creationId xmlns:a16="http://schemas.microsoft.com/office/drawing/2014/main" id="{101F72CF-39A8-0826-E9A0-1E15CDB51922}"/>
                </a:ext>
              </a:extLst>
            </p:cNvPr>
            <p:cNvSpPr/>
            <p:nvPr/>
          </p:nvSpPr>
          <p:spPr>
            <a:xfrm rot="10800000">
              <a:off x="781874" y="2670184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2" name="Google Shape;772;p42">
            <a:extLst>
              <a:ext uri="{FF2B5EF4-FFF2-40B4-BE49-F238E27FC236}">
                <a16:creationId xmlns:a16="http://schemas.microsoft.com/office/drawing/2014/main" id="{8E663DEF-AB6F-C6A9-89DA-5DBD2D7C287F}"/>
              </a:ext>
            </a:extLst>
          </p:cNvPr>
          <p:cNvGrpSpPr/>
          <p:nvPr/>
        </p:nvGrpSpPr>
        <p:grpSpPr>
          <a:xfrm>
            <a:off x="6483389" y="2806055"/>
            <a:ext cx="936510" cy="688006"/>
            <a:chOff x="3235964" y="2587955"/>
            <a:chExt cx="936510" cy="688006"/>
          </a:xfrm>
        </p:grpSpPr>
        <p:sp>
          <p:nvSpPr>
            <p:cNvPr id="773" name="Google Shape;773;p42">
              <a:extLst>
                <a:ext uri="{FF2B5EF4-FFF2-40B4-BE49-F238E27FC236}">
                  <a16:creationId xmlns:a16="http://schemas.microsoft.com/office/drawing/2014/main" id="{509D0CC6-900D-E921-B749-AA7500D2BAB3}"/>
                </a:ext>
              </a:extLst>
            </p:cNvPr>
            <p:cNvSpPr/>
            <p:nvPr/>
          </p:nvSpPr>
          <p:spPr>
            <a:xfrm rot="10800000">
              <a:off x="3647474" y="2587955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42">
              <a:extLst>
                <a:ext uri="{FF2B5EF4-FFF2-40B4-BE49-F238E27FC236}">
                  <a16:creationId xmlns:a16="http://schemas.microsoft.com/office/drawing/2014/main" id="{4D6C7C99-2D23-CAA9-E1E9-160CF0C51D9A}"/>
                </a:ext>
              </a:extLst>
            </p:cNvPr>
            <p:cNvSpPr/>
            <p:nvPr/>
          </p:nvSpPr>
          <p:spPr>
            <a:xfrm rot="10800000">
              <a:off x="3235964" y="2817861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5" name="Google Shape;775;p42">
            <a:extLst>
              <a:ext uri="{FF2B5EF4-FFF2-40B4-BE49-F238E27FC236}">
                <a16:creationId xmlns:a16="http://schemas.microsoft.com/office/drawing/2014/main" id="{39A5841E-B021-B213-8B03-58088E954192}"/>
              </a:ext>
            </a:extLst>
          </p:cNvPr>
          <p:cNvGrpSpPr/>
          <p:nvPr/>
        </p:nvGrpSpPr>
        <p:grpSpPr>
          <a:xfrm>
            <a:off x="7786678" y="2810729"/>
            <a:ext cx="935946" cy="1829202"/>
            <a:chOff x="4738303" y="2514629"/>
            <a:chExt cx="935946" cy="1829202"/>
          </a:xfrm>
        </p:grpSpPr>
        <p:sp>
          <p:nvSpPr>
            <p:cNvPr id="776" name="Google Shape;776;p42">
              <a:extLst>
                <a:ext uri="{FF2B5EF4-FFF2-40B4-BE49-F238E27FC236}">
                  <a16:creationId xmlns:a16="http://schemas.microsoft.com/office/drawing/2014/main" id="{9834B8CE-B3AC-59C4-D252-8C0C485824F3}"/>
                </a:ext>
              </a:extLst>
            </p:cNvPr>
            <p:cNvSpPr/>
            <p:nvPr/>
          </p:nvSpPr>
          <p:spPr>
            <a:xfrm rot="10800000">
              <a:off x="5149249" y="2740318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42">
              <a:extLst>
                <a:ext uri="{FF2B5EF4-FFF2-40B4-BE49-F238E27FC236}">
                  <a16:creationId xmlns:a16="http://schemas.microsoft.com/office/drawing/2014/main" id="{EF09F182-7F5B-CDE1-CEF7-317F579F9D68}"/>
                </a:ext>
              </a:extLst>
            </p:cNvPr>
            <p:cNvSpPr/>
            <p:nvPr/>
          </p:nvSpPr>
          <p:spPr>
            <a:xfrm rot="10800000">
              <a:off x="4739611" y="2971284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42">
              <a:extLst>
                <a:ext uri="{FF2B5EF4-FFF2-40B4-BE49-F238E27FC236}">
                  <a16:creationId xmlns:a16="http://schemas.microsoft.com/office/drawing/2014/main" id="{E6597625-447E-E5D1-5F11-888AA386792F}"/>
                </a:ext>
              </a:extLst>
            </p:cNvPr>
            <p:cNvSpPr/>
            <p:nvPr/>
          </p:nvSpPr>
          <p:spPr>
            <a:xfrm rot="10800000">
              <a:off x="4738303" y="2514629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42">
              <a:extLst>
                <a:ext uri="{FF2B5EF4-FFF2-40B4-BE49-F238E27FC236}">
                  <a16:creationId xmlns:a16="http://schemas.microsoft.com/office/drawing/2014/main" id="{C0FF1F86-EF13-2D69-CFAA-9CE6B19A8264}"/>
                </a:ext>
              </a:extLst>
            </p:cNvPr>
            <p:cNvSpPr/>
            <p:nvPr/>
          </p:nvSpPr>
          <p:spPr>
            <a:xfrm rot="10800000">
              <a:off x="5149225" y="3660116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42">
              <a:extLst>
                <a:ext uri="{FF2B5EF4-FFF2-40B4-BE49-F238E27FC236}">
                  <a16:creationId xmlns:a16="http://schemas.microsoft.com/office/drawing/2014/main" id="{FFAECBBB-2E17-D1AF-7BF0-DBE247A12A07}"/>
                </a:ext>
              </a:extLst>
            </p:cNvPr>
            <p:cNvSpPr/>
            <p:nvPr/>
          </p:nvSpPr>
          <p:spPr>
            <a:xfrm rot="10800000">
              <a:off x="4739588" y="3885731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42">
              <a:extLst>
                <a:ext uri="{FF2B5EF4-FFF2-40B4-BE49-F238E27FC236}">
                  <a16:creationId xmlns:a16="http://schemas.microsoft.com/office/drawing/2014/main" id="{AD9221F6-2CE3-826A-B01A-07DB67CCE897}"/>
                </a:ext>
              </a:extLst>
            </p:cNvPr>
            <p:cNvSpPr/>
            <p:nvPr/>
          </p:nvSpPr>
          <p:spPr>
            <a:xfrm rot="10800000">
              <a:off x="4739588" y="3427767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2" name="Google Shape;782;p42">
            <a:extLst>
              <a:ext uri="{FF2B5EF4-FFF2-40B4-BE49-F238E27FC236}">
                <a16:creationId xmlns:a16="http://schemas.microsoft.com/office/drawing/2014/main" id="{AAE1BE9B-7BC7-FCC1-0DFC-0D52AFC9092A}"/>
              </a:ext>
            </a:extLst>
          </p:cNvPr>
          <p:cNvGrpSpPr/>
          <p:nvPr/>
        </p:nvGrpSpPr>
        <p:grpSpPr>
          <a:xfrm>
            <a:off x="5480799" y="3832449"/>
            <a:ext cx="1345775" cy="914755"/>
            <a:chOff x="2264799" y="3654374"/>
            <a:chExt cx="1345775" cy="914755"/>
          </a:xfrm>
        </p:grpSpPr>
        <p:sp>
          <p:nvSpPr>
            <p:cNvPr id="783" name="Google Shape;783;p42">
              <a:extLst>
                <a:ext uri="{FF2B5EF4-FFF2-40B4-BE49-F238E27FC236}">
                  <a16:creationId xmlns:a16="http://schemas.microsoft.com/office/drawing/2014/main" id="{328FF517-5504-2F42-A177-9818B86CA01F}"/>
                </a:ext>
              </a:extLst>
            </p:cNvPr>
            <p:cNvSpPr/>
            <p:nvPr/>
          </p:nvSpPr>
          <p:spPr>
            <a:xfrm rot="10800000">
              <a:off x="3085574" y="3880062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42">
              <a:extLst>
                <a:ext uri="{FF2B5EF4-FFF2-40B4-BE49-F238E27FC236}">
                  <a16:creationId xmlns:a16="http://schemas.microsoft.com/office/drawing/2014/main" id="{5D16904B-ECD7-34B4-C416-8C107B9249DC}"/>
                </a:ext>
              </a:extLst>
            </p:cNvPr>
            <p:cNvSpPr/>
            <p:nvPr/>
          </p:nvSpPr>
          <p:spPr>
            <a:xfrm rot="10800000">
              <a:off x="2675936" y="4111029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42">
              <a:extLst>
                <a:ext uri="{FF2B5EF4-FFF2-40B4-BE49-F238E27FC236}">
                  <a16:creationId xmlns:a16="http://schemas.microsoft.com/office/drawing/2014/main" id="{47ACD20C-C100-1D9D-3FDB-153A14FD5EB1}"/>
                </a:ext>
              </a:extLst>
            </p:cNvPr>
            <p:cNvSpPr/>
            <p:nvPr/>
          </p:nvSpPr>
          <p:spPr>
            <a:xfrm rot="10800000">
              <a:off x="2674628" y="3654374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42">
              <a:extLst>
                <a:ext uri="{FF2B5EF4-FFF2-40B4-BE49-F238E27FC236}">
                  <a16:creationId xmlns:a16="http://schemas.microsoft.com/office/drawing/2014/main" id="{6541FCF0-703B-CA37-1FB7-F1E6B8C9B1F9}"/>
                </a:ext>
              </a:extLst>
            </p:cNvPr>
            <p:cNvSpPr/>
            <p:nvPr/>
          </p:nvSpPr>
          <p:spPr>
            <a:xfrm rot="10800000">
              <a:off x="2264799" y="3884105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8434" name="Picture 2">
            <a:extLst>
              <a:ext uri="{FF2B5EF4-FFF2-40B4-BE49-F238E27FC236}">
                <a16:creationId xmlns:a16="http://schemas.microsoft.com/office/drawing/2014/main" id="{9AE807FC-929E-D76F-75AB-597CD7BCB4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93"/>
          <a:stretch>
            <a:fillRect/>
          </a:stretch>
        </p:blipFill>
        <p:spPr bwMode="auto">
          <a:xfrm>
            <a:off x="6012895" y="2619153"/>
            <a:ext cx="2814008" cy="234268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6" name="Picture 4">
            <a:extLst>
              <a:ext uri="{FF2B5EF4-FFF2-40B4-BE49-F238E27FC236}">
                <a16:creationId xmlns:a16="http://schemas.microsoft.com/office/drawing/2014/main" id="{AB16C830-807E-31B7-708D-7137A0A9CC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761"/>
          <a:stretch>
            <a:fillRect/>
          </a:stretch>
        </p:blipFill>
        <p:spPr bwMode="auto">
          <a:xfrm>
            <a:off x="6012895" y="162769"/>
            <a:ext cx="2814008" cy="230857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79264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1">
          <a:extLst>
            <a:ext uri="{FF2B5EF4-FFF2-40B4-BE49-F238E27FC236}">
              <a16:creationId xmlns:a16="http://schemas.microsoft.com/office/drawing/2014/main" id="{B9C89E1B-4CBD-5C69-D700-400175470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50">
            <a:extLst>
              <a:ext uri="{FF2B5EF4-FFF2-40B4-BE49-F238E27FC236}">
                <a16:creationId xmlns:a16="http://schemas.microsoft.com/office/drawing/2014/main" id="{9F0A7628-150A-6835-D402-06E8E15906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2803" y="435065"/>
            <a:ext cx="5963870" cy="62736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dirty="0"/>
              <a:t>K-Means Clustering </a:t>
            </a:r>
            <a:r>
              <a:rPr lang="it-IT" sz="2400" b="0" dirty="0"/>
              <a:t>(2)</a:t>
            </a:r>
            <a:endParaRPr sz="2400" b="0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5B68DCE-C936-2DAE-2095-43A8E3B06D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408" y="1062428"/>
            <a:ext cx="4261904" cy="3889864"/>
          </a:xfrm>
        </p:spPr>
        <p:txBody>
          <a:bodyPr/>
          <a:lstStyle/>
          <a:p>
            <a:r>
              <a:rPr lang="en-US" sz="1000" dirty="0"/>
              <a:t>The cluster composition reveals four interpretable groups:</a:t>
            </a:r>
          </a:p>
          <a:p>
            <a:endParaRPr lang="en-US" sz="1000" dirty="0"/>
          </a:p>
          <a:p>
            <a:pPr marL="423450" indent="-171450">
              <a:spcAft>
                <a:spcPts val="600"/>
              </a:spcAft>
              <a:buClr>
                <a:schemeClr val="tx1"/>
              </a:buClr>
              <a:buSzPct val="150000"/>
              <a:buFont typeface="Wingdings" panose="05000000000000000000" pitchFamily="2" charset="2"/>
              <a:buChar char="§"/>
            </a:pPr>
            <a:r>
              <a:rPr lang="en-US" sz="1000" b="1" dirty="0">
                <a:solidFill>
                  <a:srgbClr val="66C2A5"/>
                </a:solidFill>
              </a:rPr>
              <a:t>Cluster 0 (8 countries – e.g., Germany, France, UK, Italy, Brazil):</a:t>
            </a:r>
            <a:br>
              <a:rPr lang="en-US" sz="1000" dirty="0"/>
            </a:br>
            <a:r>
              <a:rPr lang="en-US" sz="1000" dirty="0"/>
              <a:t>Represents low-to-medium emission economies, generally characterized by stable and moderate CO₂ outputs.</a:t>
            </a:r>
          </a:p>
          <a:p>
            <a:pPr marL="423450" indent="-171450">
              <a:spcAft>
                <a:spcPts val="600"/>
              </a:spcAft>
              <a:buClr>
                <a:schemeClr val="tx1"/>
              </a:buClr>
              <a:buSzPct val="150000"/>
              <a:buFont typeface="Wingdings" panose="05000000000000000000" pitchFamily="2" charset="2"/>
              <a:buChar char="§"/>
            </a:pPr>
            <a:r>
              <a:rPr lang="en-US" sz="1000" b="1" dirty="0">
                <a:solidFill>
                  <a:srgbClr val="FC8D62"/>
                </a:solidFill>
              </a:rPr>
              <a:t>Cluster 1 (China and ROW):</a:t>
            </a:r>
            <a:br>
              <a:rPr lang="en-US" sz="1000" dirty="0"/>
            </a:br>
            <a:r>
              <a:rPr lang="en-US" sz="1000" dirty="0"/>
              <a:t>Contains the largest emitters globally, showing extremely high absolute emission levels that dominate global totals.</a:t>
            </a:r>
          </a:p>
          <a:p>
            <a:pPr marL="423450" indent="-171450">
              <a:spcAft>
                <a:spcPts val="600"/>
              </a:spcAft>
              <a:buClr>
                <a:schemeClr val="tx1"/>
              </a:buClr>
              <a:buSzPct val="150000"/>
              <a:buFont typeface="Wingdings" panose="05000000000000000000" pitchFamily="2" charset="2"/>
              <a:buChar char="§"/>
            </a:pPr>
            <a:r>
              <a:rPr lang="en-US" sz="1000" b="1" dirty="0">
                <a:solidFill>
                  <a:srgbClr val="91A5D2"/>
                </a:solidFill>
              </a:rPr>
              <a:t>Cluster 2 (India and EU27 &amp; UK):</a:t>
            </a:r>
            <a:br>
              <a:rPr lang="en-US" sz="1000" dirty="0"/>
            </a:br>
            <a:r>
              <a:rPr lang="en-US" sz="1000" dirty="0"/>
              <a:t>Includes intermediate emitters, bridging the gap between industrialized regions and emerging economies.</a:t>
            </a:r>
          </a:p>
          <a:p>
            <a:pPr marL="423450" indent="-171450">
              <a:spcAft>
                <a:spcPts val="600"/>
              </a:spcAft>
              <a:buClr>
                <a:schemeClr val="tx1"/>
              </a:buClr>
              <a:buSzPct val="150000"/>
              <a:buFont typeface="Wingdings" panose="05000000000000000000" pitchFamily="2" charset="2"/>
              <a:buChar char="§"/>
            </a:pPr>
            <a:r>
              <a:rPr lang="en-US" sz="1000" b="1" dirty="0">
                <a:solidFill>
                  <a:srgbClr val="E78AC3"/>
                </a:solidFill>
              </a:rPr>
              <a:t>Cluster 3 (United States):</a:t>
            </a:r>
            <a:br>
              <a:rPr lang="en-US" sz="1000" dirty="0"/>
            </a:br>
            <a:r>
              <a:rPr lang="en-US" sz="1000" dirty="0"/>
              <a:t>Forms a distinct group due to its persistently high emissions but with variability patterns different from China and ROW.</a:t>
            </a:r>
            <a:endParaRPr lang="it-IT" sz="700" dirty="0"/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81829FA1-013C-CD5A-07D9-84F5E6E24B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4813" y="1349812"/>
            <a:ext cx="4075489" cy="284336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46625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1">
          <a:extLst>
            <a:ext uri="{FF2B5EF4-FFF2-40B4-BE49-F238E27FC236}">
              <a16:creationId xmlns:a16="http://schemas.microsoft.com/office/drawing/2014/main" id="{9453B39A-AF2C-7802-4B19-EA1FE2D60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50">
            <a:extLst>
              <a:ext uri="{FF2B5EF4-FFF2-40B4-BE49-F238E27FC236}">
                <a16:creationId xmlns:a16="http://schemas.microsoft.com/office/drawing/2014/main" id="{1BFC28C7-1CCC-71A7-B216-00B22A5C5B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42275" y="243944"/>
            <a:ext cx="5820137" cy="61349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Hierarchhical Clustering</a:t>
            </a:r>
            <a:endParaRPr b="0" dirty="0"/>
          </a:p>
        </p:txBody>
      </p:sp>
      <p:sp>
        <p:nvSpPr>
          <p:cNvPr id="954" name="Google Shape;954;p50">
            <a:extLst>
              <a:ext uri="{FF2B5EF4-FFF2-40B4-BE49-F238E27FC236}">
                <a16:creationId xmlns:a16="http://schemas.microsoft.com/office/drawing/2014/main" id="{06AFE90F-5E4E-918E-3B02-2F88ABCCFD3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65801" y="4589950"/>
            <a:ext cx="8589013" cy="3604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/>
            <a:r>
              <a:rPr lang="en-US" sz="1000" dirty="0"/>
              <a:t>The dendrogram isolates China as a standalone cluster due to its vastly higher emissions. The high silhouette score (0.736) reflects this sharp divide, highlighting the dominance of a single global emitter rather than a meaningful multi-cluster structure.</a:t>
            </a:r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id="{959F7FDC-3D48-9B43-16D8-6800D7A609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763" y="954044"/>
            <a:ext cx="7143088" cy="353930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90342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>
          <a:extLst>
            <a:ext uri="{FF2B5EF4-FFF2-40B4-BE49-F238E27FC236}">
              <a16:creationId xmlns:a16="http://schemas.microsoft.com/office/drawing/2014/main" id="{6ACACCEF-8C72-FDFE-6F63-B4950D7D5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40">
            <a:extLst>
              <a:ext uri="{FF2B5EF4-FFF2-40B4-BE49-F238E27FC236}">
                <a16:creationId xmlns:a16="http://schemas.microsoft.com/office/drawing/2014/main" id="{D9F9A540-02E3-019A-D009-22D5B05DFA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2344050"/>
            <a:ext cx="7433644" cy="92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ML Forecasting Model</a:t>
            </a:r>
            <a:endParaRPr dirty="0"/>
          </a:p>
        </p:txBody>
      </p:sp>
      <p:sp>
        <p:nvSpPr>
          <p:cNvPr id="745" name="Google Shape;745;p40">
            <a:extLst>
              <a:ext uri="{FF2B5EF4-FFF2-40B4-BE49-F238E27FC236}">
                <a16:creationId xmlns:a16="http://schemas.microsoft.com/office/drawing/2014/main" id="{8B152569-432D-30F5-FA6E-8AC3188CEAD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3225" y="1353475"/>
            <a:ext cx="1652100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746" name="Google Shape;746;p40">
            <a:extLst>
              <a:ext uri="{FF2B5EF4-FFF2-40B4-BE49-F238E27FC236}">
                <a16:creationId xmlns:a16="http://schemas.microsoft.com/office/drawing/2014/main" id="{AC2590DA-2E65-2C4E-35B1-EA574F76346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25" y="3415025"/>
            <a:ext cx="7885739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We implemented a Long Short-Term Memory (LSTM) neural network to forecast future emission trends, both at the global level and for selected countries, providing a predictive perspective that complements the exploratory insights.</a:t>
            </a:r>
            <a:endParaRPr sz="1200" dirty="0"/>
          </a:p>
        </p:txBody>
      </p:sp>
      <p:cxnSp>
        <p:nvCxnSpPr>
          <p:cNvPr id="747" name="Google Shape;747;p40">
            <a:extLst>
              <a:ext uri="{FF2B5EF4-FFF2-40B4-BE49-F238E27FC236}">
                <a16:creationId xmlns:a16="http://schemas.microsoft.com/office/drawing/2014/main" id="{5440F77F-8A84-9C91-35E9-47F6A9802278}"/>
              </a:ext>
            </a:extLst>
          </p:cNvPr>
          <p:cNvCxnSpPr/>
          <p:nvPr/>
        </p:nvCxnSpPr>
        <p:spPr>
          <a:xfrm>
            <a:off x="818479" y="3315127"/>
            <a:ext cx="931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9920110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>
          <a:extLst>
            <a:ext uri="{FF2B5EF4-FFF2-40B4-BE49-F238E27FC236}">
              <a16:creationId xmlns:a16="http://schemas.microsoft.com/office/drawing/2014/main" id="{B31C880B-A584-F483-AFDC-095D7653F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42">
            <a:extLst>
              <a:ext uri="{FF2B5EF4-FFF2-40B4-BE49-F238E27FC236}">
                <a16:creationId xmlns:a16="http://schemas.microsoft.com/office/drawing/2014/main" id="{69F10C04-528E-5090-35B0-017D6450B4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0920" y="847511"/>
            <a:ext cx="3667579" cy="6243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Introducing LSTM</a:t>
            </a:r>
            <a:endParaRPr dirty="0"/>
          </a:p>
        </p:txBody>
      </p:sp>
      <p:sp>
        <p:nvSpPr>
          <p:cNvPr id="760" name="Google Shape;760;p42">
            <a:extLst>
              <a:ext uri="{FF2B5EF4-FFF2-40B4-BE49-F238E27FC236}">
                <a16:creationId xmlns:a16="http://schemas.microsoft.com/office/drawing/2014/main" id="{27528509-66DD-90B0-24FF-AEBACFEE03C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48204" y="1629739"/>
            <a:ext cx="4165995" cy="39611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SzPts val="1400"/>
              <a:buNone/>
            </a:pPr>
            <a:r>
              <a:rPr lang="en-US" sz="1200" dirty="0"/>
              <a:t>A Long Short-Term Memory (LSTM) network was developed to forecast daily CO₂ emissions using 30-day input sequences.</a:t>
            </a:r>
          </a:p>
          <a:p>
            <a:pPr marL="139700" indent="0">
              <a:buSzPts val="1400"/>
              <a:buNone/>
            </a:pPr>
            <a:endParaRPr lang="en-US" sz="1200" dirty="0"/>
          </a:p>
          <a:p>
            <a:pPr marL="139700" indent="0">
              <a:buSzPts val="1400"/>
              <a:buNone/>
            </a:pPr>
            <a:r>
              <a:rPr lang="en-US" sz="1200" dirty="0"/>
              <a:t>Data were scaled with a </a:t>
            </a:r>
            <a:r>
              <a:rPr lang="en-US" sz="1200" i="1" dirty="0" err="1"/>
              <a:t>MinMaxScaler</a:t>
            </a:r>
            <a:r>
              <a:rPr lang="en-US" sz="1200" dirty="0"/>
              <a:t> and split into </a:t>
            </a:r>
            <a:r>
              <a:rPr lang="en-US" sz="1200" dirty="0">
                <a:solidFill>
                  <a:schemeClr val="tx2"/>
                </a:solidFill>
              </a:rPr>
              <a:t>80% training </a:t>
            </a:r>
            <a:r>
              <a:rPr lang="en-US" sz="1200" dirty="0"/>
              <a:t>and </a:t>
            </a:r>
            <a:r>
              <a:rPr lang="en-US" sz="1200" dirty="0">
                <a:solidFill>
                  <a:schemeClr val="tx2"/>
                </a:solidFill>
              </a:rPr>
              <a:t>20% testing sets</a:t>
            </a:r>
            <a:r>
              <a:rPr lang="en-US" sz="1200" dirty="0"/>
              <a:t>.</a:t>
            </a:r>
          </a:p>
          <a:p>
            <a:pPr marL="139700" indent="0">
              <a:buSzPts val="1400"/>
              <a:buNone/>
            </a:pPr>
            <a:endParaRPr lang="en-US" sz="1200" dirty="0"/>
          </a:p>
          <a:p>
            <a:pPr marL="139700" indent="0">
              <a:buSzPts val="1400"/>
              <a:buNone/>
            </a:pPr>
            <a:r>
              <a:rPr lang="en-US" sz="1200" dirty="0"/>
              <a:t>The model includes one LSTM layer (32 units), a 20% dropout layer, and a dense output neuron, trained with the </a:t>
            </a:r>
            <a:r>
              <a:rPr lang="en-US" sz="1200" i="1" dirty="0"/>
              <a:t>Adam optimizer </a:t>
            </a:r>
            <a:r>
              <a:rPr lang="en-US" sz="1200" dirty="0"/>
              <a:t>and MSE loss. </a:t>
            </a:r>
          </a:p>
          <a:p>
            <a:pPr marL="139700" indent="0">
              <a:buSzPts val="1400"/>
              <a:buNone/>
            </a:pPr>
            <a:endParaRPr lang="en-US" sz="1200" dirty="0"/>
          </a:p>
          <a:p>
            <a:pPr marL="139700" indent="0">
              <a:buSzPts val="1400"/>
              <a:buNone/>
            </a:pPr>
            <a:r>
              <a:rPr lang="en-US" sz="1200" b="1" dirty="0"/>
              <a:t>Early stopping was applied to avoid overfitting.</a:t>
            </a:r>
          </a:p>
        </p:txBody>
      </p:sp>
      <p:grpSp>
        <p:nvGrpSpPr>
          <p:cNvPr id="761" name="Google Shape;761;p42">
            <a:extLst>
              <a:ext uri="{FF2B5EF4-FFF2-40B4-BE49-F238E27FC236}">
                <a16:creationId xmlns:a16="http://schemas.microsoft.com/office/drawing/2014/main" id="{CF5565AD-FCE7-31EF-E27B-2369F85FCE55}"/>
              </a:ext>
            </a:extLst>
          </p:cNvPr>
          <p:cNvGrpSpPr/>
          <p:nvPr/>
        </p:nvGrpSpPr>
        <p:grpSpPr>
          <a:xfrm>
            <a:off x="5726349" y="445024"/>
            <a:ext cx="2577275" cy="1833510"/>
            <a:chOff x="781874" y="1294774"/>
            <a:chExt cx="2577275" cy="1833510"/>
          </a:xfrm>
        </p:grpSpPr>
        <p:sp>
          <p:nvSpPr>
            <p:cNvPr id="762" name="Google Shape;762;p42">
              <a:extLst>
                <a:ext uri="{FF2B5EF4-FFF2-40B4-BE49-F238E27FC236}">
                  <a16:creationId xmlns:a16="http://schemas.microsoft.com/office/drawing/2014/main" id="{BB0E6B69-D307-22CB-F319-F49580CA061A}"/>
                </a:ext>
              </a:extLst>
            </p:cNvPr>
            <p:cNvSpPr/>
            <p:nvPr/>
          </p:nvSpPr>
          <p:spPr>
            <a:xfrm rot="10800000">
              <a:off x="2834149" y="1520462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42">
              <a:extLst>
                <a:ext uri="{FF2B5EF4-FFF2-40B4-BE49-F238E27FC236}">
                  <a16:creationId xmlns:a16="http://schemas.microsoft.com/office/drawing/2014/main" id="{782346BF-9DF0-76ED-880C-40CE8E173437}"/>
                </a:ext>
              </a:extLst>
            </p:cNvPr>
            <p:cNvSpPr/>
            <p:nvPr/>
          </p:nvSpPr>
          <p:spPr>
            <a:xfrm rot="10800000">
              <a:off x="2424511" y="1751429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42">
              <a:extLst>
                <a:ext uri="{FF2B5EF4-FFF2-40B4-BE49-F238E27FC236}">
                  <a16:creationId xmlns:a16="http://schemas.microsoft.com/office/drawing/2014/main" id="{8424A13D-2B10-EE56-FF3F-8C9362507010}"/>
                </a:ext>
              </a:extLst>
            </p:cNvPr>
            <p:cNvSpPr/>
            <p:nvPr/>
          </p:nvSpPr>
          <p:spPr>
            <a:xfrm rot="10800000">
              <a:off x="2423203" y="1294774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42">
              <a:extLst>
                <a:ext uri="{FF2B5EF4-FFF2-40B4-BE49-F238E27FC236}">
                  <a16:creationId xmlns:a16="http://schemas.microsoft.com/office/drawing/2014/main" id="{C52BB2C2-84B1-774F-0121-DD33FC8819B8}"/>
                </a:ext>
              </a:extLst>
            </p:cNvPr>
            <p:cNvSpPr/>
            <p:nvPr/>
          </p:nvSpPr>
          <p:spPr>
            <a:xfrm rot="10800000">
              <a:off x="2013374" y="1524505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42">
              <a:extLst>
                <a:ext uri="{FF2B5EF4-FFF2-40B4-BE49-F238E27FC236}">
                  <a16:creationId xmlns:a16="http://schemas.microsoft.com/office/drawing/2014/main" id="{5C14D2BD-2D09-967A-86EF-EC49B3CA1D09}"/>
                </a:ext>
              </a:extLst>
            </p:cNvPr>
            <p:cNvSpPr/>
            <p:nvPr/>
          </p:nvSpPr>
          <p:spPr>
            <a:xfrm rot="10800000">
              <a:off x="1601864" y="1754411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42">
              <a:extLst>
                <a:ext uri="{FF2B5EF4-FFF2-40B4-BE49-F238E27FC236}">
                  <a16:creationId xmlns:a16="http://schemas.microsoft.com/office/drawing/2014/main" id="{AC8C0385-74A0-84AC-5624-D509678C7D85}"/>
                </a:ext>
              </a:extLst>
            </p:cNvPr>
            <p:cNvSpPr/>
            <p:nvPr/>
          </p:nvSpPr>
          <p:spPr>
            <a:xfrm rot="10800000">
              <a:off x="2008925" y="2444203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42">
              <a:extLst>
                <a:ext uri="{FF2B5EF4-FFF2-40B4-BE49-F238E27FC236}">
                  <a16:creationId xmlns:a16="http://schemas.microsoft.com/office/drawing/2014/main" id="{4B57C2F8-13C4-BFE9-364E-7048F5598945}"/>
                </a:ext>
              </a:extLst>
            </p:cNvPr>
            <p:cNvSpPr/>
            <p:nvPr/>
          </p:nvSpPr>
          <p:spPr>
            <a:xfrm rot="10800000">
              <a:off x="1599288" y="2669819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42">
              <a:extLst>
                <a:ext uri="{FF2B5EF4-FFF2-40B4-BE49-F238E27FC236}">
                  <a16:creationId xmlns:a16="http://schemas.microsoft.com/office/drawing/2014/main" id="{EA4573A9-1C88-22CA-80D8-93D831CF1A94}"/>
                </a:ext>
              </a:extLst>
            </p:cNvPr>
            <p:cNvSpPr/>
            <p:nvPr/>
          </p:nvSpPr>
          <p:spPr>
            <a:xfrm rot="10800000">
              <a:off x="1599288" y="2211855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42">
              <a:extLst>
                <a:ext uri="{FF2B5EF4-FFF2-40B4-BE49-F238E27FC236}">
                  <a16:creationId xmlns:a16="http://schemas.microsoft.com/office/drawing/2014/main" id="{E0E3FF1A-667C-4C14-E610-EAC5481BFED6}"/>
                </a:ext>
              </a:extLst>
            </p:cNvPr>
            <p:cNvSpPr/>
            <p:nvPr/>
          </p:nvSpPr>
          <p:spPr>
            <a:xfrm rot="10800000">
              <a:off x="1190767" y="2441586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42">
              <a:extLst>
                <a:ext uri="{FF2B5EF4-FFF2-40B4-BE49-F238E27FC236}">
                  <a16:creationId xmlns:a16="http://schemas.microsoft.com/office/drawing/2014/main" id="{5B073062-82FB-01E0-AE16-856180E22BF0}"/>
                </a:ext>
              </a:extLst>
            </p:cNvPr>
            <p:cNvSpPr/>
            <p:nvPr/>
          </p:nvSpPr>
          <p:spPr>
            <a:xfrm rot="10800000">
              <a:off x="781874" y="2670184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2" name="Google Shape;772;p42">
            <a:extLst>
              <a:ext uri="{FF2B5EF4-FFF2-40B4-BE49-F238E27FC236}">
                <a16:creationId xmlns:a16="http://schemas.microsoft.com/office/drawing/2014/main" id="{E9C71F42-DBC4-3277-B9BE-2459E090CFFB}"/>
              </a:ext>
            </a:extLst>
          </p:cNvPr>
          <p:cNvGrpSpPr/>
          <p:nvPr/>
        </p:nvGrpSpPr>
        <p:grpSpPr>
          <a:xfrm>
            <a:off x="6483389" y="2806055"/>
            <a:ext cx="936510" cy="688006"/>
            <a:chOff x="3235964" y="2587955"/>
            <a:chExt cx="936510" cy="688006"/>
          </a:xfrm>
        </p:grpSpPr>
        <p:sp>
          <p:nvSpPr>
            <p:cNvPr id="773" name="Google Shape;773;p42">
              <a:extLst>
                <a:ext uri="{FF2B5EF4-FFF2-40B4-BE49-F238E27FC236}">
                  <a16:creationId xmlns:a16="http://schemas.microsoft.com/office/drawing/2014/main" id="{A433E912-D832-3C0C-482E-4919740160E1}"/>
                </a:ext>
              </a:extLst>
            </p:cNvPr>
            <p:cNvSpPr/>
            <p:nvPr/>
          </p:nvSpPr>
          <p:spPr>
            <a:xfrm rot="10800000">
              <a:off x="3647474" y="2587955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42">
              <a:extLst>
                <a:ext uri="{FF2B5EF4-FFF2-40B4-BE49-F238E27FC236}">
                  <a16:creationId xmlns:a16="http://schemas.microsoft.com/office/drawing/2014/main" id="{90123EE7-82C1-15C7-3D93-E5A2DE9121BF}"/>
                </a:ext>
              </a:extLst>
            </p:cNvPr>
            <p:cNvSpPr/>
            <p:nvPr/>
          </p:nvSpPr>
          <p:spPr>
            <a:xfrm rot="10800000">
              <a:off x="3235964" y="2817861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5" name="Google Shape;775;p42">
            <a:extLst>
              <a:ext uri="{FF2B5EF4-FFF2-40B4-BE49-F238E27FC236}">
                <a16:creationId xmlns:a16="http://schemas.microsoft.com/office/drawing/2014/main" id="{417C3717-F4C5-71B0-A27B-BEBB4BF45576}"/>
              </a:ext>
            </a:extLst>
          </p:cNvPr>
          <p:cNvGrpSpPr/>
          <p:nvPr/>
        </p:nvGrpSpPr>
        <p:grpSpPr>
          <a:xfrm>
            <a:off x="7786678" y="2810729"/>
            <a:ext cx="935946" cy="1829202"/>
            <a:chOff x="4738303" y="2514629"/>
            <a:chExt cx="935946" cy="1829202"/>
          </a:xfrm>
        </p:grpSpPr>
        <p:sp>
          <p:nvSpPr>
            <p:cNvPr id="776" name="Google Shape;776;p42">
              <a:extLst>
                <a:ext uri="{FF2B5EF4-FFF2-40B4-BE49-F238E27FC236}">
                  <a16:creationId xmlns:a16="http://schemas.microsoft.com/office/drawing/2014/main" id="{994D70D1-9AAC-5EE0-88A2-654AEB15D221}"/>
                </a:ext>
              </a:extLst>
            </p:cNvPr>
            <p:cNvSpPr/>
            <p:nvPr/>
          </p:nvSpPr>
          <p:spPr>
            <a:xfrm rot="10800000">
              <a:off x="5149249" y="2740318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42">
              <a:extLst>
                <a:ext uri="{FF2B5EF4-FFF2-40B4-BE49-F238E27FC236}">
                  <a16:creationId xmlns:a16="http://schemas.microsoft.com/office/drawing/2014/main" id="{0C3C106E-6556-B70D-19DA-E3D2608258E0}"/>
                </a:ext>
              </a:extLst>
            </p:cNvPr>
            <p:cNvSpPr/>
            <p:nvPr/>
          </p:nvSpPr>
          <p:spPr>
            <a:xfrm rot="10800000">
              <a:off x="4739611" y="2971284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42">
              <a:extLst>
                <a:ext uri="{FF2B5EF4-FFF2-40B4-BE49-F238E27FC236}">
                  <a16:creationId xmlns:a16="http://schemas.microsoft.com/office/drawing/2014/main" id="{FC974BD3-9B30-F875-67B6-1ABE8581A3B2}"/>
                </a:ext>
              </a:extLst>
            </p:cNvPr>
            <p:cNvSpPr/>
            <p:nvPr/>
          </p:nvSpPr>
          <p:spPr>
            <a:xfrm rot="10800000">
              <a:off x="4738303" y="2514629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42">
              <a:extLst>
                <a:ext uri="{FF2B5EF4-FFF2-40B4-BE49-F238E27FC236}">
                  <a16:creationId xmlns:a16="http://schemas.microsoft.com/office/drawing/2014/main" id="{681B6AFF-5761-B1BC-D63E-752B04A02257}"/>
                </a:ext>
              </a:extLst>
            </p:cNvPr>
            <p:cNvSpPr/>
            <p:nvPr/>
          </p:nvSpPr>
          <p:spPr>
            <a:xfrm rot="10800000">
              <a:off x="5149225" y="3660116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42">
              <a:extLst>
                <a:ext uri="{FF2B5EF4-FFF2-40B4-BE49-F238E27FC236}">
                  <a16:creationId xmlns:a16="http://schemas.microsoft.com/office/drawing/2014/main" id="{6FEAD157-5A51-C9EB-18D0-CA722FEADD7F}"/>
                </a:ext>
              </a:extLst>
            </p:cNvPr>
            <p:cNvSpPr/>
            <p:nvPr/>
          </p:nvSpPr>
          <p:spPr>
            <a:xfrm rot="10800000">
              <a:off x="4739588" y="3885731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42">
              <a:extLst>
                <a:ext uri="{FF2B5EF4-FFF2-40B4-BE49-F238E27FC236}">
                  <a16:creationId xmlns:a16="http://schemas.microsoft.com/office/drawing/2014/main" id="{B50C9C50-BC3A-E28D-880F-CC4A3E513AC9}"/>
                </a:ext>
              </a:extLst>
            </p:cNvPr>
            <p:cNvSpPr/>
            <p:nvPr/>
          </p:nvSpPr>
          <p:spPr>
            <a:xfrm rot="10800000">
              <a:off x="4739588" y="3427767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2" name="Google Shape;782;p42">
            <a:extLst>
              <a:ext uri="{FF2B5EF4-FFF2-40B4-BE49-F238E27FC236}">
                <a16:creationId xmlns:a16="http://schemas.microsoft.com/office/drawing/2014/main" id="{C392CDE8-1DA5-A593-1D76-267FDBB2379F}"/>
              </a:ext>
            </a:extLst>
          </p:cNvPr>
          <p:cNvGrpSpPr/>
          <p:nvPr/>
        </p:nvGrpSpPr>
        <p:grpSpPr>
          <a:xfrm>
            <a:off x="5480799" y="3832449"/>
            <a:ext cx="1345775" cy="914755"/>
            <a:chOff x="2264799" y="3654374"/>
            <a:chExt cx="1345775" cy="914755"/>
          </a:xfrm>
        </p:grpSpPr>
        <p:sp>
          <p:nvSpPr>
            <p:cNvPr id="783" name="Google Shape;783;p42">
              <a:extLst>
                <a:ext uri="{FF2B5EF4-FFF2-40B4-BE49-F238E27FC236}">
                  <a16:creationId xmlns:a16="http://schemas.microsoft.com/office/drawing/2014/main" id="{757A1BDF-F0C3-9246-DECC-46F8ED837DCC}"/>
                </a:ext>
              </a:extLst>
            </p:cNvPr>
            <p:cNvSpPr/>
            <p:nvPr/>
          </p:nvSpPr>
          <p:spPr>
            <a:xfrm rot="10800000">
              <a:off x="3085574" y="3880062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42">
              <a:extLst>
                <a:ext uri="{FF2B5EF4-FFF2-40B4-BE49-F238E27FC236}">
                  <a16:creationId xmlns:a16="http://schemas.microsoft.com/office/drawing/2014/main" id="{C9347816-BB6C-A369-7993-C9D65A68BC3C}"/>
                </a:ext>
              </a:extLst>
            </p:cNvPr>
            <p:cNvSpPr/>
            <p:nvPr/>
          </p:nvSpPr>
          <p:spPr>
            <a:xfrm rot="10800000">
              <a:off x="2675936" y="4111029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42">
              <a:extLst>
                <a:ext uri="{FF2B5EF4-FFF2-40B4-BE49-F238E27FC236}">
                  <a16:creationId xmlns:a16="http://schemas.microsoft.com/office/drawing/2014/main" id="{5CB742ED-BD07-44DF-AB07-F6842E995CB1}"/>
                </a:ext>
              </a:extLst>
            </p:cNvPr>
            <p:cNvSpPr/>
            <p:nvPr/>
          </p:nvSpPr>
          <p:spPr>
            <a:xfrm rot="10800000">
              <a:off x="2674628" y="3654374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42">
              <a:extLst>
                <a:ext uri="{FF2B5EF4-FFF2-40B4-BE49-F238E27FC236}">
                  <a16:creationId xmlns:a16="http://schemas.microsoft.com/office/drawing/2014/main" id="{2F6308D5-7D79-657B-D4B7-3487283624BE}"/>
                </a:ext>
              </a:extLst>
            </p:cNvPr>
            <p:cNvSpPr/>
            <p:nvPr/>
          </p:nvSpPr>
          <p:spPr>
            <a:xfrm rot="10800000">
              <a:off x="2264799" y="3884105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Immagine 3" descr="Immagine che contiene testo, diagramma, schermata, linea&#10;&#10;Il contenuto generato dall'IA potrebbe non essere corretto.">
            <a:extLst>
              <a:ext uri="{FF2B5EF4-FFF2-40B4-BE49-F238E27FC236}">
                <a16:creationId xmlns:a16="http://schemas.microsoft.com/office/drawing/2014/main" id="{78C38438-BDB9-496B-CFB5-CD68B71B67F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9625" y="813213"/>
            <a:ext cx="4012975" cy="382671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30847102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1">
          <a:extLst>
            <a:ext uri="{FF2B5EF4-FFF2-40B4-BE49-F238E27FC236}">
              <a16:creationId xmlns:a16="http://schemas.microsoft.com/office/drawing/2014/main" id="{5DC2C19F-ADCA-8FB6-E83F-AEEFF41F1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41">
            <a:extLst>
              <a:ext uri="{FF2B5EF4-FFF2-40B4-BE49-F238E27FC236}">
                <a16:creationId xmlns:a16="http://schemas.microsoft.com/office/drawing/2014/main" id="{543CE330-9C9B-16DB-EBFA-AF0BE2076C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0086" y="345590"/>
            <a:ext cx="374407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it-IT" sz="2800" dirty="0"/>
              <a:t>Plotting LSTM for </a:t>
            </a:r>
            <a:r>
              <a:rPr lang="it-IT" sz="2800" dirty="0">
                <a:solidFill>
                  <a:schemeClr val="tx2"/>
                </a:solidFill>
              </a:rPr>
              <a:t>World</a:t>
            </a:r>
            <a:r>
              <a:rPr lang="it-IT" sz="2800" dirty="0"/>
              <a:t> </a:t>
            </a:r>
            <a:endParaRPr lang="it-IT" sz="2800" b="0" dirty="0"/>
          </a:p>
        </p:txBody>
      </p:sp>
      <p:sp>
        <p:nvSpPr>
          <p:cNvPr id="754" name="Google Shape;754;p41">
            <a:extLst>
              <a:ext uri="{FF2B5EF4-FFF2-40B4-BE49-F238E27FC236}">
                <a16:creationId xmlns:a16="http://schemas.microsoft.com/office/drawing/2014/main" id="{C804A56C-F1F6-92C5-C692-DED07D02B2D0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290086" y="1421248"/>
            <a:ext cx="3683580" cy="34541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100" dirty="0"/>
              <a:t>The LSTM model achieved strong predictive performance:</a:t>
            </a:r>
          </a:p>
          <a:p>
            <a:pPr marL="171450" lvl="0" indent="-171450" algn="just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100" b="1" dirty="0"/>
              <a:t>RMSE = 2.60 MtCO₂/day</a:t>
            </a:r>
          </a:p>
          <a:p>
            <a:pPr marL="171450" lvl="0" indent="-171450" algn="just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100" b="1" dirty="0"/>
              <a:t>MAE = 2.09 MtCO₂/day</a:t>
            </a:r>
          </a:p>
          <a:p>
            <a:pPr marL="171450" lvl="0" indent="-171450" algn="just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100" b="1" dirty="0"/>
              <a:t>MAPE = 2.1%</a:t>
            </a:r>
          </a:p>
          <a:p>
            <a:pPr marL="0" lvl="0" indent="0" algn="just" rtl="0">
              <a:spcBef>
                <a:spcPts val="0"/>
              </a:spcBef>
              <a:spcAft>
                <a:spcPts val="1200"/>
              </a:spcAft>
            </a:pPr>
            <a:r>
              <a:rPr lang="en-US" sz="1100" dirty="0"/>
              <a:t>It reproduces both seasonal trends and high-frequency variations, with minor errors around sudden peaks and drops. The 30-day forecast extends the trend smoothly, indicating short-term stability and confirming the model’s effectiveness in modeling CO₂ emission dynamics.</a:t>
            </a:r>
          </a:p>
        </p:txBody>
      </p:sp>
      <p:pic>
        <p:nvPicPr>
          <p:cNvPr id="23554" name="Picture 2">
            <a:extLst>
              <a:ext uri="{FF2B5EF4-FFF2-40B4-BE49-F238E27FC236}">
                <a16:creationId xmlns:a16="http://schemas.microsoft.com/office/drawing/2014/main" id="{99DD9666-2029-3060-8731-5B369A027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4701" y="206271"/>
            <a:ext cx="4596225" cy="227497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719B5CA8-B39E-D255-FC17-CAA61A58409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4911" y="4736024"/>
            <a:ext cx="3807785" cy="21702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6C7C1F2A-F3A3-BB81-2F8E-80A1699A3E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6404" y="2662258"/>
            <a:ext cx="4596225" cy="189275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77573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8">
          <a:extLst>
            <a:ext uri="{FF2B5EF4-FFF2-40B4-BE49-F238E27FC236}">
              <a16:creationId xmlns:a16="http://schemas.microsoft.com/office/drawing/2014/main" id="{9A5DD34C-2A47-8E0A-8055-CE1E68065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6" name="Picture 8">
            <a:extLst>
              <a:ext uri="{FF2B5EF4-FFF2-40B4-BE49-F238E27FC236}">
                <a16:creationId xmlns:a16="http://schemas.microsoft.com/office/drawing/2014/main" id="{987B2026-F980-F4A9-980C-47CF51314C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505" y="971761"/>
            <a:ext cx="7312990" cy="362348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752;p41">
            <a:extLst>
              <a:ext uri="{FF2B5EF4-FFF2-40B4-BE49-F238E27FC236}">
                <a16:creationId xmlns:a16="http://schemas.microsoft.com/office/drawing/2014/main" id="{E92FE4EA-3F3C-A529-7EF4-515558739D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00612" y="261903"/>
            <a:ext cx="687788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it-IT" sz="2800" dirty="0">
                <a:solidFill>
                  <a:schemeClr val="tx1"/>
                </a:solidFill>
              </a:rPr>
              <a:t>Plotting LSTM for China </a:t>
            </a:r>
            <a:endParaRPr lang="it-IT" sz="2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07728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8">
          <a:extLst>
            <a:ext uri="{FF2B5EF4-FFF2-40B4-BE49-F238E27FC236}">
              <a16:creationId xmlns:a16="http://schemas.microsoft.com/office/drawing/2014/main" id="{390433F4-EB69-DE1A-9F65-E19537581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41">
            <a:extLst>
              <a:ext uri="{FF2B5EF4-FFF2-40B4-BE49-F238E27FC236}">
                <a16:creationId xmlns:a16="http://schemas.microsoft.com/office/drawing/2014/main" id="{D05F0FD8-FEF3-0A54-A826-C6E4595262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00612" y="261903"/>
            <a:ext cx="687788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it-IT" sz="2800" dirty="0">
                <a:solidFill>
                  <a:schemeClr val="tx1"/>
                </a:solidFill>
              </a:rPr>
              <a:t>Plotting LSTM for Russia </a:t>
            </a:r>
            <a:endParaRPr lang="it-IT" sz="2800" b="0" dirty="0">
              <a:solidFill>
                <a:schemeClr val="tx1"/>
              </a:solidFill>
            </a:endParaRP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D098FF66-EDFE-03AE-6E40-28BABC3EC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505" y="971761"/>
            <a:ext cx="7352000" cy="363898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68385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8">
          <a:extLst>
            <a:ext uri="{FF2B5EF4-FFF2-40B4-BE49-F238E27FC236}">
              <a16:creationId xmlns:a16="http://schemas.microsoft.com/office/drawing/2014/main" id="{D4E7D3C7-44A0-9D4A-766C-E1C461162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41">
            <a:extLst>
              <a:ext uri="{FF2B5EF4-FFF2-40B4-BE49-F238E27FC236}">
                <a16:creationId xmlns:a16="http://schemas.microsoft.com/office/drawing/2014/main" id="{6CEBA668-4C36-77A9-44ED-656468C738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00612" y="261903"/>
            <a:ext cx="687788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it-IT" sz="2800" dirty="0">
                <a:solidFill>
                  <a:schemeClr val="tx1"/>
                </a:solidFill>
              </a:rPr>
              <a:t>Plotting LSTM for USA </a:t>
            </a:r>
            <a:endParaRPr lang="it-IT" sz="2800" b="0" dirty="0">
              <a:solidFill>
                <a:schemeClr val="tx1"/>
              </a:solidFill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6C3F0C80-AC5A-2834-AFA3-4EC98E7103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505" y="971761"/>
            <a:ext cx="7372214" cy="364899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42816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>
          <a:extLst>
            <a:ext uri="{FF2B5EF4-FFF2-40B4-BE49-F238E27FC236}">
              <a16:creationId xmlns:a16="http://schemas.microsoft.com/office/drawing/2014/main" id="{334E7F13-B5C5-3889-8B2B-2329D7EB9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42">
            <a:extLst>
              <a:ext uri="{FF2B5EF4-FFF2-40B4-BE49-F238E27FC236}">
                <a16:creationId xmlns:a16="http://schemas.microsoft.com/office/drawing/2014/main" id="{1E90A408-976A-9915-D3BA-BCA06D5AAA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6578" y="215674"/>
            <a:ext cx="7871820" cy="6059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Final Remarks on LSTM Forecasting</a:t>
            </a:r>
            <a:endParaRPr dirty="0"/>
          </a:p>
        </p:txBody>
      </p:sp>
      <p:sp>
        <p:nvSpPr>
          <p:cNvPr id="760" name="Google Shape;760;p42">
            <a:extLst>
              <a:ext uri="{FF2B5EF4-FFF2-40B4-BE49-F238E27FC236}">
                <a16:creationId xmlns:a16="http://schemas.microsoft.com/office/drawing/2014/main" id="{CA4D1EAD-4342-AEC1-D06D-CA7FD1904B4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77348" y="2789401"/>
            <a:ext cx="7701609" cy="35942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 algn="ctr">
              <a:buNone/>
            </a:pPr>
            <a:r>
              <a:rPr lang="en-US" sz="1100" dirty="0"/>
              <a:t>LSTM models applied across global and national levels (China, U.S., Russia) effectively captured short-term CO₂ emission dynamics, with low errors (MAPE 2–4%) and predictions closely matching observed trends.</a:t>
            </a:r>
          </a:p>
          <a:p>
            <a:pPr marL="139700" indent="0" algn="ctr">
              <a:buNone/>
            </a:pPr>
            <a:br>
              <a:rPr lang="en-US" sz="1100" dirty="0"/>
            </a:br>
            <a:r>
              <a:rPr lang="en-US" sz="1100" b="1" dirty="0"/>
              <a:t>Global and Chinese models showed the best fit</a:t>
            </a:r>
            <a:r>
              <a:rPr lang="en-US" sz="1100" dirty="0"/>
              <a:t>, while U.S. and Russian models remained reliable with minor deviations near peaks.</a:t>
            </a:r>
          </a:p>
          <a:p>
            <a:pPr marL="139700" indent="0" algn="ctr">
              <a:buNone/>
            </a:pPr>
            <a:br>
              <a:rPr lang="en-US" sz="1100" dirty="0"/>
            </a:br>
            <a:r>
              <a:rPr lang="en-US" sz="1100" dirty="0"/>
              <a:t>Overall, LSTMs proved capable of learning temporal dependencies in emission data, though future work could enhance performance by extending forecast horizons and integrating external variables.</a:t>
            </a:r>
            <a:endParaRPr lang="en-US" sz="1050" dirty="0"/>
          </a:p>
        </p:txBody>
      </p:sp>
      <p:grpSp>
        <p:nvGrpSpPr>
          <p:cNvPr id="761" name="Google Shape;761;p42">
            <a:extLst>
              <a:ext uri="{FF2B5EF4-FFF2-40B4-BE49-F238E27FC236}">
                <a16:creationId xmlns:a16="http://schemas.microsoft.com/office/drawing/2014/main" id="{62C26BDC-3DFC-B3DE-CC83-E1CA17C0DD51}"/>
              </a:ext>
            </a:extLst>
          </p:cNvPr>
          <p:cNvGrpSpPr/>
          <p:nvPr/>
        </p:nvGrpSpPr>
        <p:grpSpPr>
          <a:xfrm>
            <a:off x="5726349" y="445024"/>
            <a:ext cx="2577275" cy="1833510"/>
            <a:chOff x="781874" y="1294774"/>
            <a:chExt cx="2577275" cy="1833510"/>
          </a:xfrm>
        </p:grpSpPr>
        <p:sp>
          <p:nvSpPr>
            <p:cNvPr id="762" name="Google Shape;762;p42">
              <a:extLst>
                <a:ext uri="{FF2B5EF4-FFF2-40B4-BE49-F238E27FC236}">
                  <a16:creationId xmlns:a16="http://schemas.microsoft.com/office/drawing/2014/main" id="{4AE7D178-D30B-3DB9-677F-7DA5D90121AB}"/>
                </a:ext>
              </a:extLst>
            </p:cNvPr>
            <p:cNvSpPr/>
            <p:nvPr/>
          </p:nvSpPr>
          <p:spPr>
            <a:xfrm rot="10800000">
              <a:off x="2834149" y="1520462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42">
              <a:extLst>
                <a:ext uri="{FF2B5EF4-FFF2-40B4-BE49-F238E27FC236}">
                  <a16:creationId xmlns:a16="http://schemas.microsoft.com/office/drawing/2014/main" id="{E167696B-9DF6-4DE0-F2CB-D9D6133BA9A7}"/>
                </a:ext>
              </a:extLst>
            </p:cNvPr>
            <p:cNvSpPr/>
            <p:nvPr/>
          </p:nvSpPr>
          <p:spPr>
            <a:xfrm rot="10800000">
              <a:off x="2424511" y="1751429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42">
              <a:extLst>
                <a:ext uri="{FF2B5EF4-FFF2-40B4-BE49-F238E27FC236}">
                  <a16:creationId xmlns:a16="http://schemas.microsoft.com/office/drawing/2014/main" id="{418ED19E-5A05-3510-D594-5393963762A4}"/>
                </a:ext>
              </a:extLst>
            </p:cNvPr>
            <p:cNvSpPr/>
            <p:nvPr/>
          </p:nvSpPr>
          <p:spPr>
            <a:xfrm rot="10800000">
              <a:off x="2423203" y="1294774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42">
              <a:extLst>
                <a:ext uri="{FF2B5EF4-FFF2-40B4-BE49-F238E27FC236}">
                  <a16:creationId xmlns:a16="http://schemas.microsoft.com/office/drawing/2014/main" id="{2AF010D5-BD15-AD23-2DA5-4DDC423C37E9}"/>
                </a:ext>
              </a:extLst>
            </p:cNvPr>
            <p:cNvSpPr/>
            <p:nvPr/>
          </p:nvSpPr>
          <p:spPr>
            <a:xfrm rot="10800000">
              <a:off x="2013374" y="1524505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42">
              <a:extLst>
                <a:ext uri="{FF2B5EF4-FFF2-40B4-BE49-F238E27FC236}">
                  <a16:creationId xmlns:a16="http://schemas.microsoft.com/office/drawing/2014/main" id="{C800D4AA-E885-EF25-199D-27658D0308FD}"/>
                </a:ext>
              </a:extLst>
            </p:cNvPr>
            <p:cNvSpPr/>
            <p:nvPr/>
          </p:nvSpPr>
          <p:spPr>
            <a:xfrm rot="10800000">
              <a:off x="1601864" y="1754411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42">
              <a:extLst>
                <a:ext uri="{FF2B5EF4-FFF2-40B4-BE49-F238E27FC236}">
                  <a16:creationId xmlns:a16="http://schemas.microsoft.com/office/drawing/2014/main" id="{13FAADAD-E555-632B-B367-4E90FD776635}"/>
                </a:ext>
              </a:extLst>
            </p:cNvPr>
            <p:cNvSpPr/>
            <p:nvPr/>
          </p:nvSpPr>
          <p:spPr>
            <a:xfrm rot="10800000">
              <a:off x="2008925" y="2444203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42">
              <a:extLst>
                <a:ext uri="{FF2B5EF4-FFF2-40B4-BE49-F238E27FC236}">
                  <a16:creationId xmlns:a16="http://schemas.microsoft.com/office/drawing/2014/main" id="{D813482D-1071-4436-9A51-A722FD862273}"/>
                </a:ext>
              </a:extLst>
            </p:cNvPr>
            <p:cNvSpPr/>
            <p:nvPr/>
          </p:nvSpPr>
          <p:spPr>
            <a:xfrm rot="10800000">
              <a:off x="1599288" y="2669819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42">
              <a:extLst>
                <a:ext uri="{FF2B5EF4-FFF2-40B4-BE49-F238E27FC236}">
                  <a16:creationId xmlns:a16="http://schemas.microsoft.com/office/drawing/2014/main" id="{CCA29F1E-B184-0F1C-B0BA-62AA61825B7D}"/>
                </a:ext>
              </a:extLst>
            </p:cNvPr>
            <p:cNvSpPr/>
            <p:nvPr/>
          </p:nvSpPr>
          <p:spPr>
            <a:xfrm rot="10800000">
              <a:off x="1599288" y="2211855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42">
              <a:extLst>
                <a:ext uri="{FF2B5EF4-FFF2-40B4-BE49-F238E27FC236}">
                  <a16:creationId xmlns:a16="http://schemas.microsoft.com/office/drawing/2014/main" id="{07815986-D6BB-80EF-23F4-5B3FC4A7E393}"/>
                </a:ext>
              </a:extLst>
            </p:cNvPr>
            <p:cNvSpPr/>
            <p:nvPr/>
          </p:nvSpPr>
          <p:spPr>
            <a:xfrm rot="10800000">
              <a:off x="1190767" y="2441586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42">
              <a:extLst>
                <a:ext uri="{FF2B5EF4-FFF2-40B4-BE49-F238E27FC236}">
                  <a16:creationId xmlns:a16="http://schemas.microsoft.com/office/drawing/2014/main" id="{1DCFFCA1-E0CE-D159-B5DE-414A1530B8B1}"/>
                </a:ext>
              </a:extLst>
            </p:cNvPr>
            <p:cNvSpPr/>
            <p:nvPr/>
          </p:nvSpPr>
          <p:spPr>
            <a:xfrm rot="10800000">
              <a:off x="781874" y="2670184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2" name="Google Shape;772;p42">
            <a:extLst>
              <a:ext uri="{FF2B5EF4-FFF2-40B4-BE49-F238E27FC236}">
                <a16:creationId xmlns:a16="http://schemas.microsoft.com/office/drawing/2014/main" id="{46FA4A38-9F4D-084E-3169-F9F097B17ABF}"/>
              </a:ext>
            </a:extLst>
          </p:cNvPr>
          <p:cNvGrpSpPr/>
          <p:nvPr/>
        </p:nvGrpSpPr>
        <p:grpSpPr>
          <a:xfrm>
            <a:off x="6485145" y="2810729"/>
            <a:ext cx="936510" cy="688006"/>
            <a:chOff x="3235964" y="2587955"/>
            <a:chExt cx="936510" cy="688006"/>
          </a:xfrm>
        </p:grpSpPr>
        <p:sp>
          <p:nvSpPr>
            <p:cNvPr id="773" name="Google Shape;773;p42">
              <a:extLst>
                <a:ext uri="{FF2B5EF4-FFF2-40B4-BE49-F238E27FC236}">
                  <a16:creationId xmlns:a16="http://schemas.microsoft.com/office/drawing/2014/main" id="{FA88A7B8-290C-8EDD-6463-D8857763AD05}"/>
                </a:ext>
              </a:extLst>
            </p:cNvPr>
            <p:cNvSpPr/>
            <p:nvPr/>
          </p:nvSpPr>
          <p:spPr>
            <a:xfrm rot="10800000">
              <a:off x="3647474" y="2587955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4" name="Google Shape;774;p42">
              <a:extLst>
                <a:ext uri="{FF2B5EF4-FFF2-40B4-BE49-F238E27FC236}">
                  <a16:creationId xmlns:a16="http://schemas.microsoft.com/office/drawing/2014/main" id="{80BDBAD3-B6F5-2AE4-C23E-7507CA1FCA12}"/>
                </a:ext>
              </a:extLst>
            </p:cNvPr>
            <p:cNvSpPr/>
            <p:nvPr/>
          </p:nvSpPr>
          <p:spPr>
            <a:xfrm rot="10800000">
              <a:off x="3235964" y="2817861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5" name="Google Shape;775;p42">
            <a:extLst>
              <a:ext uri="{FF2B5EF4-FFF2-40B4-BE49-F238E27FC236}">
                <a16:creationId xmlns:a16="http://schemas.microsoft.com/office/drawing/2014/main" id="{891C52EF-9DF4-8D7C-0BAD-CB5503E1ACEF}"/>
              </a:ext>
            </a:extLst>
          </p:cNvPr>
          <p:cNvGrpSpPr/>
          <p:nvPr/>
        </p:nvGrpSpPr>
        <p:grpSpPr>
          <a:xfrm>
            <a:off x="7786678" y="2810729"/>
            <a:ext cx="935946" cy="1829202"/>
            <a:chOff x="4738303" y="2514629"/>
            <a:chExt cx="935946" cy="1829202"/>
          </a:xfrm>
        </p:grpSpPr>
        <p:sp>
          <p:nvSpPr>
            <p:cNvPr id="776" name="Google Shape;776;p42">
              <a:extLst>
                <a:ext uri="{FF2B5EF4-FFF2-40B4-BE49-F238E27FC236}">
                  <a16:creationId xmlns:a16="http://schemas.microsoft.com/office/drawing/2014/main" id="{2E3E78E0-997A-691C-3E1A-CEB42C837C3E}"/>
                </a:ext>
              </a:extLst>
            </p:cNvPr>
            <p:cNvSpPr/>
            <p:nvPr/>
          </p:nvSpPr>
          <p:spPr>
            <a:xfrm rot="10800000">
              <a:off x="5149249" y="2740318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42">
              <a:extLst>
                <a:ext uri="{FF2B5EF4-FFF2-40B4-BE49-F238E27FC236}">
                  <a16:creationId xmlns:a16="http://schemas.microsoft.com/office/drawing/2014/main" id="{3B8F1012-5C1A-3A53-158F-340ED116250A}"/>
                </a:ext>
              </a:extLst>
            </p:cNvPr>
            <p:cNvSpPr/>
            <p:nvPr/>
          </p:nvSpPr>
          <p:spPr>
            <a:xfrm rot="10800000">
              <a:off x="4739611" y="2971284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42">
              <a:extLst>
                <a:ext uri="{FF2B5EF4-FFF2-40B4-BE49-F238E27FC236}">
                  <a16:creationId xmlns:a16="http://schemas.microsoft.com/office/drawing/2014/main" id="{415AF041-4DF0-522F-4F4E-4CF2793D4907}"/>
                </a:ext>
              </a:extLst>
            </p:cNvPr>
            <p:cNvSpPr/>
            <p:nvPr/>
          </p:nvSpPr>
          <p:spPr>
            <a:xfrm rot="10800000">
              <a:off x="4738303" y="2514629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42">
              <a:extLst>
                <a:ext uri="{FF2B5EF4-FFF2-40B4-BE49-F238E27FC236}">
                  <a16:creationId xmlns:a16="http://schemas.microsoft.com/office/drawing/2014/main" id="{82AC9C25-25F6-A7A4-376C-C8571AD4C9B7}"/>
                </a:ext>
              </a:extLst>
            </p:cNvPr>
            <p:cNvSpPr/>
            <p:nvPr/>
          </p:nvSpPr>
          <p:spPr>
            <a:xfrm rot="10800000">
              <a:off x="5149225" y="3660116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42">
              <a:extLst>
                <a:ext uri="{FF2B5EF4-FFF2-40B4-BE49-F238E27FC236}">
                  <a16:creationId xmlns:a16="http://schemas.microsoft.com/office/drawing/2014/main" id="{8CA49CAE-9688-421D-19E3-EE689C1435A3}"/>
                </a:ext>
              </a:extLst>
            </p:cNvPr>
            <p:cNvSpPr/>
            <p:nvPr/>
          </p:nvSpPr>
          <p:spPr>
            <a:xfrm rot="10800000">
              <a:off x="4739588" y="3885731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42">
              <a:extLst>
                <a:ext uri="{FF2B5EF4-FFF2-40B4-BE49-F238E27FC236}">
                  <a16:creationId xmlns:a16="http://schemas.microsoft.com/office/drawing/2014/main" id="{CECE84CC-854D-A853-0C4D-5F6C4028D6B3}"/>
                </a:ext>
              </a:extLst>
            </p:cNvPr>
            <p:cNvSpPr/>
            <p:nvPr/>
          </p:nvSpPr>
          <p:spPr>
            <a:xfrm rot="10800000">
              <a:off x="4739588" y="3427767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2" name="Google Shape;782;p42">
            <a:extLst>
              <a:ext uri="{FF2B5EF4-FFF2-40B4-BE49-F238E27FC236}">
                <a16:creationId xmlns:a16="http://schemas.microsoft.com/office/drawing/2014/main" id="{292599AB-9834-2099-A6C7-EDC1881BFD4B}"/>
              </a:ext>
            </a:extLst>
          </p:cNvPr>
          <p:cNvGrpSpPr/>
          <p:nvPr/>
        </p:nvGrpSpPr>
        <p:grpSpPr>
          <a:xfrm>
            <a:off x="5480799" y="3832449"/>
            <a:ext cx="1345775" cy="914755"/>
            <a:chOff x="2264799" y="3654374"/>
            <a:chExt cx="1345775" cy="914755"/>
          </a:xfrm>
        </p:grpSpPr>
        <p:sp>
          <p:nvSpPr>
            <p:cNvPr id="783" name="Google Shape;783;p42">
              <a:extLst>
                <a:ext uri="{FF2B5EF4-FFF2-40B4-BE49-F238E27FC236}">
                  <a16:creationId xmlns:a16="http://schemas.microsoft.com/office/drawing/2014/main" id="{6297827B-06CE-404A-21AD-1439CC7AFD05}"/>
                </a:ext>
              </a:extLst>
            </p:cNvPr>
            <p:cNvSpPr/>
            <p:nvPr/>
          </p:nvSpPr>
          <p:spPr>
            <a:xfrm rot="10800000">
              <a:off x="3085574" y="3880062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42">
              <a:extLst>
                <a:ext uri="{FF2B5EF4-FFF2-40B4-BE49-F238E27FC236}">
                  <a16:creationId xmlns:a16="http://schemas.microsoft.com/office/drawing/2014/main" id="{A72F2C2C-2C3C-88EB-A237-55104576114D}"/>
                </a:ext>
              </a:extLst>
            </p:cNvPr>
            <p:cNvSpPr/>
            <p:nvPr/>
          </p:nvSpPr>
          <p:spPr>
            <a:xfrm rot="10800000">
              <a:off x="2675936" y="4111029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42">
              <a:extLst>
                <a:ext uri="{FF2B5EF4-FFF2-40B4-BE49-F238E27FC236}">
                  <a16:creationId xmlns:a16="http://schemas.microsoft.com/office/drawing/2014/main" id="{00EC9C0B-5ACC-3778-A658-3DC2A3B38BDD}"/>
                </a:ext>
              </a:extLst>
            </p:cNvPr>
            <p:cNvSpPr/>
            <p:nvPr/>
          </p:nvSpPr>
          <p:spPr>
            <a:xfrm rot="10800000">
              <a:off x="2674628" y="3654374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42">
              <a:extLst>
                <a:ext uri="{FF2B5EF4-FFF2-40B4-BE49-F238E27FC236}">
                  <a16:creationId xmlns:a16="http://schemas.microsoft.com/office/drawing/2014/main" id="{9363E86B-C841-E4CF-7AD5-5011C575DC64}"/>
                </a:ext>
              </a:extLst>
            </p:cNvPr>
            <p:cNvSpPr/>
            <p:nvPr/>
          </p:nvSpPr>
          <p:spPr>
            <a:xfrm rot="10800000">
              <a:off x="2264799" y="3884105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Immagine 3">
            <a:extLst>
              <a:ext uri="{FF2B5EF4-FFF2-40B4-BE49-F238E27FC236}">
                <a16:creationId xmlns:a16="http://schemas.microsoft.com/office/drawing/2014/main" id="{6DA009B7-20A7-829C-A646-8CB9548952D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0618" y="1173146"/>
            <a:ext cx="4355070" cy="126469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10589313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356;p70">
            <a:extLst>
              <a:ext uri="{FF2B5EF4-FFF2-40B4-BE49-F238E27FC236}">
                <a16:creationId xmlns:a16="http://schemas.microsoft.com/office/drawing/2014/main" id="{87E1DC7A-F47A-D9BF-AC1A-41D80C352C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47938" y="1665496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Thanks!</a:t>
            </a:r>
            <a:endParaRPr dirty="0"/>
          </a:p>
        </p:txBody>
      </p:sp>
      <p:sp>
        <p:nvSpPr>
          <p:cNvPr id="7" name="Google Shape;1357;p70">
            <a:extLst>
              <a:ext uri="{FF2B5EF4-FFF2-40B4-BE49-F238E27FC236}">
                <a16:creationId xmlns:a16="http://schemas.microsoft.com/office/drawing/2014/main" id="{AE859126-CDA2-B5B8-6FAB-F8AF48C5E81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347900" y="252189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Do you have any questions?</a:t>
            </a:r>
            <a:endParaRPr b="1" dirty="0"/>
          </a:p>
        </p:txBody>
      </p:sp>
      <p:cxnSp>
        <p:nvCxnSpPr>
          <p:cNvPr id="8" name="Google Shape;1381;p70">
            <a:extLst>
              <a:ext uri="{FF2B5EF4-FFF2-40B4-BE49-F238E27FC236}">
                <a16:creationId xmlns:a16="http://schemas.microsoft.com/office/drawing/2014/main" id="{84FC64C2-36FA-B413-307A-37A294C7C7A1}"/>
              </a:ext>
            </a:extLst>
          </p:cNvPr>
          <p:cNvCxnSpPr/>
          <p:nvPr/>
        </p:nvCxnSpPr>
        <p:spPr>
          <a:xfrm>
            <a:off x="4106350" y="2724196"/>
            <a:ext cx="931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tatistical Methods in Public Health - Master of Science in Biostatistics by Slidesgo">
  <a:themeElements>
    <a:clrScheme name="Simple Light">
      <a:dk1>
        <a:srgbClr val="FFFFFF"/>
      </a:dk1>
      <a:lt1>
        <a:srgbClr val="295D82"/>
      </a:lt1>
      <a:dk2>
        <a:srgbClr val="0A244F"/>
      </a:dk2>
      <a:lt2>
        <a:srgbClr val="00DFD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</TotalTime>
  <Words>2079</Words>
  <Application>Microsoft Office PowerPoint</Application>
  <PresentationFormat>Presentazione su schermo (16:9)</PresentationFormat>
  <Paragraphs>184</Paragraphs>
  <Slides>37</Slides>
  <Notes>37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37</vt:i4>
      </vt:variant>
    </vt:vector>
  </HeadingPairs>
  <TitlesOfParts>
    <vt:vector size="42" baseType="lpstr">
      <vt:lpstr>Wingdings</vt:lpstr>
      <vt:lpstr>Arial</vt:lpstr>
      <vt:lpstr>Poppins</vt:lpstr>
      <vt:lpstr>Nunito Light</vt:lpstr>
      <vt:lpstr>Statistical Methods in Public Health - Master of Science in Biostatistics by Slidesgo</vt:lpstr>
      <vt:lpstr>Analyzing Daily CO2 Emissions Across Countries</vt:lpstr>
      <vt:lpstr>Our team</vt:lpstr>
      <vt:lpstr>Analysis Roadmap</vt:lpstr>
      <vt:lpstr>Let’s get started!</vt:lpstr>
      <vt:lpstr>Introduction</vt:lpstr>
      <vt:lpstr>Dataset Source</vt:lpstr>
      <vt:lpstr>Dataset Info</vt:lpstr>
      <vt:lpstr>Analysis Objectives By Module</vt:lpstr>
      <vt:lpstr>Exploring Data</vt:lpstr>
      <vt:lpstr>Data Descriptive Summary</vt:lpstr>
      <vt:lpstr>Visualizing Global Emissions using rolling mean</vt:lpstr>
      <vt:lpstr>Visualizing Global Emissions using aggregation</vt:lpstr>
      <vt:lpstr>Monthly Data Analysis</vt:lpstr>
      <vt:lpstr>Normalized Emissions</vt:lpstr>
      <vt:lpstr>Global Emissions by Sector</vt:lpstr>
      <vt:lpstr>Global Emissions by Country</vt:lpstr>
      <vt:lpstr>Visualizing Emissions by Country</vt:lpstr>
      <vt:lpstr>Anomaly Detection</vt:lpstr>
      <vt:lpstr>Introducing SAX</vt:lpstr>
      <vt:lpstr>Plotting SAX Sequences (Heatmap)</vt:lpstr>
      <vt:lpstr>Anomaly Detection by using SAX</vt:lpstr>
      <vt:lpstr>Structural Break Detection using CUSUM test</vt:lpstr>
      <vt:lpstr>Clustering Analysis</vt:lpstr>
      <vt:lpstr>Clustering analysis based on temporal evolution of emissions</vt:lpstr>
      <vt:lpstr>K-Means Clustering</vt:lpstr>
      <vt:lpstr>Hierarchical Clustering</vt:lpstr>
      <vt:lpstr>Clustering analysis based on emissions magnitude</vt:lpstr>
      <vt:lpstr>K-Means Clustering (2)</vt:lpstr>
      <vt:lpstr>Hierarchhical Clustering</vt:lpstr>
      <vt:lpstr>ML Forecasting Model</vt:lpstr>
      <vt:lpstr>Introducing LSTM</vt:lpstr>
      <vt:lpstr>Plotting LSTM for World </vt:lpstr>
      <vt:lpstr>Plotting LSTM for China </vt:lpstr>
      <vt:lpstr>Plotting LSTM for Russia </vt:lpstr>
      <vt:lpstr>Plotting LSTM for USA </vt:lpstr>
      <vt:lpstr>Final Remarks on LSTM Forecasting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Daniele Cavuto</dc:creator>
  <cp:lastModifiedBy>DANIELE CAVUTO</cp:lastModifiedBy>
  <cp:revision>5</cp:revision>
  <dcterms:modified xsi:type="dcterms:W3CDTF">2025-10-20T16:55:31Z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Enabled">
    <vt:lpwstr>true</vt:lpwstr>
  </property>
  <property fmtid="{D5CDD505-2E9C-101B-9397-08002B2CF9AE}" pid="3" name="MSIP_Label_2ad0b24d-6422-44b0-b3de-abb3a9e8c81a_SetDate">
    <vt:lpwstr>2025-10-18T17:06:36Z</vt:lpwstr>
  </property>
  <property fmtid="{D5CDD505-2E9C-101B-9397-08002B2CF9AE}" pid="4" name="MSIP_Label_2ad0b24d-6422-44b0-b3de-abb3a9e8c81a_Method">
    <vt:lpwstr>Standard</vt:lpwstr>
  </property>
  <property fmtid="{D5CDD505-2E9C-101B-9397-08002B2CF9AE}" pid="5" name="MSIP_Label_2ad0b24d-6422-44b0-b3de-abb3a9e8c81a_Name">
    <vt:lpwstr>defa4170-0d19-0005-0004-bc88714345d2</vt:lpwstr>
  </property>
  <property fmtid="{D5CDD505-2E9C-101B-9397-08002B2CF9AE}" pid="6" name="MSIP_Label_2ad0b24d-6422-44b0-b3de-abb3a9e8c81a_SiteId">
    <vt:lpwstr>2fcfe26a-bb62-46b0-b1e3-28f9da0c45fd</vt:lpwstr>
  </property>
  <property fmtid="{D5CDD505-2E9C-101B-9397-08002B2CF9AE}" pid="7" name="MSIP_Label_2ad0b24d-6422-44b0-b3de-abb3a9e8c81a_ActionId">
    <vt:lpwstr>e57ff4f3-d831-49e0-9245-29f87b47a0a1</vt:lpwstr>
  </property>
  <property fmtid="{D5CDD505-2E9C-101B-9397-08002B2CF9AE}" pid="8" name="MSIP_Label_2ad0b24d-6422-44b0-b3de-abb3a9e8c81a_ContentBits">
    <vt:lpwstr>0</vt:lpwstr>
  </property>
  <property fmtid="{D5CDD505-2E9C-101B-9397-08002B2CF9AE}" pid="9" name="MSIP_Label_2ad0b24d-6422-44b0-b3de-abb3a9e8c81a_Tag">
    <vt:lpwstr>10, 3, 0, 1</vt:lpwstr>
  </property>
</Properties>
</file>